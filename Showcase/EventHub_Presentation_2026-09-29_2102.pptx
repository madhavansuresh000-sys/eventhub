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B4B"/>
                </a:solidFill>
                <a:latin typeface="Arial"/>
              </a:defRPr>
            </a:pPr>
            <a:r>
              <a:rPr sz="1400" b="0" i="0" u="none" strike="noStrike">
                <a:solidFill>
                  <a:srgbClr val="1E1B4B"/>
                </a:solidFill>
                <a:latin typeface="Arial"/>
              </a:rPr>
              <a:t>Line coverage by module (JaCoCo)</a:t>
            </a:r>
          </a:p>
        </c:rich>
      </c:tx>
      <c:layout/>
      <c:overlay val="0"/>
    </c:title>
    <c:autoTitleDeleted val="0"/>
    <c:plotArea>
      <c:layout/>
      <c:barChart>
        <c:barDir val="bar"/>
        <c:grouping val="clustered"/>
        <c:varyColors val="0"/>
        <c:ser>
          <c:idx val="0"/>
          <c:order val="0"/>
          <c:tx>
            <c:strRef>
              <c:f>Sheet1!$B$1</c:f>
              <c:strCache>
                <c:ptCount val="1"/>
                <c:pt idx="0">
                  <c:v>Line coverage %</c:v>
                </c:pt>
              </c:strCache>
            </c:strRef>
          </c:tx>
          <c:spPr>
            <a:solidFill>
              <a:srgbClr val="4F46E5"/>
            </a:solidFill>
            <a:effectLst/>
          </c:spPr>
          <c:invertIfNegative val="0"/>
          <c:dLbls>
            <c:numFmt formatCode="0&quot;%&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booking</c:v>
                  </c:pt>
                  <c:pt idx="1">
                    <c:v>auth</c:v>
                  </c:pt>
                  <c:pt idx="2">
                    <c:v>payment</c:v>
                  </c:pt>
                  <c:pt idx="3">
                    <c:v>gate</c:v>
                  </c:pt>
                  <c:pt idx="4">
                    <c:v>waitlist</c:v>
                  </c:pt>
                  <c:pt idx="5">
                    <c:v>notification</c:v>
                  </c:pt>
                  <c:pt idx="6">
                    <c:v>certificate</c:v>
                  </c:pt>
                  <c:pt idx="7">
                    <c:v>event</c:v>
                  </c:pt>
                  <c:pt idx="8">
                    <c:v>feedback</c:v>
                  </c:pt>
                  <c:pt idx="9">
                    <c:v>analytics</c:v>
                  </c:pt>
                </c:lvl>
              </c:multiLvlStrCache>
            </c:multiLvlStrRef>
          </c:cat>
          <c:val>
            <c:numRef>
              <c:f>Sheet1!$B$2:$B$11</c:f>
              <c:numCache>
                <c:formatCode>General</c:formatCode>
                <c:ptCount val="10"/>
                <c:pt idx="0">
                  <c:v>88</c:v>
                </c:pt>
                <c:pt idx="1">
                  <c:v>86</c:v>
                </c:pt>
                <c:pt idx="2">
                  <c:v>81</c:v>
                </c:pt>
                <c:pt idx="3">
                  <c:v>91</c:v>
                </c:pt>
                <c:pt idx="4">
                  <c:v>97</c:v>
                </c:pt>
                <c:pt idx="5">
                  <c:v>97</c:v>
                </c:pt>
                <c:pt idx="6">
                  <c:v>98</c:v>
                </c:pt>
                <c:pt idx="7">
                  <c:v>98</c:v>
                </c:pt>
                <c:pt idx="8">
                  <c:v>100</c:v>
                </c:pt>
                <c:pt idx="9">
                  <c:v>100</c:v>
                </c:pt>
              </c:numCache>
            </c:numRef>
          </c:val>
        </c:ser>
        <c:dLbls>
          <c:numFmt formatCode="0&quot;%&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EventHub, a website where a college runs all its events: students find events, book and pay, enter with a QR ticket and get a certificate. I built it with React for the screens, Spring Boot for the server and MySQL for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colleges manage events with WhatsApp and Google Forms. That causes four problems: two people get the same last seat, ticket screenshots are shared, certificates come late and can be faked, and organizers have no numbers. EventHub solves all four in one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six objectives: easy discovery, fair booking that never oversells, a smart waitlist, fast and safe entry with QR codes, certificates only for people who really came, and useful numbers for organizers.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kinds of users. A visitor only browses. A student books and gets tickets and certificates. An organizer runs events for one club. A volunteer scans tickets at the gate. The admin approves events and sees everything. The page hides buttons, but the server is what really protects each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29 pages, 50 API endpoints, 17 database tables, 146 automated tests with 91 percent coverage of the business logic, and more than 60 commits on GitHub. About 6,600 lines of Java, 6,000 lines of React and 3,400 lines of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with Tailwind for styling and Redux for shared state. The backend is Spring Boot on Java 25 with Spring Security. Data is in MySQL, running in Docker. For quality I used JUnit, Mockito, Testcontainers and Vitest, and GitHub Actions runs every test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runs the React app. It sends JSON requests to the Spring Boot server. Each request first passes the security filters, which read the login cookie and check the CSRF token. Then a controller receives it, a service applies the business rules inside a database transaction, and a repository reads or writes MySQL. The server also talks to Stripe for payments and to a mail server for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split into packages by business area, not by technical layer. So everything about bookings is in the booking package: the entity, repository, service and controller. This makes the code easy to find and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17 tables in four groups. The tables are never changed by hand: every change is a numbered Flyway migration file, V1 to V9, so every laptop and server has exactly the same database. Constraints in the database itself stop wrong data, for example a rating of 6 stars or the same ticket rated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starts as a draft. The organizer submits it, and while it waits for approval it cannot be edited. The admin either approves it, and it becomes public, or sends it back with a reason. The server refuses any other move, and every step is recorded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 journey: find an event, hold the seats for ten minutes, pay, get a QR ticket, get scanned at the gate, receive a certificate after the event, and rate it. The bottom box shows the unhappy paths: a waitlist when it is sold out, automatic release when someone does not pay, and refunds for payments that arrive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booking. Ravi sees the live seat count, the seats are held for ten minutes while he pays, and after payment he gets a QR ticket. The key point is optimistic locking: the database refuses a save made with old data, so we can never sell the last seat twice. My test with 100 parallel threads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gate, the volunteer scans the QR code. The first scan says LET IN in green. The same ticket again says ALREADY USED in red, with the time and the volunteer name. The trick is one SQL update that only marks the ticket if it is not used yet, so even twenty gates at once cannot let the same ticket in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event, students who were really scanned at the gate can download a PDF certificate made by the server. Each certificate has a random number and a QR code. Anyone, for example a company reading a resume, can open the public verify page and see that it is genuine.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get a dashboard with tickets and money per day, the percentage of ticket holders who actually came, and the average rating. The database does the counting with GROUP BY, and the result is cached for sixty seconds, so opening the dashboard many times does not load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built in from Phase 5. Passwords are hashed with BCrypt. The login token is a JWT inside an httpOnly cookie, which scripts cannot read. CSRF tokens stop other websites from acting as you. Every request is checked for the right role, and after five wrong passwords the account is locked for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a big part of the project. There are 133 backend tests: unit tests with Mockito, and integration tests that start a real MySQL in Docker with Testcontainers. There are 13 React tests with Vitest. Coverage of the business logic is 91 percent. The tests also found real bugs, like a scanner crash and a test that failed one time in sixteen.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hardest problems I met. Each one is a real bug that I found with a test or a demo, understood, and fixed. For example, a MySQL deadlock between two bookings was solved by always updating the event row first, and emails are now sent only after the database change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EventHub in ten phases, from Java basics to launch. Each phase had a checklist and "done when" tests, and I only moved on when they passed. Phases zero to eight are finished; the last phase is putting it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I would deploy it, add password reset by email, an installable app for the gate that works offline, UPI payments, Redis so it can run on several servers, and support for many colleges.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EventHub is a complete product, it stays correct when many people use it at once, and it follows professional practice with security, tests and CI. Thank you. I am happy to take questions, and the code is on my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640080" y="731520"/>
            <a:ext cx="822960" cy="822960"/>
          </a:xfrm>
          <a:prstGeom prst="ellipse">
            <a:avLst/>
          </a:prstGeom>
          <a:solidFill>
            <a:srgbClr val="F59E0B"/>
          </a:solidFill>
          <a:ln w="12700">
            <a:solidFill>
              <a:srgbClr val="F59E0B"/>
            </a:solidFill>
            <a:prstDash val="solid"/>
          </a:ln>
        </p:spPr>
      </p:sp>
      <p:pic>
        <p:nvPicPr>
          <p:cNvPr id="3" name="Image 0" descr="preencoded.png">    </p:cNvPr>
          <p:cNvPicPr>
            <a:picLocks noChangeAspect="1"/>
          </p:cNvPicPr>
          <p:nvPr/>
        </p:nvPicPr>
        <p:blipFill>
          <a:blip r:embed="rId1"/>
          <a:stretch>
            <a:fillRect/>
          </a:stretch>
        </p:blipFill>
        <p:spPr>
          <a:xfrm>
            <a:off x="837590" y="929030"/>
            <a:ext cx="427939" cy="427939"/>
          </a:xfrm>
          <a:prstGeom prst="rect">
            <a:avLst/>
          </a:prstGeom>
        </p:spPr>
      </p:pic>
      <p:sp>
        <p:nvSpPr>
          <p:cNvPr id="4" name="Text 1"/>
          <p:cNvSpPr txBox="1"/>
          <p:nvPr/>
        </p:nvSpPr>
        <p:spPr>
          <a:xfrm>
            <a:off x="640080" y="1783080"/>
            <a:ext cx="5486400" cy="100584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EventHub</a:t>
            </a:r>
            <a:endParaRPr lang="en-US" sz="5800" dirty="0"/>
          </a:p>
        </p:txBody>
      </p:sp>
      <p:sp>
        <p:nvSpPr>
          <p:cNvPr id="5" name="Text 2"/>
          <p:cNvSpPr txBox="1"/>
          <p:nvPr/>
        </p:nvSpPr>
        <p:spPr>
          <a:xfrm>
            <a:off x="640080" y="2788920"/>
            <a:ext cx="5486400" cy="548640"/>
          </a:xfrm>
          <a:prstGeom prst="rect">
            <a:avLst/>
          </a:prstGeom>
          <a:noFill/>
          <a:ln/>
        </p:spPr>
        <p:txBody>
          <a:bodyPr wrap="square" lIns="0" tIns="0" rIns="0" bIns="0" rtlCol="0" anchor="ctr"/>
          <a:lstStyle/>
          <a:p>
            <a:pPr indent="0" marL="0">
              <a:buNone/>
            </a:pPr>
            <a:r>
              <a:rPr lang="en-US" sz="2400" dirty="0">
                <a:solidFill>
                  <a:srgbClr val="C7D2FE"/>
                </a:solidFill>
                <a:latin typeface="Arial" pitchFamily="34" charset="0"/>
                <a:ea typeface="Arial" pitchFamily="34" charset="-122"/>
                <a:cs typeface="Arial" pitchFamily="34" charset="-120"/>
              </a:rPr>
              <a:t>College Event Management Platform</a:t>
            </a:r>
            <a:endParaRPr lang="en-US" sz="2400" dirty="0"/>
          </a:p>
        </p:txBody>
      </p:sp>
      <p:sp>
        <p:nvSpPr>
          <p:cNvPr id="6" name="Text 3"/>
          <p:cNvSpPr txBox="1"/>
          <p:nvPr/>
        </p:nvSpPr>
        <p:spPr>
          <a:xfrm>
            <a:off x="640080" y="3474720"/>
            <a:ext cx="5120640"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Find, book, pay, enter with a QR ticket, get a certificate - all in one place.</a:t>
            </a:r>
            <a:endParaRPr lang="en-US" sz="1600" dirty="0"/>
          </a:p>
        </p:txBody>
      </p:sp>
      <p:sp>
        <p:nvSpPr>
          <p:cNvPr id="7" name="Text 4"/>
          <p:cNvSpPr txBox="1"/>
          <p:nvPr/>
        </p:nvSpPr>
        <p:spPr>
          <a:xfrm>
            <a:off x="640080" y="5120640"/>
            <a:ext cx="5486400" cy="731520"/>
          </a:xfrm>
          <a:prstGeom prst="rect">
            <a:avLst/>
          </a:prstGeom>
          <a:noFill/>
          <a:ln/>
        </p:spPr>
        <p:txBody>
          <a:bodyPr wrap="square" lIns="0" tIns="0" rIns="0" bIns="0" rtlCol="0" anchor="ctr"/>
          <a:lstStyle/>
          <a:p>
            <a:pPr indent="0" marL="0">
              <a:buNone/>
            </a:pPr>
            <a:r>
              <a:rPr lang="en-US" sz="1400" dirty="0">
                <a:solidFill>
                  <a:srgbClr val="C7D2FE"/>
                </a:solidFill>
                <a:latin typeface="Calibri" pitchFamily="34" charset="0"/>
                <a:ea typeface="Calibri" pitchFamily="34" charset="-122"/>
                <a:cs typeface="Calibri" pitchFamily="34" charset="-120"/>
              </a:rPr>
              <a:t>Java Full Stack project  ·  React + Spring Boot + MySQL</a:t>
            </a:r>
            <a:endParaRPr lang="en-US" sz="1400" dirty="0"/>
          </a:p>
          <a:p>
            <a:pPr indent="0" marL="0">
              <a:buNone/>
            </a:pPr>
            <a:r>
              <a:rPr lang="en-US" sz="1400" dirty="0">
                <a:solidFill>
                  <a:srgbClr val="C7D2FE"/>
                </a:solidFill>
                <a:latin typeface="Calibri" pitchFamily="34" charset="0"/>
                <a:ea typeface="Calibri" pitchFamily="34" charset="-122"/>
                <a:cs typeface="Calibri" pitchFamily="34" charset="-120"/>
              </a:rPr>
              <a:t>Madhavan Suresh  ·  September 2026</a:t>
            </a:r>
            <a:endParaRPr lang="en-US" sz="1400" dirty="0"/>
          </a:p>
        </p:txBody>
      </p:sp>
      <p:sp>
        <p:nvSpPr>
          <p:cNvPr id="8" name="Shape 5"/>
          <p:cNvSpPr/>
          <p:nvPr/>
        </p:nvSpPr>
        <p:spPr>
          <a:xfrm>
            <a:off x="6254496" y="1956816"/>
            <a:ext cx="5413248" cy="2184753"/>
          </a:xfrm>
          <a:prstGeom prst="roundRect">
            <a:avLst>
              <a:gd name="adj" fmla="val 502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9" name="Image 1" descr="D:/Java_FullStack_Journey/02_EventHub_Practice_Project/Showcase/screenshots/01-home.png">    </p:cNvPr>
          <p:cNvPicPr>
            <a:picLocks noChangeAspect="1"/>
          </p:cNvPicPr>
          <p:nvPr/>
        </p:nvPicPr>
        <p:blipFill>
          <a:blip r:embed="rId2"/>
          <a:stretch>
            <a:fillRect/>
          </a:stretch>
        </p:blipFill>
        <p:spPr>
          <a:xfrm>
            <a:off x="6309360" y="2011680"/>
            <a:ext cx="5303520" cy="2075025"/>
          </a:xfrm>
          <a:prstGeom prst="rect">
            <a:avLst/>
          </a:prstGeom>
        </p:spPr>
      </p:pic>
      <p:sp>
        <p:nvSpPr>
          <p:cNvPr id="10" name="Text 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C7D2FE"/>
                </a:solidFill>
                <a:latin typeface="Calibri" pitchFamily="34" charset="0"/>
                <a:ea typeface="Calibri" pitchFamily="34" charset="-122"/>
                <a:cs typeface="Calibri" pitchFamily="34" charset="-120"/>
              </a:rPr>
              <a:t>EventHub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The problem</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Today most college events run on WhatsApp groups and Google Forms</a:t>
            </a:r>
            <a:endParaRPr lang="en-US" sz="1600" dirty="0"/>
          </a:p>
        </p:txBody>
      </p:sp>
      <p:sp>
        <p:nvSpPr>
          <p:cNvPr id="4" name="Shape 2"/>
          <p:cNvSpPr/>
          <p:nvPr/>
        </p:nvSpPr>
        <p:spPr>
          <a:xfrm>
            <a:off x="548640" y="1691640"/>
            <a:ext cx="640080" cy="640080"/>
          </a:xfrm>
          <a:prstGeom prst="ellipse">
            <a:avLst/>
          </a:prstGeom>
          <a:solidFill>
            <a:srgbClr val="FEF3C7"/>
          </a:solidFill>
          <a:ln w="12700">
            <a:solidFill>
              <a:srgbClr val="FEF3C7"/>
            </a:solidFill>
            <a:prstDash val="solid"/>
          </a:ln>
        </p:spPr>
      </p:sp>
      <p:pic>
        <p:nvPicPr>
          <p:cNvPr id="5" name="Image 0" descr="preencoded.png">    </p:cNvPr>
          <p:cNvPicPr>
            <a:picLocks noChangeAspect="1"/>
          </p:cNvPicPr>
          <p:nvPr/>
        </p:nvPicPr>
        <p:blipFill>
          <a:blip r:embed="rId1"/>
          <a:stretch>
            <a:fillRect/>
          </a:stretch>
        </p:blipFill>
        <p:spPr>
          <a:xfrm>
            <a:off x="702259" y="1845259"/>
            <a:ext cx="332842" cy="332842"/>
          </a:xfrm>
          <a:prstGeom prst="rect">
            <a:avLst/>
          </a:prstGeom>
        </p:spPr>
      </p:pic>
      <p:sp>
        <p:nvSpPr>
          <p:cNvPr id="6" name="Text 3"/>
          <p:cNvSpPr txBox="1"/>
          <p:nvPr/>
        </p:nvSpPr>
        <p:spPr>
          <a:xfrm>
            <a:off x="1417320" y="167335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Overbooking</a:t>
            </a:r>
            <a:endParaRPr lang="en-US" sz="1800" dirty="0"/>
          </a:p>
        </p:txBody>
      </p:sp>
      <p:sp>
        <p:nvSpPr>
          <p:cNvPr id="7" name="Text 4"/>
          <p:cNvSpPr txBox="1"/>
          <p:nvPr/>
        </p:nvSpPr>
        <p:spPr>
          <a:xfrm>
            <a:off x="1417320" y="203911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Two students fill the form for the last seat - both think they are in.</a:t>
            </a:r>
            <a:endParaRPr lang="en-US" sz="1400" dirty="0"/>
          </a:p>
        </p:txBody>
      </p:sp>
      <p:sp>
        <p:nvSpPr>
          <p:cNvPr id="8" name="Shape 5"/>
          <p:cNvSpPr/>
          <p:nvPr/>
        </p:nvSpPr>
        <p:spPr>
          <a:xfrm>
            <a:off x="548640" y="2788920"/>
            <a:ext cx="640080" cy="640080"/>
          </a:xfrm>
          <a:prstGeom prst="ellipse">
            <a:avLst/>
          </a:prstGeom>
          <a:solidFill>
            <a:srgbClr val="FEF3C7"/>
          </a:solidFill>
          <a:ln w="12700">
            <a:solidFill>
              <a:srgbClr val="FEF3C7"/>
            </a:solidFill>
            <a:prstDash val="solid"/>
          </a:ln>
        </p:spPr>
      </p:sp>
      <p:pic>
        <p:nvPicPr>
          <p:cNvPr id="9" name="Image 1" descr="preencoded.png">    </p:cNvPr>
          <p:cNvPicPr>
            <a:picLocks noChangeAspect="1"/>
          </p:cNvPicPr>
          <p:nvPr/>
        </p:nvPicPr>
        <p:blipFill>
          <a:blip r:embed="rId2"/>
          <a:stretch>
            <a:fillRect/>
          </a:stretch>
        </p:blipFill>
        <p:spPr>
          <a:xfrm>
            <a:off x="702259" y="2942539"/>
            <a:ext cx="332842" cy="332842"/>
          </a:xfrm>
          <a:prstGeom prst="rect">
            <a:avLst/>
          </a:prstGeom>
        </p:spPr>
      </p:pic>
      <p:sp>
        <p:nvSpPr>
          <p:cNvPr id="10" name="Text 6"/>
          <p:cNvSpPr txBox="1"/>
          <p:nvPr/>
        </p:nvSpPr>
        <p:spPr>
          <a:xfrm>
            <a:off x="1417320" y="277063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Fake entries</a:t>
            </a:r>
            <a:endParaRPr lang="en-US" sz="1800" dirty="0"/>
          </a:p>
        </p:txBody>
      </p:sp>
      <p:sp>
        <p:nvSpPr>
          <p:cNvPr id="11" name="Text 7"/>
          <p:cNvSpPr txBox="1"/>
          <p:nvPr/>
        </p:nvSpPr>
        <p:spPr>
          <a:xfrm>
            <a:off x="1417320" y="313639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screenshot of a ticket is shared; nobody can tell who already entered.</a:t>
            </a:r>
            <a:endParaRPr lang="en-US" sz="1400" dirty="0"/>
          </a:p>
        </p:txBody>
      </p:sp>
      <p:sp>
        <p:nvSpPr>
          <p:cNvPr id="12" name="Shape 8"/>
          <p:cNvSpPr/>
          <p:nvPr/>
        </p:nvSpPr>
        <p:spPr>
          <a:xfrm>
            <a:off x="548640" y="3886200"/>
            <a:ext cx="640080" cy="640080"/>
          </a:xfrm>
          <a:prstGeom prst="ellipse">
            <a:avLst/>
          </a:prstGeom>
          <a:solidFill>
            <a:srgbClr val="FEF3C7"/>
          </a:solidFill>
          <a:ln w="12700">
            <a:solidFill>
              <a:srgbClr val="FEF3C7"/>
            </a:solidFill>
            <a:prstDash val="solid"/>
          </a:ln>
        </p:spPr>
      </p:sp>
      <p:pic>
        <p:nvPicPr>
          <p:cNvPr id="13" name="Image 2" descr="preencoded.png">    </p:cNvPr>
          <p:cNvPicPr>
            <a:picLocks noChangeAspect="1"/>
          </p:cNvPicPr>
          <p:nvPr/>
        </p:nvPicPr>
        <p:blipFill>
          <a:blip r:embed="rId3"/>
          <a:stretch>
            <a:fillRect/>
          </a:stretch>
        </p:blipFill>
        <p:spPr>
          <a:xfrm>
            <a:off x="702259" y="4039819"/>
            <a:ext cx="332842" cy="332842"/>
          </a:xfrm>
          <a:prstGeom prst="rect">
            <a:avLst/>
          </a:prstGeom>
        </p:spPr>
      </p:pic>
      <p:sp>
        <p:nvSpPr>
          <p:cNvPr id="14" name="Text 9"/>
          <p:cNvSpPr txBox="1"/>
          <p:nvPr/>
        </p:nvSpPr>
        <p:spPr>
          <a:xfrm>
            <a:off x="1417320" y="386791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Late certificates</a:t>
            </a:r>
            <a:endParaRPr lang="en-US" sz="1800" dirty="0"/>
          </a:p>
        </p:txBody>
      </p:sp>
      <p:sp>
        <p:nvSpPr>
          <p:cNvPr id="15" name="Text 10"/>
          <p:cNvSpPr txBox="1"/>
          <p:nvPr/>
        </p:nvSpPr>
        <p:spPr>
          <a:xfrm>
            <a:off x="1417320" y="423367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Made by hand weeks later, and easy to fake on a resume.</a:t>
            </a:r>
            <a:endParaRPr lang="en-US" sz="1400" dirty="0"/>
          </a:p>
        </p:txBody>
      </p:sp>
      <p:sp>
        <p:nvSpPr>
          <p:cNvPr id="16" name="Shape 11"/>
          <p:cNvSpPr/>
          <p:nvPr/>
        </p:nvSpPr>
        <p:spPr>
          <a:xfrm>
            <a:off x="548640" y="4983480"/>
            <a:ext cx="640080" cy="640080"/>
          </a:xfrm>
          <a:prstGeom prst="ellipse">
            <a:avLst/>
          </a:prstGeom>
          <a:solidFill>
            <a:srgbClr val="FEF3C7"/>
          </a:solidFill>
          <a:ln w="12700">
            <a:solidFill>
              <a:srgbClr val="FEF3C7"/>
            </a:solidFill>
            <a:prstDash val="solid"/>
          </a:ln>
        </p:spPr>
      </p:sp>
      <p:pic>
        <p:nvPicPr>
          <p:cNvPr id="17" name="Image 3" descr="preencoded.png">    </p:cNvPr>
          <p:cNvPicPr>
            <a:picLocks noChangeAspect="1"/>
          </p:cNvPicPr>
          <p:nvPr/>
        </p:nvPicPr>
        <p:blipFill>
          <a:blip r:embed="rId4"/>
          <a:stretch>
            <a:fillRect/>
          </a:stretch>
        </p:blipFill>
        <p:spPr>
          <a:xfrm>
            <a:off x="702259" y="5137099"/>
            <a:ext cx="332842" cy="332842"/>
          </a:xfrm>
          <a:prstGeom prst="rect">
            <a:avLst/>
          </a:prstGeom>
        </p:spPr>
      </p:pic>
      <p:sp>
        <p:nvSpPr>
          <p:cNvPr id="18" name="Text 12"/>
          <p:cNvSpPr txBox="1"/>
          <p:nvPr/>
        </p:nvSpPr>
        <p:spPr>
          <a:xfrm>
            <a:off x="1417320" y="496519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No insight</a:t>
            </a:r>
            <a:endParaRPr lang="en-US" sz="1800" dirty="0"/>
          </a:p>
        </p:txBody>
      </p:sp>
      <p:sp>
        <p:nvSpPr>
          <p:cNvPr id="19" name="Text 13"/>
          <p:cNvSpPr txBox="1"/>
          <p:nvPr/>
        </p:nvSpPr>
        <p:spPr>
          <a:xfrm>
            <a:off x="1417320" y="533095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Organizers cannot see sales, attendance or what students thought.</a:t>
            </a:r>
            <a:endParaRPr lang="en-US" sz="1400" dirty="0"/>
          </a:p>
        </p:txBody>
      </p:sp>
      <p:sp>
        <p:nvSpPr>
          <p:cNvPr id="20" name="Shape 14"/>
          <p:cNvSpPr/>
          <p:nvPr/>
        </p:nvSpPr>
        <p:spPr>
          <a:xfrm>
            <a:off x="6766560" y="1691640"/>
            <a:ext cx="4846320" cy="4114800"/>
          </a:xfrm>
          <a:prstGeom prst="roundRect">
            <a:avLst>
              <a:gd name="adj" fmla="val 2667"/>
            </a:avLst>
          </a:prstGeom>
          <a:solidFill>
            <a:srgbClr val="1E1B4B"/>
          </a:solidFill>
          <a:ln w="12700">
            <a:solidFill>
              <a:srgbClr val="1E1B4B"/>
            </a:solidFill>
            <a:prstDash val="solid"/>
          </a:ln>
        </p:spPr>
      </p:sp>
      <p:sp>
        <p:nvSpPr>
          <p:cNvPr id="21" name="Text 15"/>
          <p:cNvSpPr txBox="1"/>
          <p:nvPr/>
        </p:nvSpPr>
        <p:spPr>
          <a:xfrm>
            <a:off x="7132320" y="1965960"/>
            <a:ext cx="4206240" cy="365760"/>
          </a:xfrm>
          <a:prstGeom prst="rect">
            <a:avLst/>
          </a:prstGeom>
          <a:noFill/>
          <a:ln/>
        </p:spPr>
        <p:txBody>
          <a:bodyPr wrap="square" lIns="0" tIns="0" rIns="0" bIns="0" rtlCol="0" anchor="ctr"/>
          <a:lstStyle/>
          <a:p>
            <a:pPr indent="0" marL="0">
              <a:buNone/>
            </a:pPr>
            <a:r>
              <a:rPr lang="en-US" sz="1600" b="1" dirty="0">
                <a:solidFill>
                  <a:srgbClr val="F59E0B"/>
                </a:solidFill>
                <a:latin typeface="Arial" pitchFamily="34" charset="0"/>
                <a:ea typeface="Arial" pitchFamily="34" charset="-122"/>
                <a:cs typeface="Arial" pitchFamily="34" charset="-120"/>
              </a:rPr>
              <a:t>The solution</a:t>
            </a:r>
            <a:endParaRPr lang="en-US" sz="1600" dirty="0"/>
          </a:p>
        </p:txBody>
      </p:sp>
      <p:sp>
        <p:nvSpPr>
          <p:cNvPr id="22" name="Text 16"/>
          <p:cNvSpPr txBox="1"/>
          <p:nvPr/>
        </p:nvSpPr>
        <p:spPr>
          <a:xfrm>
            <a:off x="7132320" y="2377440"/>
            <a:ext cx="4206240" cy="8229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EventHub puts the whole journey in one place</a:t>
            </a:r>
            <a:endParaRPr lang="en-US" sz="2200" dirty="0"/>
          </a:p>
        </p:txBody>
      </p:sp>
      <p:sp>
        <p:nvSpPr>
          <p:cNvPr id="23" name="Text 17"/>
          <p:cNvSpPr txBox="1"/>
          <p:nvPr/>
        </p:nvSpPr>
        <p:spPr>
          <a:xfrm>
            <a:off x="7132320" y="329184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Find</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Book and pay (seat held 10 minutes)</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Enter with a one-time QR ticket</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Get a verifiable PDF certificate</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Give feedback - organizers see analytics</a:t>
            </a:r>
            <a:endParaRPr lang="en-US" sz="1500" dirty="0"/>
          </a:p>
        </p:txBody>
      </p:sp>
      <p:sp>
        <p:nvSpPr>
          <p:cNvPr id="24" name="Text 1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Objectives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the project had to achieve</a:t>
            </a:r>
            <a:endParaRPr lang="en-US" sz="1600" dirty="0"/>
          </a:p>
        </p:txBody>
      </p:sp>
      <p:sp>
        <p:nvSpPr>
          <p:cNvPr id="4" name="Shape 2"/>
          <p:cNvSpPr/>
          <p:nvPr/>
        </p:nvSpPr>
        <p:spPr>
          <a:xfrm>
            <a:off x="548640" y="1645920"/>
            <a:ext cx="3474720" cy="2011680"/>
          </a:xfrm>
          <a:prstGeom prst="roundRect">
            <a:avLst>
              <a:gd name="adj" fmla="val 5455"/>
            </a:avLst>
          </a:prstGeom>
          <a:solidFill>
            <a:srgbClr val="EEF2FF"/>
          </a:solidFill>
          <a:ln w="12700">
            <a:solidFill>
              <a:srgbClr val="EEF2FF"/>
            </a:solidFill>
            <a:prstDash val="solid"/>
          </a:ln>
        </p:spPr>
      </p:sp>
      <p:sp>
        <p:nvSpPr>
          <p:cNvPr id="5" name="Shape 3"/>
          <p:cNvSpPr/>
          <p:nvPr/>
        </p:nvSpPr>
        <p:spPr>
          <a:xfrm>
            <a:off x="822960" y="1920240"/>
            <a:ext cx="566928" cy="566928"/>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7" name="Text 4"/>
          <p:cNvSpPr txBox="1"/>
          <p:nvPr/>
        </p:nvSpPr>
        <p:spPr>
          <a:xfrm>
            <a:off x="155448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Easy discovery</a:t>
            </a:r>
            <a:endParaRPr lang="en-US" sz="1700" dirty="0"/>
          </a:p>
        </p:txBody>
      </p:sp>
      <p:sp>
        <p:nvSpPr>
          <p:cNvPr id="8" name="Text 5"/>
          <p:cNvSpPr txBox="1"/>
          <p:nvPr/>
        </p:nvSpPr>
        <p:spPr>
          <a:xfrm>
            <a:off x="82296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Search and filter events by text, tag, club and date - on the server, with paging.</a:t>
            </a:r>
            <a:endParaRPr lang="en-US" sz="1400" dirty="0"/>
          </a:p>
        </p:txBody>
      </p:sp>
      <p:sp>
        <p:nvSpPr>
          <p:cNvPr id="9" name="Shape 6"/>
          <p:cNvSpPr/>
          <p:nvPr/>
        </p:nvSpPr>
        <p:spPr>
          <a:xfrm>
            <a:off x="4297680" y="1645920"/>
            <a:ext cx="3474720" cy="2011680"/>
          </a:xfrm>
          <a:prstGeom prst="roundRect">
            <a:avLst>
              <a:gd name="adj" fmla="val 5455"/>
            </a:avLst>
          </a:prstGeom>
          <a:solidFill>
            <a:srgbClr val="EEF2FF"/>
          </a:solidFill>
          <a:ln w="12700">
            <a:solidFill>
              <a:srgbClr val="EEF2FF"/>
            </a:solidFill>
            <a:prstDash val="solid"/>
          </a:ln>
        </p:spPr>
      </p:sp>
      <p:sp>
        <p:nvSpPr>
          <p:cNvPr id="10" name="Shape 7"/>
          <p:cNvSpPr/>
          <p:nvPr/>
        </p:nvSpPr>
        <p:spPr>
          <a:xfrm>
            <a:off x="4572000" y="1920240"/>
            <a:ext cx="566928" cy="566928"/>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4708063" y="2056303"/>
            <a:ext cx="294803" cy="294803"/>
          </a:xfrm>
          <a:prstGeom prst="rect">
            <a:avLst/>
          </a:prstGeom>
        </p:spPr>
      </p:pic>
      <p:sp>
        <p:nvSpPr>
          <p:cNvPr id="12" name="Text 8"/>
          <p:cNvSpPr txBox="1"/>
          <p:nvPr/>
        </p:nvSpPr>
        <p:spPr>
          <a:xfrm>
            <a:off x="530352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Fair booking</a:t>
            </a:r>
            <a:endParaRPr lang="en-US" sz="1700" dirty="0"/>
          </a:p>
        </p:txBody>
      </p:sp>
      <p:sp>
        <p:nvSpPr>
          <p:cNvPr id="13" name="Text 9"/>
          <p:cNvSpPr txBox="1"/>
          <p:nvPr/>
        </p:nvSpPr>
        <p:spPr>
          <a:xfrm>
            <a:off x="457200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Never sell more seats than exist, even when 100 students click at the same second.</a:t>
            </a:r>
            <a:endParaRPr lang="en-US" sz="1400" dirty="0"/>
          </a:p>
        </p:txBody>
      </p:sp>
      <p:sp>
        <p:nvSpPr>
          <p:cNvPr id="14" name="Shape 10"/>
          <p:cNvSpPr/>
          <p:nvPr/>
        </p:nvSpPr>
        <p:spPr>
          <a:xfrm>
            <a:off x="8046720" y="1645920"/>
            <a:ext cx="3474720" cy="2011680"/>
          </a:xfrm>
          <a:prstGeom prst="roundRect">
            <a:avLst>
              <a:gd name="adj" fmla="val 5455"/>
            </a:avLst>
          </a:prstGeom>
          <a:solidFill>
            <a:srgbClr val="EEF2FF"/>
          </a:solidFill>
          <a:ln w="12700">
            <a:solidFill>
              <a:srgbClr val="EEF2FF"/>
            </a:solidFill>
            <a:prstDash val="solid"/>
          </a:ln>
        </p:spPr>
      </p:sp>
      <p:sp>
        <p:nvSpPr>
          <p:cNvPr id="15" name="Shape 11"/>
          <p:cNvSpPr/>
          <p:nvPr/>
        </p:nvSpPr>
        <p:spPr>
          <a:xfrm>
            <a:off x="8321040" y="1920240"/>
            <a:ext cx="566928" cy="566928"/>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8457103" y="2056303"/>
            <a:ext cx="294803" cy="294803"/>
          </a:xfrm>
          <a:prstGeom prst="rect">
            <a:avLst/>
          </a:prstGeom>
        </p:spPr>
      </p:pic>
      <p:sp>
        <p:nvSpPr>
          <p:cNvPr id="17" name="Text 12"/>
          <p:cNvSpPr txBox="1"/>
          <p:nvPr/>
        </p:nvSpPr>
        <p:spPr>
          <a:xfrm>
            <a:off x="905256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Smart waitlist</a:t>
            </a:r>
            <a:endParaRPr lang="en-US" sz="1700" dirty="0"/>
          </a:p>
        </p:txBody>
      </p:sp>
      <p:sp>
        <p:nvSpPr>
          <p:cNvPr id="18" name="Text 13"/>
          <p:cNvSpPr txBox="1"/>
          <p:nvPr/>
        </p:nvSpPr>
        <p:spPr>
          <a:xfrm>
            <a:off x="832104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Freed seats are offered automatically to the next student in the queue.</a:t>
            </a:r>
            <a:endParaRPr lang="en-US" sz="1400" dirty="0"/>
          </a:p>
        </p:txBody>
      </p:sp>
      <p:sp>
        <p:nvSpPr>
          <p:cNvPr id="19" name="Shape 14"/>
          <p:cNvSpPr/>
          <p:nvPr/>
        </p:nvSpPr>
        <p:spPr>
          <a:xfrm>
            <a:off x="548640" y="3931920"/>
            <a:ext cx="3474720" cy="2011680"/>
          </a:xfrm>
          <a:prstGeom prst="roundRect">
            <a:avLst>
              <a:gd name="adj" fmla="val 5455"/>
            </a:avLst>
          </a:prstGeom>
          <a:solidFill>
            <a:srgbClr val="EEF2FF"/>
          </a:solidFill>
          <a:ln w="12700">
            <a:solidFill>
              <a:srgbClr val="EEF2FF"/>
            </a:solidFill>
            <a:prstDash val="solid"/>
          </a:ln>
        </p:spPr>
      </p:sp>
      <p:sp>
        <p:nvSpPr>
          <p:cNvPr id="20" name="Shape 15"/>
          <p:cNvSpPr/>
          <p:nvPr/>
        </p:nvSpPr>
        <p:spPr>
          <a:xfrm>
            <a:off x="822960" y="4206240"/>
            <a:ext cx="566928" cy="566928"/>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959023" y="4342303"/>
            <a:ext cx="294803" cy="294803"/>
          </a:xfrm>
          <a:prstGeom prst="rect">
            <a:avLst/>
          </a:prstGeom>
        </p:spPr>
      </p:pic>
      <p:sp>
        <p:nvSpPr>
          <p:cNvPr id="22" name="Text 16"/>
          <p:cNvSpPr txBox="1"/>
          <p:nvPr/>
        </p:nvSpPr>
        <p:spPr>
          <a:xfrm>
            <a:off x="155448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Fast, safe entry</a:t>
            </a:r>
            <a:endParaRPr lang="en-US" sz="1700" dirty="0"/>
          </a:p>
        </p:txBody>
      </p:sp>
      <p:sp>
        <p:nvSpPr>
          <p:cNvPr id="23" name="Text 17"/>
          <p:cNvSpPr txBox="1"/>
          <p:nvPr/>
        </p:nvSpPr>
        <p:spPr>
          <a:xfrm>
            <a:off x="82296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QR tickets checked at the gate; each ticket works exactly once.</a:t>
            </a:r>
            <a:endParaRPr lang="en-US" sz="1400" dirty="0"/>
          </a:p>
        </p:txBody>
      </p:sp>
      <p:sp>
        <p:nvSpPr>
          <p:cNvPr id="24" name="Shape 18"/>
          <p:cNvSpPr/>
          <p:nvPr/>
        </p:nvSpPr>
        <p:spPr>
          <a:xfrm>
            <a:off x="4297680" y="3931920"/>
            <a:ext cx="3474720" cy="2011680"/>
          </a:xfrm>
          <a:prstGeom prst="roundRect">
            <a:avLst>
              <a:gd name="adj" fmla="val 5455"/>
            </a:avLst>
          </a:prstGeom>
          <a:solidFill>
            <a:srgbClr val="EEF2FF"/>
          </a:solidFill>
          <a:ln w="12700">
            <a:solidFill>
              <a:srgbClr val="EEF2FF"/>
            </a:solidFill>
            <a:prstDash val="solid"/>
          </a:ln>
        </p:spPr>
      </p:sp>
      <p:sp>
        <p:nvSpPr>
          <p:cNvPr id="25" name="Shape 19"/>
          <p:cNvSpPr/>
          <p:nvPr/>
        </p:nvSpPr>
        <p:spPr>
          <a:xfrm>
            <a:off x="4572000" y="4206240"/>
            <a:ext cx="566928" cy="566928"/>
          </a:xfrm>
          <a:prstGeom prst="ellipse">
            <a:avLst/>
          </a:prstGeom>
          <a:solidFill>
            <a:srgbClr val="4F46E5"/>
          </a:solidFill>
          <a:ln w="12700">
            <a:solidFill>
              <a:srgbClr val="4F46E5"/>
            </a:solidFill>
            <a:prstDash val="solid"/>
          </a:ln>
        </p:spPr>
      </p:sp>
      <p:pic>
        <p:nvPicPr>
          <p:cNvPr id="26" name="Image 4" descr="preencoded.png">    </p:cNvPr>
          <p:cNvPicPr>
            <a:picLocks noChangeAspect="1"/>
          </p:cNvPicPr>
          <p:nvPr/>
        </p:nvPicPr>
        <p:blipFill>
          <a:blip r:embed="rId5"/>
          <a:stretch>
            <a:fillRect/>
          </a:stretch>
        </p:blipFill>
        <p:spPr>
          <a:xfrm>
            <a:off x="4708063" y="4342303"/>
            <a:ext cx="294803" cy="294803"/>
          </a:xfrm>
          <a:prstGeom prst="rect">
            <a:avLst/>
          </a:prstGeom>
        </p:spPr>
      </p:pic>
      <p:sp>
        <p:nvSpPr>
          <p:cNvPr id="27" name="Text 20"/>
          <p:cNvSpPr txBox="1"/>
          <p:nvPr/>
        </p:nvSpPr>
        <p:spPr>
          <a:xfrm>
            <a:off x="530352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Proof of attendance</a:t>
            </a:r>
            <a:endParaRPr lang="en-US" sz="1700" dirty="0"/>
          </a:p>
        </p:txBody>
      </p:sp>
      <p:sp>
        <p:nvSpPr>
          <p:cNvPr id="28" name="Text 21"/>
          <p:cNvSpPr txBox="1"/>
          <p:nvPr/>
        </p:nvSpPr>
        <p:spPr>
          <a:xfrm>
            <a:off x="457200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PDF certificates only for students who came, verifiable by anyone.</a:t>
            </a:r>
            <a:endParaRPr lang="en-US" sz="1400" dirty="0"/>
          </a:p>
        </p:txBody>
      </p:sp>
      <p:sp>
        <p:nvSpPr>
          <p:cNvPr id="29" name="Shape 22"/>
          <p:cNvSpPr/>
          <p:nvPr/>
        </p:nvSpPr>
        <p:spPr>
          <a:xfrm>
            <a:off x="8046720" y="3931920"/>
            <a:ext cx="3474720" cy="2011680"/>
          </a:xfrm>
          <a:prstGeom prst="roundRect">
            <a:avLst>
              <a:gd name="adj" fmla="val 5455"/>
            </a:avLst>
          </a:prstGeom>
          <a:solidFill>
            <a:srgbClr val="EEF2FF"/>
          </a:solidFill>
          <a:ln w="12700">
            <a:solidFill>
              <a:srgbClr val="EEF2FF"/>
            </a:solidFill>
            <a:prstDash val="solid"/>
          </a:ln>
        </p:spPr>
      </p:sp>
      <p:sp>
        <p:nvSpPr>
          <p:cNvPr id="30" name="Shape 23"/>
          <p:cNvSpPr/>
          <p:nvPr/>
        </p:nvSpPr>
        <p:spPr>
          <a:xfrm>
            <a:off x="8321040" y="4206240"/>
            <a:ext cx="566928" cy="566928"/>
          </a:xfrm>
          <a:prstGeom prst="ellipse">
            <a:avLst/>
          </a:prstGeom>
          <a:solidFill>
            <a:srgbClr val="4F46E5"/>
          </a:solidFill>
          <a:ln w="12700">
            <a:solidFill>
              <a:srgbClr val="4F46E5"/>
            </a:solidFill>
            <a:prstDash val="solid"/>
          </a:ln>
        </p:spPr>
      </p:sp>
      <p:pic>
        <p:nvPicPr>
          <p:cNvPr id="31" name="Image 5" descr="preencoded.png">    </p:cNvPr>
          <p:cNvPicPr>
            <a:picLocks noChangeAspect="1"/>
          </p:cNvPicPr>
          <p:nvPr/>
        </p:nvPicPr>
        <p:blipFill>
          <a:blip r:embed="rId6"/>
          <a:stretch>
            <a:fillRect/>
          </a:stretch>
        </p:blipFill>
        <p:spPr>
          <a:xfrm>
            <a:off x="8457103" y="4342303"/>
            <a:ext cx="294803" cy="294803"/>
          </a:xfrm>
          <a:prstGeom prst="rect">
            <a:avLst/>
          </a:prstGeom>
        </p:spPr>
      </p:pic>
      <p:sp>
        <p:nvSpPr>
          <p:cNvPr id="32" name="Text 24"/>
          <p:cNvSpPr txBox="1"/>
          <p:nvPr/>
        </p:nvSpPr>
        <p:spPr>
          <a:xfrm>
            <a:off x="905256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Insight</a:t>
            </a:r>
            <a:endParaRPr lang="en-US" sz="1700" dirty="0"/>
          </a:p>
        </p:txBody>
      </p:sp>
      <p:sp>
        <p:nvSpPr>
          <p:cNvPr id="33" name="Text 25"/>
          <p:cNvSpPr txBox="1"/>
          <p:nvPr/>
        </p:nvSpPr>
        <p:spPr>
          <a:xfrm>
            <a:off x="832104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Ratings, check-in rate and sales charts for organizers and the admin.</a:t>
            </a:r>
            <a:endParaRPr lang="en-US" sz="1400" dirty="0"/>
          </a:p>
        </p:txBody>
      </p:sp>
      <p:sp>
        <p:nvSpPr>
          <p:cNvPr id="34" name="Text 2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Who uses EventHub</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Five kinds of users - the server checks the role on every request</a:t>
            </a:r>
            <a:endParaRPr lang="en-US" sz="1600" dirty="0"/>
          </a:p>
        </p:txBody>
      </p:sp>
      <p:sp>
        <p:nvSpPr>
          <p:cNvPr id="4" name="Shape 2"/>
          <p:cNvSpPr/>
          <p:nvPr/>
        </p:nvSpPr>
        <p:spPr>
          <a:xfrm>
            <a:off x="548640" y="1691640"/>
            <a:ext cx="2057400" cy="3657600"/>
          </a:xfrm>
          <a:prstGeom prst="roundRect">
            <a:avLst>
              <a:gd name="adj" fmla="val 5333"/>
            </a:avLst>
          </a:prstGeom>
          <a:solidFill>
            <a:srgbClr val="EEF2FF"/>
          </a:solidFill>
          <a:ln w="12700">
            <a:solidFill>
              <a:srgbClr val="EEF2FF"/>
            </a:solidFill>
            <a:prstDash val="solid"/>
          </a:ln>
        </p:spPr>
      </p:sp>
      <p:sp>
        <p:nvSpPr>
          <p:cNvPr id="5" name="Shape 3"/>
          <p:cNvSpPr/>
          <p:nvPr/>
        </p:nvSpPr>
        <p:spPr>
          <a:xfrm>
            <a:off x="1234440" y="1965960"/>
            <a:ext cx="685800" cy="68580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399032" y="2130552"/>
            <a:ext cx="356616" cy="356616"/>
          </a:xfrm>
          <a:prstGeom prst="rect">
            <a:avLst/>
          </a:prstGeom>
        </p:spPr>
      </p:pic>
      <p:sp>
        <p:nvSpPr>
          <p:cNvPr id="7" name="Text 4"/>
          <p:cNvSpPr txBox="1"/>
          <p:nvPr/>
        </p:nvSpPr>
        <p:spPr>
          <a:xfrm>
            <a:off x="685800"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Visitor</a:t>
            </a:r>
            <a:endParaRPr lang="en-US" sz="1800" dirty="0"/>
          </a:p>
        </p:txBody>
      </p:sp>
      <p:sp>
        <p:nvSpPr>
          <p:cNvPr id="8" name="Text 5"/>
          <p:cNvSpPr txBox="1"/>
          <p:nvPr/>
        </p:nvSpPr>
        <p:spPr>
          <a:xfrm>
            <a:off x="685800"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Browse and search events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Verify a certificate</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Register</a:t>
            </a:r>
            <a:endParaRPr lang="en-US" sz="1350" dirty="0"/>
          </a:p>
        </p:txBody>
      </p:sp>
      <p:sp>
        <p:nvSpPr>
          <p:cNvPr id="9" name="Shape 6"/>
          <p:cNvSpPr/>
          <p:nvPr/>
        </p:nvSpPr>
        <p:spPr>
          <a:xfrm>
            <a:off x="2807208" y="1691640"/>
            <a:ext cx="2057400" cy="3657600"/>
          </a:xfrm>
          <a:prstGeom prst="roundRect">
            <a:avLst>
              <a:gd name="adj" fmla="val 5333"/>
            </a:avLst>
          </a:prstGeom>
          <a:solidFill>
            <a:srgbClr val="EEF2FF"/>
          </a:solidFill>
          <a:ln w="12700">
            <a:solidFill>
              <a:srgbClr val="EEF2FF"/>
            </a:solidFill>
            <a:prstDash val="solid"/>
          </a:ln>
        </p:spPr>
      </p:sp>
      <p:sp>
        <p:nvSpPr>
          <p:cNvPr id="10" name="Shape 7"/>
          <p:cNvSpPr/>
          <p:nvPr/>
        </p:nvSpPr>
        <p:spPr>
          <a:xfrm>
            <a:off x="3493008" y="1965960"/>
            <a:ext cx="685800" cy="68580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657600" y="2130552"/>
            <a:ext cx="356616" cy="356616"/>
          </a:xfrm>
          <a:prstGeom prst="rect">
            <a:avLst/>
          </a:prstGeom>
        </p:spPr>
      </p:pic>
      <p:sp>
        <p:nvSpPr>
          <p:cNvPr id="12" name="Text 8"/>
          <p:cNvSpPr txBox="1"/>
          <p:nvPr/>
        </p:nvSpPr>
        <p:spPr>
          <a:xfrm>
            <a:off x="2944368"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Student</a:t>
            </a:r>
            <a:endParaRPr lang="en-US" sz="1800" dirty="0"/>
          </a:p>
        </p:txBody>
      </p:sp>
      <p:sp>
        <p:nvSpPr>
          <p:cNvPr id="13" name="Text 9"/>
          <p:cNvSpPr txBox="1"/>
          <p:nvPr/>
        </p:nvSpPr>
        <p:spPr>
          <a:xfrm>
            <a:off x="2944368"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Book and pay</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QR tickets, waitlist</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Certificates, feedback</a:t>
            </a:r>
            <a:endParaRPr lang="en-US" sz="1350" dirty="0"/>
          </a:p>
        </p:txBody>
      </p:sp>
      <p:sp>
        <p:nvSpPr>
          <p:cNvPr id="14" name="Shape 10"/>
          <p:cNvSpPr/>
          <p:nvPr/>
        </p:nvSpPr>
        <p:spPr>
          <a:xfrm>
            <a:off x="5065776" y="1691640"/>
            <a:ext cx="2057400" cy="3657600"/>
          </a:xfrm>
          <a:prstGeom prst="roundRect">
            <a:avLst>
              <a:gd name="adj" fmla="val 5333"/>
            </a:avLst>
          </a:prstGeom>
          <a:solidFill>
            <a:srgbClr val="EEF2FF"/>
          </a:solidFill>
          <a:ln w="12700">
            <a:solidFill>
              <a:srgbClr val="EEF2FF"/>
            </a:solidFill>
            <a:prstDash val="solid"/>
          </a:ln>
        </p:spPr>
      </p:sp>
      <p:sp>
        <p:nvSpPr>
          <p:cNvPr id="15" name="Shape 11"/>
          <p:cNvSpPr/>
          <p:nvPr/>
        </p:nvSpPr>
        <p:spPr>
          <a:xfrm>
            <a:off x="5751576" y="1965960"/>
            <a:ext cx="685800" cy="685800"/>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5916168" y="2130552"/>
            <a:ext cx="356616" cy="356616"/>
          </a:xfrm>
          <a:prstGeom prst="rect">
            <a:avLst/>
          </a:prstGeom>
        </p:spPr>
      </p:pic>
      <p:sp>
        <p:nvSpPr>
          <p:cNvPr id="17" name="Text 12"/>
          <p:cNvSpPr txBox="1"/>
          <p:nvPr/>
        </p:nvSpPr>
        <p:spPr>
          <a:xfrm>
            <a:off x="5202936"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Organizer</a:t>
            </a:r>
            <a:endParaRPr lang="en-US" sz="1800" dirty="0"/>
          </a:p>
        </p:txBody>
      </p:sp>
      <p:sp>
        <p:nvSpPr>
          <p:cNvPr id="18" name="Text 13"/>
          <p:cNvSpPr txBox="1"/>
          <p:nvPr/>
        </p:nvSpPr>
        <p:spPr>
          <a:xfrm>
            <a:off x="5202936"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Create events for their club</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Submit for approval</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Analytics, feedback</a:t>
            </a:r>
            <a:endParaRPr lang="en-US" sz="1350" dirty="0"/>
          </a:p>
        </p:txBody>
      </p:sp>
      <p:sp>
        <p:nvSpPr>
          <p:cNvPr id="19" name="Shape 14"/>
          <p:cNvSpPr/>
          <p:nvPr/>
        </p:nvSpPr>
        <p:spPr>
          <a:xfrm>
            <a:off x="7324344" y="1691640"/>
            <a:ext cx="2057400" cy="3657600"/>
          </a:xfrm>
          <a:prstGeom prst="roundRect">
            <a:avLst>
              <a:gd name="adj" fmla="val 5333"/>
            </a:avLst>
          </a:prstGeom>
          <a:solidFill>
            <a:srgbClr val="EEF2FF"/>
          </a:solidFill>
          <a:ln w="12700">
            <a:solidFill>
              <a:srgbClr val="EEF2FF"/>
            </a:solidFill>
            <a:prstDash val="solid"/>
          </a:ln>
        </p:spPr>
      </p:sp>
      <p:sp>
        <p:nvSpPr>
          <p:cNvPr id="20" name="Shape 15"/>
          <p:cNvSpPr/>
          <p:nvPr/>
        </p:nvSpPr>
        <p:spPr>
          <a:xfrm>
            <a:off x="8010144" y="1965960"/>
            <a:ext cx="685800" cy="685800"/>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8174736" y="2130552"/>
            <a:ext cx="356616" cy="356616"/>
          </a:xfrm>
          <a:prstGeom prst="rect">
            <a:avLst/>
          </a:prstGeom>
        </p:spPr>
      </p:pic>
      <p:sp>
        <p:nvSpPr>
          <p:cNvPr id="22" name="Text 16"/>
          <p:cNvSpPr txBox="1"/>
          <p:nvPr/>
        </p:nvSpPr>
        <p:spPr>
          <a:xfrm>
            <a:off x="7461504"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Volunteer</a:t>
            </a:r>
            <a:endParaRPr lang="en-US" sz="1800" dirty="0"/>
          </a:p>
        </p:txBody>
      </p:sp>
      <p:sp>
        <p:nvSpPr>
          <p:cNvPr id="23" name="Text 17"/>
          <p:cNvSpPr txBox="1"/>
          <p:nvPr/>
        </p:nvSpPr>
        <p:spPr>
          <a:xfrm>
            <a:off x="7461504"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Gate duty for their club</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Scan QR tickets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Live check-in counter</a:t>
            </a:r>
            <a:endParaRPr lang="en-US" sz="1350" dirty="0"/>
          </a:p>
        </p:txBody>
      </p:sp>
      <p:sp>
        <p:nvSpPr>
          <p:cNvPr id="24" name="Shape 18"/>
          <p:cNvSpPr/>
          <p:nvPr/>
        </p:nvSpPr>
        <p:spPr>
          <a:xfrm>
            <a:off x="9582912" y="1691640"/>
            <a:ext cx="2057400" cy="3657600"/>
          </a:xfrm>
          <a:prstGeom prst="roundRect">
            <a:avLst>
              <a:gd name="adj" fmla="val 5333"/>
            </a:avLst>
          </a:prstGeom>
          <a:solidFill>
            <a:srgbClr val="1E1B4B"/>
          </a:solidFill>
          <a:ln w="12700">
            <a:solidFill>
              <a:srgbClr val="1E1B4B"/>
            </a:solidFill>
            <a:prstDash val="solid"/>
          </a:ln>
        </p:spPr>
      </p:sp>
      <p:sp>
        <p:nvSpPr>
          <p:cNvPr id="25" name="Shape 19"/>
          <p:cNvSpPr/>
          <p:nvPr/>
        </p:nvSpPr>
        <p:spPr>
          <a:xfrm>
            <a:off x="10268712" y="1965960"/>
            <a:ext cx="685800" cy="685800"/>
          </a:xfrm>
          <a:prstGeom prst="ellipse">
            <a:avLst/>
          </a:prstGeom>
          <a:solidFill>
            <a:srgbClr val="F59E0B"/>
          </a:solidFill>
          <a:ln w="12700">
            <a:solidFill>
              <a:srgbClr val="F59E0B"/>
            </a:solidFill>
            <a:prstDash val="solid"/>
          </a:ln>
        </p:spPr>
      </p:sp>
      <p:pic>
        <p:nvPicPr>
          <p:cNvPr id="26" name="Image 4" descr="preencoded.png">    </p:cNvPr>
          <p:cNvPicPr>
            <a:picLocks noChangeAspect="1"/>
          </p:cNvPicPr>
          <p:nvPr/>
        </p:nvPicPr>
        <p:blipFill>
          <a:blip r:embed="rId5"/>
          <a:stretch>
            <a:fillRect/>
          </a:stretch>
        </p:blipFill>
        <p:spPr>
          <a:xfrm>
            <a:off x="10433304" y="2130552"/>
            <a:ext cx="356616" cy="356616"/>
          </a:xfrm>
          <a:prstGeom prst="rect">
            <a:avLst/>
          </a:prstGeom>
        </p:spPr>
      </p:pic>
      <p:sp>
        <p:nvSpPr>
          <p:cNvPr id="27" name="Text 20"/>
          <p:cNvSpPr txBox="1"/>
          <p:nvPr/>
        </p:nvSpPr>
        <p:spPr>
          <a:xfrm>
            <a:off x="9720072" y="2788920"/>
            <a:ext cx="17830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Admin</a:t>
            </a:r>
            <a:endParaRPr lang="en-US" sz="1800" dirty="0"/>
          </a:p>
        </p:txBody>
      </p:sp>
      <p:sp>
        <p:nvSpPr>
          <p:cNvPr id="28" name="Text 21"/>
          <p:cNvSpPr txBox="1"/>
          <p:nvPr/>
        </p:nvSpPr>
        <p:spPr>
          <a:xfrm>
            <a:off x="9720072"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Approve or send back events</a:t>
            </a:r>
            <a:endParaRPr lang="en-US" sz="1350" dirty="0"/>
          </a:p>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All-club analytics</a:t>
            </a:r>
            <a:endParaRPr lang="en-US" sz="1350" dirty="0"/>
          </a:p>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Activity (audit) log</a:t>
            </a:r>
            <a:endParaRPr lang="en-US" sz="1350" dirty="0"/>
          </a:p>
        </p:txBody>
      </p:sp>
      <p:sp>
        <p:nvSpPr>
          <p:cNvPr id="29" name="Text 2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The project at a glance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Built step by step in 10 phases, with every change tested on GitHub</a:t>
            </a:r>
            <a:endParaRPr lang="en-US" sz="1600" dirty="0"/>
          </a:p>
        </p:txBody>
      </p:sp>
      <p:sp>
        <p:nvSpPr>
          <p:cNvPr id="4" name="Shape 2"/>
          <p:cNvSpPr/>
          <p:nvPr/>
        </p:nvSpPr>
        <p:spPr>
          <a:xfrm>
            <a:off x="548640" y="1691640"/>
            <a:ext cx="3474720" cy="1965960"/>
          </a:xfrm>
          <a:prstGeom prst="roundRect">
            <a:avLst>
              <a:gd name="adj" fmla="val 5581"/>
            </a:avLst>
          </a:prstGeom>
          <a:solidFill>
            <a:srgbClr val="EEF2FF"/>
          </a:solidFill>
          <a:ln w="12700">
            <a:solidFill>
              <a:srgbClr val="EEF2FF"/>
            </a:solidFill>
            <a:prstDash val="solid"/>
          </a:ln>
        </p:spPr>
      </p:sp>
      <p:sp>
        <p:nvSpPr>
          <p:cNvPr id="5" name="Text 3"/>
          <p:cNvSpPr txBox="1"/>
          <p:nvPr/>
        </p:nvSpPr>
        <p:spPr>
          <a:xfrm>
            <a:off x="82296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29</a:t>
            </a:r>
            <a:endParaRPr lang="en-US" sz="6000" dirty="0"/>
          </a:p>
        </p:txBody>
      </p:sp>
      <p:sp>
        <p:nvSpPr>
          <p:cNvPr id="6" name="Text 4"/>
          <p:cNvSpPr txBox="1"/>
          <p:nvPr/>
        </p:nvSpPr>
        <p:spPr>
          <a:xfrm>
            <a:off x="82296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pages (routes)</a:t>
            </a:r>
            <a:endParaRPr lang="en-US" sz="1600" dirty="0"/>
          </a:p>
        </p:txBody>
      </p:sp>
      <p:sp>
        <p:nvSpPr>
          <p:cNvPr id="7" name="Shape 5"/>
          <p:cNvSpPr/>
          <p:nvPr/>
        </p:nvSpPr>
        <p:spPr>
          <a:xfrm>
            <a:off x="4297680" y="1691640"/>
            <a:ext cx="3474720" cy="1965960"/>
          </a:xfrm>
          <a:prstGeom prst="roundRect">
            <a:avLst>
              <a:gd name="adj" fmla="val 5581"/>
            </a:avLst>
          </a:prstGeom>
          <a:solidFill>
            <a:srgbClr val="EEF2FF"/>
          </a:solidFill>
          <a:ln w="12700">
            <a:solidFill>
              <a:srgbClr val="EEF2FF"/>
            </a:solidFill>
            <a:prstDash val="solid"/>
          </a:ln>
        </p:spPr>
      </p:sp>
      <p:sp>
        <p:nvSpPr>
          <p:cNvPr id="8" name="Text 6"/>
          <p:cNvSpPr txBox="1"/>
          <p:nvPr/>
        </p:nvSpPr>
        <p:spPr>
          <a:xfrm>
            <a:off x="457200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50</a:t>
            </a:r>
            <a:endParaRPr lang="en-US" sz="6000" dirty="0"/>
          </a:p>
        </p:txBody>
      </p:sp>
      <p:sp>
        <p:nvSpPr>
          <p:cNvPr id="9" name="Text 7"/>
          <p:cNvSpPr txBox="1"/>
          <p:nvPr/>
        </p:nvSpPr>
        <p:spPr>
          <a:xfrm>
            <a:off x="457200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REST API endpoints</a:t>
            </a:r>
            <a:endParaRPr lang="en-US" sz="1600" dirty="0"/>
          </a:p>
        </p:txBody>
      </p:sp>
      <p:sp>
        <p:nvSpPr>
          <p:cNvPr id="10" name="Shape 8"/>
          <p:cNvSpPr/>
          <p:nvPr/>
        </p:nvSpPr>
        <p:spPr>
          <a:xfrm>
            <a:off x="8046720" y="1691640"/>
            <a:ext cx="3474720" cy="1965960"/>
          </a:xfrm>
          <a:prstGeom prst="roundRect">
            <a:avLst>
              <a:gd name="adj" fmla="val 5581"/>
            </a:avLst>
          </a:prstGeom>
          <a:solidFill>
            <a:srgbClr val="EEF2FF"/>
          </a:solidFill>
          <a:ln w="12700">
            <a:solidFill>
              <a:srgbClr val="EEF2FF"/>
            </a:solidFill>
            <a:prstDash val="solid"/>
          </a:ln>
        </p:spPr>
      </p:sp>
      <p:sp>
        <p:nvSpPr>
          <p:cNvPr id="11" name="Text 9"/>
          <p:cNvSpPr txBox="1"/>
          <p:nvPr/>
        </p:nvSpPr>
        <p:spPr>
          <a:xfrm>
            <a:off x="832104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17</a:t>
            </a:r>
            <a:endParaRPr lang="en-US" sz="6000" dirty="0"/>
          </a:p>
        </p:txBody>
      </p:sp>
      <p:sp>
        <p:nvSpPr>
          <p:cNvPr id="12" name="Text 10"/>
          <p:cNvSpPr txBox="1"/>
          <p:nvPr/>
        </p:nvSpPr>
        <p:spPr>
          <a:xfrm>
            <a:off x="832104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database tables</a:t>
            </a:r>
            <a:endParaRPr lang="en-US" sz="1600" dirty="0"/>
          </a:p>
        </p:txBody>
      </p:sp>
      <p:sp>
        <p:nvSpPr>
          <p:cNvPr id="13" name="Shape 11"/>
          <p:cNvSpPr/>
          <p:nvPr/>
        </p:nvSpPr>
        <p:spPr>
          <a:xfrm>
            <a:off x="548640" y="3931920"/>
            <a:ext cx="3474720" cy="1965960"/>
          </a:xfrm>
          <a:prstGeom prst="roundRect">
            <a:avLst>
              <a:gd name="adj" fmla="val 5581"/>
            </a:avLst>
          </a:prstGeom>
          <a:solidFill>
            <a:srgbClr val="FEF3C7"/>
          </a:solidFill>
          <a:ln w="12700">
            <a:solidFill>
              <a:srgbClr val="FEF3C7"/>
            </a:solidFill>
            <a:prstDash val="solid"/>
          </a:ln>
        </p:spPr>
      </p:sp>
      <p:sp>
        <p:nvSpPr>
          <p:cNvPr id="14" name="Text 12"/>
          <p:cNvSpPr txBox="1"/>
          <p:nvPr/>
        </p:nvSpPr>
        <p:spPr>
          <a:xfrm>
            <a:off x="82296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146</a:t>
            </a:r>
            <a:endParaRPr lang="en-US" sz="6000" dirty="0"/>
          </a:p>
        </p:txBody>
      </p:sp>
      <p:sp>
        <p:nvSpPr>
          <p:cNvPr id="15" name="Text 13"/>
          <p:cNvSpPr txBox="1"/>
          <p:nvPr/>
        </p:nvSpPr>
        <p:spPr>
          <a:xfrm>
            <a:off x="82296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automated tests</a:t>
            </a:r>
            <a:endParaRPr lang="en-US" sz="1600" dirty="0"/>
          </a:p>
        </p:txBody>
      </p:sp>
      <p:sp>
        <p:nvSpPr>
          <p:cNvPr id="16" name="Shape 14"/>
          <p:cNvSpPr/>
          <p:nvPr/>
        </p:nvSpPr>
        <p:spPr>
          <a:xfrm>
            <a:off x="4297680" y="3931920"/>
            <a:ext cx="3474720" cy="1965960"/>
          </a:xfrm>
          <a:prstGeom prst="roundRect">
            <a:avLst>
              <a:gd name="adj" fmla="val 5581"/>
            </a:avLst>
          </a:prstGeom>
          <a:solidFill>
            <a:srgbClr val="FEF3C7"/>
          </a:solidFill>
          <a:ln w="12700">
            <a:solidFill>
              <a:srgbClr val="FEF3C7"/>
            </a:solidFill>
            <a:prstDash val="solid"/>
          </a:ln>
        </p:spPr>
      </p:sp>
      <p:sp>
        <p:nvSpPr>
          <p:cNvPr id="17" name="Text 15"/>
          <p:cNvSpPr txBox="1"/>
          <p:nvPr/>
        </p:nvSpPr>
        <p:spPr>
          <a:xfrm>
            <a:off x="457200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91%</a:t>
            </a:r>
            <a:endParaRPr lang="en-US" sz="6000" dirty="0"/>
          </a:p>
        </p:txBody>
      </p:sp>
      <p:sp>
        <p:nvSpPr>
          <p:cNvPr id="18" name="Text 16"/>
          <p:cNvSpPr txBox="1"/>
          <p:nvPr/>
        </p:nvSpPr>
        <p:spPr>
          <a:xfrm>
            <a:off x="457200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service test coverage</a:t>
            </a:r>
            <a:endParaRPr lang="en-US" sz="1600" dirty="0"/>
          </a:p>
        </p:txBody>
      </p:sp>
      <p:sp>
        <p:nvSpPr>
          <p:cNvPr id="19" name="Shape 17"/>
          <p:cNvSpPr/>
          <p:nvPr/>
        </p:nvSpPr>
        <p:spPr>
          <a:xfrm>
            <a:off x="8046720" y="3931920"/>
            <a:ext cx="3474720" cy="1965960"/>
          </a:xfrm>
          <a:prstGeom prst="roundRect">
            <a:avLst>
              <a:gd name="adj" fmla="val 5581"/>
            </a:avLst>
          </a:prstGeom>
          <a:solidFill>
            <a:srgbClr val="FEF3C7"/>
          </a:solidFill>
          <a:ln w="12700">
            <a:solidFill>
              <a:srgbClr val="FEF3C7"/>
            </a:solidFill>
            <a:prstDash val="solid"/>
          </a:ln>
        </p:spPr>
      </p:sp>
      <p:sp>
        <p:nvSpPr>
          <p:cNvPr id="20" name="Text 18"/>
          <p:cNvSpPr txBox="1"/>
          <p:nvPr/>
        </p:nvSpPr>
        <p:spPr>
          <a:xfrm>
            <a:off x="832104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60+</a:t>
            </a:r>
            <a:endParaRPr lang="en-US" sz="6000" dirty="0"/>
          </a:p>
        </p:txBody>
      </p:sp>
      <p:sp>
        <p:nvSpPr>
          <p:cNvPr id="21" name="Text 19"/>
          <p:cNvSpPr txBox="1"/>
          <p:nvPr/>
        </p:nvSpPr>
        <p:spPr>
          <a:xfrm>
            <a:off x="832104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Git commits</a:t>
            </a:r>
            <a:endParaRPr lang="en-US" sz="1600" dirty="0"/>
          </a:p>
        </p:txBody>
      </p:sp>
      <p:sp>
        <p:nvSpPr>
          <p:cNvPr id="22"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Technologies used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Current, industry-standard tools</a:t>
            </a:r>
            <a:endParaRPr lang="en-US" sz="1600" dirty="0"/>
          </a:p>
        </p:txBody>
      </p:sp>
      <p:sp>
        <p:nvSpPr>
          <p:cNvPr id="4" name="Shape 2"/>
          <p:cNvSpPr/>
          <p:nvPr/>
        </p:nvSpPr>
        <p:spPr>
          <a:xfrm>
            <a:off x="548640" y="1645920"/>
            <a:ext cx="2606040" cy="3977640"/>
          </a:xfrm>
          <a:prstGeom prst="roundRect">
            <a:avLst>
              <a:gd name="adj" fmla="val 4211"/>
            </a:avLst>
          </a:prstGeom>
          <a:solidFill>
            <a:srgbClr val="EEF2FF"/>
          </a:solidFill>
          <a:ln w="12700">
            <a:solidFill>
              <a:srgbClr val="EEF2FF"/>
            </a:solidFill>
            <a:prstDash val="solid"/>
          </a:ln>
        </p:spPr>
      </p:sp>
      <p:sp>
        <p:nvSpPr>
          <p:cNvPr id="5" name="Shape 3"/>
          <p:cNvSpPr/>
          <p:nvPr/>
        </p:nvSpPr>
        <p:spPr>
          <a:xfrm>
            <a:off x="777240" y="1874520"/>
            <a:ext cx="566928" cy="566928"/>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13303" y="2010583"/>
            <a:ext cx="294803" cy="294803"/>
          </a:xfrm>
          <a:prstGeom prst="rect">
            <a:avLst/>
          </a:prstGeom>
        </p:spPr>
      </p:pic>
      <p:sp>
        <p:nvSpPr>
          <p:cNvPr id="7" name="Text 4"/>
          <p:cNvSpPr txBox="1"/>
          <p:nvPr/>
        </p:nvSpPr>
        <p:spPr>
          <a:xfrm>
            <a:off x="146304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Frontend</a:t>
            </a:r>
            <a:endParaRPr lang="en-US" sz="1700" dirty="0"/>
          </a:p>
        </p:txBody>
      </p:sp>
      <p:sp>
        <p:nvSpPr>
          <p:cNvPr id="8" name="Text 5"/>
          <p:cNvSpPr txBox="1"/>
          <p:nvPr/>
        </p:nvSpPr>
        <p:spPr>
          <a:xfrm>
            <a:off x="77724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React 19 + Vite 8</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Tailwind CSS 4 (dark mode)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Redux Toolkit</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React Router 7</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Recharts (charts)</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html5-qrcode (camera)</a:t>
            </a:r>
            <a:endParaRPr lang="en-US" sz="1400" dirty="0"/>
          </a:p>
        </p:txBody>
      </p:sp>
      <p:sp>
        <p:nvSpPr>
          <p:cNvPr id="9" name="Shape 6"/>
          <p:cNvSpPr/>
          <p:nvPr/>
        </p:nvSpPr>
        <p:spPr>
          <a:xfrm>
            <a:off x="3383280" y="1645920"/>
            <a:ext cx="2606040" cy="3977640"/>
          </a:xfrm>
          <a:prstGeom prst="roundRect">
            <a:avLst>
              <a:gd name="adj" fmla="val 4211"/>
            </a:avLst>
          </a:prstGeom>
          <a:solidFill>
            <a:srgbClr val="EEF2FF"/>
          </a:solidFill>
          <a:ln w="12700">
            <a:solidFill>
              <a:srgbClr val="EEF2FF"/>
            </a:solidFill>
            <a:prstDash val="solid"/>
          </a:ln>
        </p:spPr>
      </p:sp>
      <p:sp>
        <p:nvSpPr>
          <p:cNvPr id="10" name="Shape 7"/>
          <p:cNvSpPr/>
          <p:nvPr/>
        </p:nvSpPr>
        <p:spPr>
          <a:xfrm>
            <a:off x="3611880" y="1874520"/>
            <a:ext cx="566928" cy="566928"/>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747943" y="2010583"/>
            <a:ext cx="294803" cy="294803"/>
          </a:xfrm>
          <a:prstGeom prst="rect">
            <a:avLst/>
          </a:prstGeom>
        </p:spPr>
      </p:pic>
      <p:sp>
        <p:nvSpPr>
          <p:cNvPr id="12" name="Text 8"/>
          <p:cNvSpPr txBox="1"/>
          <p:nvPr/>
        </p:nvSpPr>
        <p:spPr>
          <a:xfrm>
            <a:off x="429768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Backend</a:t>
            </a:r>
            <a:endParaRPr lang="en-US" sz="1700" dirty="0"/>
          </a:p>
        </p:txBody>
      </p:sp>
      <p:sp>
        <p:nvSpPr>
          <p:cNvPr id="13" name="Text 9"/>
          <p:cNvSpPr txBox="1"/>
          <p:nvPr/>
        </p:nvSpPr>
        <p:spPr>
          <a:xfrm>
            <a:off x="361188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Java 25, Spring Boot 4.1</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Spring Security + JWT</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Spring Data JPA / Hibernate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Flyway migrations</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ZXing (QR), OpenPDF</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Caffeine cache, Spring Mail</a:t>
            </a:r>
            <a:endParaRPr lang="en-US" sz="1400" dirty="0"/>
          </a:p>
        </p:txBody>
      </p:sp>
      <p:sp>
        <p:nvSpPr>
          <p:cNvPr id="14" name="Shape 10"/>
          <p:cNvSpPr/>
          <p:nvPr/>
        </p:nvSpPr>
        <p:spPr>
          <a:xfrm>
            <a:off x="6217920" y="1645920"/>
            <a:ext cx="2606040" cy="3977640"/>
          </a:xfrm>
          <a:prstGeom prst="roundRect">
            <a:avLst>
              <a:gd name="adj" fmla="val 4211"/>
            </a:avLst>
          </a:prstGeom>
          <a:solidFill>
            <a:srgbClr val="EEF2FF"/>
          </a:solidFill>
          <a:ln w="12700">
            <a:solidFill>
              <a:srgbClr val="EEF2FF"/>
            </a:solidFill>
            <a:prstDash val="solid"/>
          </a:ln>
        </p:spPr>
      </p:sp>
      <p:sp>
        <p:nvSpPr>
          <p:cNvPr id="15" name="Shape 11"/>
          <p:cNvSpPr/>
          <p:nvPr/>
        </p:nvSpPr>
        <p:spPr>
          <a:xfrm>
            <a:off x="6446520" y="1874520"/>
            <a:ext cx="566928" cy="566928"/>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6582583" y="2010583"/>
            <a:ext cx="294803" cy="294803"/>
          </a:xfrm>
          <a:prstGeom prst="rect">
            <a:avLst/>
          </a:prstGeom>
        </p:spPr>
      </p:pic>
      <p:sp>
        <p:nvSpPr>
          <p:cNvPr id="17" name="Text 12"/>
          <p:cNvSpPr txBox="1"/>
          <p:nvPr/>
        </p:nvSpPr>
        <p:spPr>
          <a:xfrm>
            <a:off x="713232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Data &amp; services</a:t>
            </a:r>
            <a:endParaRPr lang="en-US" sz="1700" dirty="0"/>
          </a:p>
        </p:txBody>
      </p:sp>
      <p:sp>
        <p:nvSpPr>
          <p:cNvPr id="18" name="Text 13"/>
          <p:cNvSpPr txBox="1"/>
          <p:nvPr/>
        </p:nvSpPr>
        <p:spPr>
          <a:xfrm>
            <a:off x="644652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MySQL 8.4</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Docker Compose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Mailpit (test email)</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Stripe Checkout (test mode)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Swagger / OpenAPI docs</a:t>
            </a:r>
            <a:endParaRPr lang="en-US" sz="1400" dirty="0"/>
          </a:p>
        </p:txBody>
      </p:sp>
      <p:sp>
        <p:nvSpPr>
          <p:cNvPr id="19" name="Shape 14"/>
          <p:cNvSpPr/>
          <p:nvPr/>
        </p:nvSpPr>
        <p:spPr>
          <a:xfrm>
            <a:off x="9052560" y="1645920"/>
            <a:ext cx="2606040" cy="3977640"/>
          </a:xfrm>
          <a:prstGeom prst="roundRect">
            <a:avLst>
              <a:gd name="adj" fmla="val 4211"/>
            </a:avLst>
          </a:prstGeom>
          <a:solidFill>
            <a:srgbClr val="EEF2FF"/>
          </a:solidFill>
          <a:ln w="12700">
            <a:solidFill>
              <a:srgbClr val="EEF2FF"/>
            </a:solidFill>
            <a:prstDash val="solid"/>
          </a:ln>
        </p:spPr>
      </p:sp>
      <p:sp>
        <p:nvSpPr>
          <p:cNvPr id="20" name="Shape 15"/>
          <p:cNvSpPr/>
          <p:nvPr/>
        </p:nvSpPr>
        <p:spPr>
          <a:xfrm>
            <a:off x="9281160" y="1874520"/>
            <a:ext cx="566928" cy="566928"/>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9417223" y="2010583"/>
            <a:ext cx="294803" cy="294803"/>
          </a:xfrm>
          <a:prstGeom prst="rect">
            <a:avLst/>
          </a:prstGeom>
        </p:spPr>
      </p:pic>
      <p:sp>
        <p:nvSpPr>
          <p:cNvPr id="22" name="Text 16"/>
          <p:cNvSpPr txBox="1"/>
          <p:nvPr/>
        </p:nvSpPr>
        <p:spPr>
          <a:xfrm>
            <a:off x="996696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Quality &amp; tools</a:t>
            </a:r>
            <a:endParaRPr lang="en-US" sz="1700" dirty="0"/>
          </a:p>
        </p:txBody>
      </p:sp>
      <p:sp>
        <p:nvSpPr>
          <p:cNvPr id="23" name="Text 17"/>
          <p:cNvSpPr txBox="1"/>
          <p:nvPr/>
        </p:nvSpPr>
        <p:spPr>
          <a:xfrm>
            <a:off x="928116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JUnit 5 + Mockito</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Testcontainers (real MySQL)</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JaCoCo coverage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Vitest + Testing Library</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GitHub Actions CI</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Postman, IntelliJ, Git</a:t>
            </a:r>
            <a:endParaRPr lang="en-US" sz="1400" dirty="0"/>
          </a:p>
        </p:txBody>
      </p:sp>
      <p:sp>
        <p:nvSpPr>
          <p:cNvPr id="24" name="Text 1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Architecture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A single-page React app talks to a layered Spring Boot API</a:t>
            </a:r>
            <a:endParaRPr lang="en-US" sz="1600" dirty="0"/>
          </a:p>
        </p:txBody>
      </p:sp>
      <p:sp>
        <p:nvSpPr>
          <p:cNvPr id="4" name="Shape 2"/>
          <p:cNvSpPr/>
          <p:nvPr/>
        </p:nvSpPr>
        <p:spPr>
          <a:xfrm>
            <a:off x="548640" y="2743200"/>
            <a:ext cx="2377440" cy="1463040"/>
          </a:xfrm>
          <a:prstGeom prst="roundRect">
            <a:avLst>
              <a:gd name="adj" fmla="val 6250"/>
            </a:avLst>
          </a:prstGeom>
          <a:solidFill>
            <a:srgbClr val="EEF2FF"/>
          </a:solidFill>
          <a:ln w="12700">
            <a:solidFill>
              <a:srgbClr val="4F46E5"/>
            </a:solidFill>
            <a:prstDash val="solid"/>
          </a:ln>
        </p:spPr>
      </p:sp>
      <p:sp>
        <p:nvSpPr>
          <p:cNvPr id="5" name="Text 3"/>
          <p:cNvSpPr txBox="1"/>
          <p:nvPr/>
        </p:nvSpPr>
        <p:spPr>
          <a:xfrm>
            <a:off x="548640" y="2743200"/>
            <a:ext cx="2377440" cy="146304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Browser</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React 19 app</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Redux store · Axios</a:t>
            </a:r>
            <a:endParaRPr lang="en-US" sz="1500" dirty="0"/>
          </a:p>
        </p:txBody>
      </p:sp>
      <p:sp>
        <p:nvSpPr>
          <p:cNvPr id="6" name="Shape 4"/>
          <p:cNvSpPr/>
          <p:nvPr/>
        </p:nvSpPr>
        <p:spPr>
          <a:xfrm>
            <a:off x="2971800" y="3474720"/>
            <a:ext cx="868680" cy="0"/>
          </a:xfrm>
          <a:prstGeom prst="line">
            <a:avLst/>
          </a:prstGeom>
          <a:noFill/>
          <a:ln w="19050">
            <a:solidFill>
              <a:srgbClr val="6B7280"/>
            </a:solidFill>
            <a:prstDash val="solid"/>
            <a:tailEnd type="triangle"/>
          </a:ln>
        </p:spPr>
      </p:sp>
      <p:sp>
        <p:nvSpPr>
          <p:cNvPr id="7" name="Text 5"/>
          <p:cNvSpPr txBox="1"/>
          <p:nvPr/>
        </p:nvSpPr>
        <p:spPr>
          <a:xfrm>
            <a:off x="548640" y="4297680"/>
            <a:ext cx="2377440"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JSON over HTTP · JWT cookie + CSRF token</a:t>
            </a:r>
            <a:endParaRPr lang="en-US" sz="1050" dirty="0"/>
          </a:p>
        </p:txBody>
      </p:sp>
      <p:sp>
        <p:nvSpPr>
          <p:cNvPr id="8" name="Shape 6"/>
          <p:cNvSpPr/>
          <p:nvPr/>
        </p:nvSpPr>
        <p:spPr>
          <a:xfrm>
            <a:off x="3886200" y="1600200"/>
            <a:ext cx="4480560" cy="4434840"/>
          </a:xfrm>
          <a:prstGeom prst="roundRect">
            <a:avLst>
              <a:gd name="adj" fmla="val 2474"/>
            </a:avLst>
          </a:prstGeom>
          <a:solidFill>
            <a:srgbClr val="FFFFFF"/>
          </a:solidFill>
          <a:ln w="19050">
            <a:solidFill>
              <a:srgbClr val="1E1B4B"/>
            </a:solidFill>
            <a:prstDash val="dash"/>
          </a:ln>
        </p:spPr>
      </p:sp>
      <p:sp>
        <p:nvSpPr>
          <p:cNvPr id="9" name="Text 7"/>
          <p:cNvSpPr txBox="1"/>
          <p:nvPr/>
        </p:nvSpPr>
        <p:spPr>
          <a:xfrm>
            <a:off x="3886200" y="1664208"/>
            <a:ext cx="4480560" cy="365760"/>
          </a:xfrm>
          <a:prstGeom prst="rect">
            <a:avLst/>
          </a:prstGeom>
          <a:noFill/>
          <a:ln/>
        </p:spPr>
        <p:txBody>
          <a:bodyPr wrap="square" lIns="0" tIns="0" rIns="0" bIns="0" rtlCol="0" anchor="ctr"/>
          <a:lstStyle/>
          <a:p>
            <a:pPr algn="ctr" indent="0" marL="0">
              <a:buNone/>
            </a:pPr>
            <a:r>
              <a:rPr lang="en-US" sz="1400" b="1" dirty="0">
                <a:solidFill>
                  <a:srgbClr val="1E1B4B"/>
                </a:solidFill>
                <a:latin typeface="Arial" pitchFamily="34" charset="0"/>
                <a:ea typeface="Arial" pitchFamily="34" charset="-122"/>
                <a:cs typeface="Arial" pitchFamily="34" charset="-120"/>
              </a:rPr>
              <a:t>Spring Boot API (port 8080)</a:t>
            </a:r>
            <a:endParaRPr lang="en-US" sz="1400" dirty="0"/>
          </a:p>
        </p:txBody>
      </p:sp>
      <p:sp>
        <p:nvSpPr>
          <p:cNvPr id="10" name="Shape 8"/>
          <p:cNvSpPr/>
          <p:nvPr/>
        </p:nvSpPr>
        <p:spPr>
          <a:xfrm>
            <a:off x="4160520" y="2103120"/>
            <a:ext cx="3931920" cy="685800"/>
          </a:xfrm>
          <a:prstGeom prst="roundRect">
            <a:avLst>
              <a:gd name="adj" fmla="val 13333"/>
            </a:avLst>
          </a:prstGeom>
          <a:solidFill>
            <a:srgbClr val="FEF3C7"/>
          </a:solidFill>
          <a:ln w="12700">
            <a:solidFill>
              <a:srgbClr val="F59E0B"/>
            </a:solidFill>
            <a:prstDash val="solid"/>
          </a:ln>
        </p:spPr>
      </p:sp>
      <p:sp>
        <p:nvSpPr>
          <p:cNvPr id="11" name="Text 9"/>
          <p:cNvSpPr txBox="1"/>
          <p:nvPr/>
        </p:nvSpPr>
        <p:spPr>
          <a:xfrm>
            <a:off x="4160520" y="210312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Security filters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JWT cookie reader · CSRF · role rules</a:t>
            </a:r>
            <a:endParaRPr lang="en-US" sz="1500" dirty="0"/>
          </a:p>
        </p:txBody>
      </p:sp>
      <p:sp>
        <p:nvSpPr>
          <p:cNvPr id="12" name="Shape 10"/>
          <p:cNvSpPr/>
          <p:nvPr/>
        </p:nvSpPr>
        <p:spPr>
          <a:xfrm>
            <a:off x="4160520" y="2971800"/>
            <a:ext cx="3931920" cy="685800"/>
          </a:xfrm>
          <a:prstGeom prst="roundRect">
            <a:avLst>
              <a:gd name="adj" fmla="val 13333"/>
            </a:avLst>
          </a:prstGeom>
          <a:solidFill>
            <a:srgbClr val="EEF2FF"/>
          </a:solidFill>
          <a:ln w="12700">
            <a:solidFill>
              <a:srgbClr val="4F46E5"/>
            </a:solidFill>
            <a:prstDash val="solid"/>
          </a:ln>
        </p:spPr>
      </p:sp>
      <p:sp>
        <p:nvSpPr>
          <p:cNvPr id="13" name="Text 11"/>
          <p:cNvSpPr txBox="1"/>
          <p:nvPr/>
        </p:nvSpPr>
        <p:spPr>
          <a:xfrm>
            <a:off x="4160520" y="297180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Controllers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50 REST endpoints · validation</a:t>
            </a:r>
            <a:endParaRPr lang="en-US" sz="1500" dirty="0"/>
          </a:p>
        </p:txBody>
      </p:sp>
      <p:sp>
        <p:nvSpPr>
          <p:cNvPr id="14" name="Shape 12"/>
          <p:cNvSpPr/>
          <p:nvPr/>
        </p:nvSpPr>
        <p:spPr>
          <a:xfrm>
            <a:off x="4160520" y="3840480"/>
            <a:ext cx="3931920" cy="685800"/>
          </a:xfrm>
          <a:prstGeom prst="roundRect">
            <a:avLst>
              <a:gd name="adj" fmla="val 13333"/>
            </a:avLst>
          </a:prstGeom>
          <a:solidFill>
            <a:srgbClr val="EEF2FF"/>
          </a:solidFill>
          <a:ln w="12700">
            <a:solidFill>
              <a:srgbClr val="4F46E5"/>
            </a:solidFill>
            <a:prstDash val="solid"/>
          </a:ln>
        </p:spPr>
      </p:sp>
      <p:sp>
        <p:nvSpPr>
          <p:cNvPr id="15" name="Text 13"/>
          <p:cNvSpPr txBox="1"/>
          <p:nvPr/>
        </p:nvSpPr>
        <p:spPr>
          <a:xfrm>
            <a:off x="4160520" y="384048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Services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business rules · transactions · events</a:t>
            </a:r>
            <a:endParaRPr lang="en-US" sz="1500" dirty="0"/>
          </a:p>
        </p:txBody>
      </p:sp>
      <p:sp>
        <p:nvSpPr>
          <p:cNvPr id="16" name="Shape 14"/>
          <p:cNvSpPr/>
          <p:nvPr/>
        </p:nvSpPr>
        <p:spPr>
          <a:xfrm>
            <a:off x="4160520" y="4709160"/>
            <a:ext cx="3931920" cy="685800"/>
          </a:xfrm>
          <a:prstGeom prst="roundRect">
            <a:avLst>
              <a:gd name="adj" fmla="val 13333"/>
            </a:avLst>
          </a:prstGeom>
          <a:solidFill>
            <a:srgbClr val="EEF2FF"/>
          </a:solidFill>
          <a:ln w="12700">
            <a:solidFill>
              <a:srgbClr val="4F46E5"/>
            </a:solidFill>
            <a:prstDash val="solid"/>
          </a:ln>
        </p:spPr>
      </p:sp>
      <p:sp>
        <p:nvSpPr>
          <p:cNvPr id="17" name="Text 15"/>
          <p:cNvSpPr txBox="1"/>
          <p:nvPr/>
        </p:nvSpPr>
        <p:spPr>
          <a:xfrm>
            <a:off x="4160520" y="470916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Repositories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Spring Data JPA · Hibernate</a:t>
            </a:r>
            <a:endParaRPr lang="en-US" sz="1500" dirty="0"/>
          </a:p>
        </p:txBody>
      </p:sp>
      <p:sp>
        <p:nvSpPr>
          <p:cNvPr id="18" name="Shape 16"/>
          <p:cNvSpPr/>
          <p:nvPr/>
        </p:nvSpPr>
        <p:spPr>
          <a:xfrm>
            <a:off x="6126480" y="2788920"/>
            <a:ext cx="0" cy="182880"/>
          </a:xfrm>
          <a:prstGeom prst="line">
            <a:avLst/>
          </a:prstGeom>
          <a:noFill/>
          <a:ln w="19050">
            <a:solidFill>
              <a:srgbClr val="6B7280"/>
            </a:solidFill>
            <a:prstDash val="solid"/>
            <a:tailEnd type="triangle"/>
          </a:ln>
        </p:spPr>
      </p:sp>
      <p:sp>
        <p:nvSpPr>
          <p:cNvPr id="19" name="Shape 17"/>
          <p:cNvSpPr/>
          <p:nvPr/>
        </p:nvSpPr>
        <p:spPr>
          <a:xfrm>
            <a:off x="6126480" y="3657600"/>
            <a:ext cx="0" cy="182880"/>
          </a:xfrm>
          <a:prstGeom prst="line">
            <a:avLst/>
          </a:prstGeom>
          <a:noFill/>
          <a:ln w="19050">
            <a:solidFill>
              <a:srgbClr val="6B7280"/>
            </a:solidFill>
            <a:prstDash val="solid"/>
            <a:tailEnd type="triangle"/>
          </a:ln>
        </p:spPr>
      </p:sp>
      <p:sp>
        <p:nvSpPr>
          <p:cNvPr id="20" name="Shape 18"/>
          <p:cNvSpPr/>
          <p:nvPr/>
        </p:nvSpPr>
        <p:spPr>
          <a:xfrm>
            <a:off x="6126480" y="4526280"/>
            <a:ext cx="0" cy="182880"/>
          </a:xfrm>
          <a:prstGeom prst="line">
            <a:avLst/>
          </a:prstGeom>
          <a:noFill/>
          <a:ln w="19050">
            <a:solidFill>
              <a:srgbClr val="6B7280"/>
            </a:solidFill>
            <a:prstDash val="solid"/>
            <a:tailEnd type="triangle"/>
          </a:ln>
        </p:spPr>
      </p:sp>
      <p:sp>
        <p:nvSpPr>
          <p:cNvPr id="21" name="Shape 19"/>
          <p:cNvSpPr/>
          <p:nvPr/>
        </p:nvSpPr>
        <p:spPr>
          <a:xfrm>
            <a:off x="9235440" y="4526280"/>
            <a:ext cx="2377440" cy="1051560"/>
          </a:xfrm>
          <a:prstGeom prst="roundRect">
            <a:avLst>
              <a:gd name="adj" fmla="val 8696"/>
            </a:avLst>
          </a:prstGeom>
          <a:solidFill>
            <a:srgbClr val="1E1B4B"/>
          </a:solidFill>
          <a:ln w="12700">
            <a:solidFill>
              <a:srgbClr val="1E1B4B"/>
            </a:solidFill>
            <a:prstDash val="solid"/>
          </a:ln>
        </p:spPr>
      </p:sp>
      <p:sp>
        <p:nvSpPr>
          <p:cNvPr id="22" name="Text 20"/>
          <p:cNvSpPr txBox="1"/>
          <p:nvPr/>
        </p:nvSpPr>
        <p:spPr>
          <a:xfrm>
            <a:off x="9235440" y="4526280"/>
            <a:ext cx="2377440" cy="1051560"/>
          </a:xfrm>
          <a:prstGeom prst="rect">
            <a:avLst/>
          </a:prstGeom>
          <a:noFill/>
          <a:ln/>
        </p:spPr>
        <p:txBody>
          <a:bodyPr wrap="square" lIns="50800" tIns="50800" rIns="508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MySQL 8.4</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17 tables · Flyway V1-V9</a:t>
            </a:r>
            <a:endParaRPr lang="en-US" sz="1500" dirty="0"/>
          </a:p>
        </p:txBody>
      </p:sp>
      <p:sp>
        <p:nvSpPr>
          <p:cNvPr id="23" name="Shape 21"/>
          <p:cNvSpPr/>
          <p:nvPr/>
        </p:nvSpPr>
        <p:spPr>
          <a:xfrm>
            <a:off x="8092440" y="5029200"/>
            <a:ext cx="1097280" cy="0"/>
          </a:xfrm>
          <a:prstGeom prst="line">
            <a:avLst/>
          </a:prstGeom>
          <a:noFill/>
          <a:ln w="19050">
            <a:solidFill>
              <a:srgbClr val="6B7280"/>
            </a:solidFill>
            <a:prstDash val="solid"/>
            <a:tailEnd type="triangle"/>
          </a:ln>
        </p:spPr>
      </p:sp>
      <p:sp>
        <p:nvSpPr>
          <p:cNvPr id="24" name="Shape 22"/>
          <p:cNvSpPr/>
          <p:nvPr/>
        </p:nvSpPr>
        <p:spPr>
          <a:xfrm>
            <a:off x="9235440" y="1737360"/>
            <a:ext cx="2377440" cy="868680"/>
          </a:xfrm>
          <a:prstGeom prst="roundRect">
            <a:avLst>
              <a:gd name="adj" fmla="val 10526"/>
            </a:avLst>
          </a:prstGeom>
          <a:solidFill>
            <a:srgbClr val="EEF2FF"/>
          </a:solidFill>
          <a:ln w="12700">
            <a:solidFill>
              <a:srgbClr val="4F46E5"/>
            </a:solidFill>
            <a:prstDash val="solid"/>
          </a:ln>
        </p:spPr>
      </p:sp>
      <p:sp>
        <p:nvSpPr>
          <p:cNvPr id="25" name="Text 23"/>
          <p:cNvSpPr txBox="1"/>
          <p:nvPr/>
        </p:nvSpPr>
        <p:spPr>
          <a:xfrm>
            <a:off x="9235440" y="1737360"/>
            <a:ext cx="2377440" cy="86868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Stripe</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checkout + webhook</a:t>
            </a:r>
            <a:endParaRPr lang="en-US" sz="1500" dirty="0"/>
          </a:p>
        </p:txBody>
      </p:sp>
      <p:sp>
        <p:nvSpPr>
          <p:cNvPr id="26" name="Shape 24"/>
          <p:cNvSpPr/>
          <p:nvPr/>
        </p:nvSpPr>
        <p:spPr>
          <a:xfrm>
            <a:off x="9235440" y="2834640"/>
            <a:ext cx="2377440" cy="868680"/>
          </a:xfrm>
          <a:prstGeom prst="roundRect">
            <a:avLst>
              <a:gd name="adj" fmla="val 10526"/>
            </a:avLst>
          </a:prstGeom>
          <a:solidFill>
            <a:srgbClr val="EEF2FF"/>
          </a:solidFill>
          <a:ln w="12700">
            <a:solidFill>
              <a:srgbClr val="4F46E5"/>
            </a:solidFill>
            <a:prstDash val="solid"/>
          </a:ln>
        </p:spPr>
      </p:sp>
      <p:sp>
        <p:nvSpPr>
          <p:cNvPr id="27" name="Text 25"/>
          <p:cNvSpPr txBox="1"/>
          <p:nvPr/>
        </p:nvSpPr>
        <p:spPr>
          <a:xfrm>
            <a:off x="9235440" y="2834640"/>
            <a:ext cx="2377440" cy="86868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Mail server</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Mailpit in development</a:t>
            </a:r>
            <a:endParaRPr lang="en-US" sz="1500" dirty="0"/>
          </a:p>
        </p:txBody>
      </p:sp>
      <p:sp>
        <p:nvSpPr>
          <p:cNvPr id="28" name="Shape 26"/>
          <p:cNvSpPr/>
          <p:nvPr/>
        </p:nvSpPr>
        <p:spPr>
          <a:xfrm>
            <a:off x="8092440" y="2194560"/>
            <a:ext cx="1097280" cy="0"/>
          </a:xfrm>
          <a:prstGeom prst="line">
            <a:avLst/>
          </a:prstGeom>
          <a:noFill/>
          <a:ln w="19050">
            <a:solidFill>
              <a:srgbClr val="6B7280"/>
            </a:solidFill>
            <a:prstDash val="solid"/>
            <a:tailEnd type="triangle"/>
          </a:ln>
        </p:spPr>
      </p:sp>
      <p:sp>
        <p:nvSpPr>
          <p:cNvPr id="29" name="Shape 27"/>
          <p:cNvSpPr/>
          <p:nvPr/>
        </p:nvSpPr>
        <p:spPr>
          <a:xfrm>
            <a:off x="8092440" y="3246120"/>
            <a:ext cx="1097280" cy="0"/>
          </a:xfrm>
          <a:prstGeom prst="line">
            <a:avLst/>
          </a:prstGeom>
          <a:noFill/>
          <a:ln w="19050">
            <a:solidFill>
              <a:srgbClr val="6B7280"/>
            </a:solidFill>
            <a:prstDash val="solid"/>
            <a:tailEnd type="triangle"/>
          </a:ln>
        </p:spPr>
      </p:sp>
      <p:sp>
        <p:nvSpPr>
          <p:cNvPr id="30" name="Shape 28"/>
          <p:cNvSpPr/>
          <p:nvPr/>
        </p:nvSpPr>
        <p:spPr>
          <a:xfrm>
            <a:off x="548640" y="5074920"/>
            <a:ext cx="2377440" cy="822960"/>
          </a:xfrm>
          <a:prstGeom prst="roundRect">
            <a:avLst>
              <a:gd name="adj" fmla="val 11111"/>
            </a:avLst>
          </a:prstGeom>
          <a:solidFill>
            <a:srgbClr val="FEF3C7"/>
          </a:solidFill>
          <a:ln w="12700">
            <a:solidFill>
              <a:srgbClr val="F59E0B"/>
            </a:solidFill>
            <a:prstDash val="solid"/>
          </a:ln>
        </p:spPr>
      </p:sp>
      <p:sp>
        <p:nvSpPr>
          <p:cNvPr id="31" name="Text 29"/>
          <p:cNvSpPr txBox="1"/>
          <p:nvPr/>
        </p:nvSpPr>
        <p:spPr>
          <a:xfrm>
            <a:off x="548640" y="5074920"/>
            <a:ext cx="2377440" cy="82296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GitHub Actions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tests on every push</a:t>
            </a:r>
            <a:endParaRPr lang="en-US" sz="1500" dirty="0"/>
          </a:p>
        </p:txBody>
      </p:sp>
      <p:sp>
        <p:nvSpPr>
          <p:cNvPr id="32" name="Text 3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Backend modules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One Java package per business area - easy to find and to test</a:t>
            </a:r>
            <a:endParaRPr lang="en-US" sz="1600" dirty="0"/>
          </a:p>
        </p:txBody>
      </p:sp>
      <p:sp>
        <p:nvSpPr>
          <p:cNvPr id="4" name="Shape 2"/>
          <p:cNvSpPr/>
          <p:nvPr/>
        </p:nvSpPr>
        <p:spPr>
          <a:xfrm>
            <a:off x="548640" y="1645920"/>
            <a:ext cx="3474720" cy="914400"/>
          </a:xfrm>
          <a:prstGeom prst="roundRect">
            <a:avLst>
              <a:gd name="adj" fmla="val 12000"/>
            </a:avLst>
          </a:prstGeom>
          <a:solidFill>
            <a:srgbClr val="EEF2FF"/>
          </a:solidFill>
          <a:ln w="12700">
            <a:solidFill>
              <a:srgbClr val="EEF2FF"/>
            </a:solidFill>
            <a:prstDash val="solid"/>
          </a:ln>
        </p:spPr>
      </p:sp>
      <p:sp>
        <p:nvSpPr>
          <p:cNvPr id="5" name="Text 3"/>
          <p:cNvSpPr txBox="1"/>
          <p:nvPr/>
        </p:nvSpPr>
        <p:spPr>
          <a:xfrm>
            <a:off x="77724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event</a:t>
            </a:r>
            <a:endParaRPr lang="en-US" sz="1500" dirty="0"/>
          </a:p>
        </p:txBody>
      </p:sp>
      <p:sp>
        <p:nvSpPr>
          <p:cNvPr id="6" name="Text 4"/>
          <p:cNvSpPr txBox="1"/>
          <p:nvPr/>
        </p:nvSpPr>
        <p:spPr>
          <a:xfrm>
            <a:off x="77724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Create, edit, search, approval workflow</a:t>
            </a:r>
            <a:endParaRPr lang="en-US" sz="1300" dirty="0"/>
          </a:p>
        </p:txBody>
      </p:sp>
      <p:sp>
        <p:nvSpPr>
          <p:cNvPr id="7" name="Shape 5"/>
          <p:cNvSpPr/>
          <p:nvPr/>
        </p:nvSpPr>
        <p:spPr>
          <a:xfrm>
            <a:off x="4297680" y="1645920"/>
            <a:ext cx="3474720" cy="914400"/>
          </a:xfrm>
          <a:prstGeom prst="roundRect">
            <a:avLst>
              <a:gd name="adj" fmla="val 12000"/>
            </a:avLst>
          </a:prstGeom>
          <a:solidFill>
            <a:srgbClr val="EEF2FF"/>
          </a:solidFill>
          <a:ln w="12700">
            <a:solidFill>
              <a:srgbClr val="EEF2FF"/>
            </a:solidFill>
            <a:prstDash val="solid"/>
          </a:ln>
        </p:spPr>
      </p:sp>
      <p:sp>
        <p:nvSpPr>
          <p:cNvPr id="8" name="Text 6"/>
          <p:cNvSpPr txBox="1"/>
          <p:nvPr/>
        </p:nvSpPr>
        <p:spPr>
          <a:xfrm>
            <a:off x="452628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booking</a:t>
            </a:r>
            <a:endParaRPr lang="en-US" sz="1500" dirty="0"/>
          </a:p>
        </p:txBody>
      </p:sp>
      <p:sp>
        <p:nvSpPr>
          <p:cNvPr id="9" name="Text 7"/>
          <p:cNvSpPr txBox="1"/>
          <p:nvPr/>
        </p:nvSpPr>
        <p:spPr>
          <a:xfrm>
            <a:off x="452628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Seat holds, confirm, cancel, expiry job</a:t>
            </a:r>
            <a:endParaRPr lang="en-US" sz="1300" dirty="0"/>
          </a:p>
        </p:txBody>
      </p:sp>
      <p:sp>
        <p:nvSpPr>
          <p:cNvPr id="10" name="Shape 8"/>
          <p:cNvSpPr/>
          <p:nvPr/>
        </p:nvSpPr>
        <p:spPr>
          <a:xfrm>
            <a:off x="8046720" y="1645920"/>
            <a:ext cx="3474720" cy="914400"/>
          </a:xfrm>
          <a:prstGeom prst="roundRect">
            <a:avLst>
              <a:gd name="adj" fmla="val 12000"/>
            </a:avLst>
          </a:prstGeom>
          <a:solidFill>
            <a:srgbClr val="EEF2FF"/>
          </a:solidFill>
          <a:ln w="12700">
            <a:solidFill>
              <a:srgbClr val="EEF2FF"/>
            </a:solidFill>
            <a:prstDash val="solid"/>
          </a:ln>
        </p:spPr>
      </p:sp>
      <p:sp>
        <p:nvSpPr>
          <p:cNvPr id="11" name="Text 9"/>
          <p:cNvSpPr txBox="1"/>
          <p:nvPr/>
        </p:nvSpPr>
        <p:spPr>
          <a:xfrm>
            <a:off x="827532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payment</a:t>
            </a:r>
            <a:endParaRPr lang="en-US" sz="1500" dirty="0"/>
          </a:p>
        </p:txBody>
      </p:sp>
      <p:sp>
        <p:nvSpPr>
          <p:cNvPr id="12" name="Text 10"/>
          <p:cNvSpPr txBox="1"/>
          <p:nvPr/>
        </p:nvSpPr>
        <p:spPr>
          <a:xfrm>
            <a:off x="827532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Stripe or test gateway, webhooks, refunds</a:t>
            </a:r>
            <a:endParaRPr lang="en-US" sz="1300" dirty="0"/>
          </a:p>
        </p:txBody>
      </p:sp>
      <p:sp>
        <p:nvSpPr>
          <p:cNvPr id="13" name="Shape 11"/>
          <p:cNvSpPr/>
          <p:nvPr/>
        </p:nvSpPr>
        <p:spPr>
          <a:xfrm>
            <a:off x="548640" y="2743200"/>
            <a:ext cx="3474720" cy="914400"/>
          </a:xfrm>
          <a:prstGeom prst="roundRect">
            <a:avLst>
              <a:gd name="adj" fmla="val 12000"/>
            </a:avLst>
          </a:prstGeom>
          <a:solidFill>
            <a:srgbClr val="FFFFFF"/>
          </a:solidFill>
          <a:ln w="12700">
            <a:solidFill>
              <a:srgbClr val="FFFFFF"/>
            </a:solidFill>
            <a:prstDash val="solid"/>
          </a:ln>
        </p:spPr>
      </p:sp>
      <p:sp>
        <p:nvSpPr>
          <p:cNvPr id="14" name="Shape 12"/>
          <p:cNvSpPr/>
          <p:nvPr/>
        </p:nvSpPr>
        <p:spPr>
          <a:xfrm>
            <a:off x="548640" y="2743200"/>
            <a:ext cx="3474720" cy="914400"/>
          </a:xfrm>
          <a:prstGeom prst="roundRect">
            <a:avLst>
              <a:gd name="adj" fmla="val 12000"/>
            </a:avLst>
          </a:prstGeom>
          <a:solidFill>
            <a:srgbClr val="FFFFFF"/>
          </a:solidFill>
          <a:ln w="12700">
            <a:solidFill>
              <a:srgbClr val="C7D2FE"/>
            </a:solidFill>
            <a:prstDash val="solid"/>
          </a:ln>
        </p:spPr>
      </p:sp>
      <p:sp>
        <p:nvSpPr>
          <p:cNvPr id="15" name="Text 13"/>
          <p:cNvSpPr txBox="1"/>
          <p:nvPr/>
        </p:nvSpPr>
        <p:spPr>
          <a:xfrm>
            <a:off x="77724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waitlist</a:t>
            </a:r>
            <a:endParaRPr lang="en-US" sz="1500" dirty="0"/>
          </a:p>
        </p:txBody>
      </p:sp>
      <p:sp>
        <p:nvSpPr>
          <p:cNvPr id="16" name="Text 14"/>
          <p:cNvSpPr txBox="1"/>
          <p:nvPr/>
        </p:nvSpPr>
        <p:spPr>
          <a:xfrm>
            <a:off x="77724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Queue, 30-minute seat offers</a:t>
            </a:r>
            <a:endParaRPr lang="en-US" sz="1300" dirty="0"/>
          </a:p>
        </p:txBody>
      </p:sp>
      <p:sp>
        <p:nvSpPr>
          <p:cNvPr id="17" name="Shape 15"/>
          <p:cNvSpPr/>
          <p:nvPr/>
        </p:nvSpPr>
        <p:spPr>
          <a:xfrm>
            <a:off x="4297680" y="2743200"/>
            <a:ext cx="3474720" cy="914400"/>
          </a:xfrm>
          <a:prstGeom prst="roundRect">
            <a:avLst>
              <a:gd name="adj" fmla="val 12000"/>
            </a:avLst>
          </a:prstGeom>
          <a:solidFill>
            <a:srgbClr val="FFFFFF"/>
          </a:solidFill>
          <a:ln w="12700">
            <a:solidFill>
              <a:srgbClr val="FFFFFF"/>
            </a:solidFill>
            <a:prstDash val="solid"/>
          </a:ln>
        </p:spPr>
      </p:sp>
      <p:sp>
        <p:nvSpPr>
          <p:cNvPr id="18" name="Shape 16"/>
          <p:cNvSpPr/>
          <p:nvPr/>
        </p:nvSpPr>
        <p:spPr>
          <a:xfrm>
            <a:off x="4297680" y="2743200"/>
            <a:ext cx="3474720" cy="914400"/>
          </a:xfrm>
          <a:prstGeom prst="roundRect">
            <a:avLst>
              <a:gd name="adj" fmla="val 12000"/>
            </a:avLst>
          </a:prstGeom>
          <a:solidFill>
            <a:srgbClr val="FFFFFF"/>
          </a:solidFill>
          <a:ln w="12700">
            <a:solidFill>
              <a:srgbClr val="C7D2FE"/>
            </a:solidFill>
            <a:prstDash val="solid"/>
          </a:ln>
        </p:spPr>
      </p:sp>
      <p:sp>
        <p:nvSpPr>
          <p:cNvPr id="19" name="Text 17"/>
          <p:cNvSpPr txBox="1"/>
          <p:nvPr/>
        </p:nvSpPr>
        <p:spPr>
          <a:xfrm>
            <a:off x="452628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notification</a:t>
            </a:r>
            <a:endParaRPr lang="en-US" sz="1500" dirty="0"/>
          </a:p>
        </p:txBody>
      </p:sp>
      <p:sp>
        <p:nvSpPr>
          <p:cNvPr id="20" name="Text 18"/>
          <p:cNvSpPr txBox="1"/>
          <p:nvPr/>
        </p:nvSpPr>
        <p:spPr>
          <a:xfrm>
            <a:off x="452628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In-app bell, emails, reminders</a:t>
            </a:r>
            <a:endParaRPr lang="en-US" sz="1300" dirty="0"/>
          </a:p>
        </p:txBody>
      </p:sp>
      <p:sp>
        <p:nvSpPr>
          <p:cNvPr id="21" name="Shape 19"/>
          <p:cNvSpPr/>
          <p:nvPr/>
        </p:nvSpPr>
        <p:spPr>
          <a:xfrm>
            <a:off x="8046720" y="2743200"/>
            <a:ext cx="3474720" cy="914400"/>
          </a:xfrm>
          <a:prstGeom prst="roundRect">
            <a:avLst>
              <a:gd name="adj" fmla="val 12000"/>
            </a:avLst>
          </a:prstGeom>
          <a:solidFill>
            <a:srgbClr val="FFFFFF"/>
          </a:solidFill>
          <a:ln w="12700">
            <a:solidFill>
              <a:srgbClr val="FFFFFF"/>
            </a:solidFill>
            <a:prstDash val="solid"/>
          </a:ln>
        </p:spPr>
      </p:sp>
      <p:sp>
        <p:nvSpPr>
          <p:cNvPr id="22" name="Shape 20"/>
          <p:cNvSpPr/>
          <p:nvPr/>
        </p:nvSpPr>
        <p:spPr>
          <a:xfrm>
            <a:off x="8046720" y="2743200"/>
            <a:ext cx="3474720" cy="914400"/>
          </a:xfrm>
          <a:prstGeom prst="roundRect">
            <a:avLst>
              <a:gd name="adj" fmla="val 12000"/>
            </a:avLst>
          </a:prstGeom>
          <a:solidFill>
            <a:srgbClr val="FFFFFF"/>
          </a:solidFill>
          <a:ln w="12700">
            <a:solidFill>
              <a:srgbClr val="C7D2FE"/>
            </a:solidFill>
            <a:prstDash val="solid"/>
          </a:ln>
        </p:spPr>
      </p:sp>
      <p:sp>
        <p:nvSpPr>
          <p:cNvPr id="23" name="Text 21"/>
          <p:cNvSpPr txBox="1"/>
          <p:nvPr/>
        </p:nvSpPr>
        <p:spPr>
          <a:xfrm>
            <a:off x="827532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gate</a:t>
            </a:r>
            <a:endParaRPr lang="en-US" sz="1500" dirty="0"/>
          </a:p>
        </p:txBody>
      </p:sp>
      <p:sp>
        <p:nvSpPr>
          <p:cNvPr id="24" name="Text 22"/>
          <p:cNvSpPr txBox="1"/>
          <p:nvPr/>
        </p:nvSpPr>
        <p:spPr>
          <a:xfrm>
            <a:off x="827532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QR images, check-in, live counter</a:t>
            </a:r>
            <a:endParaRPr lang="en-US" sz="1300" dirty="0"/>
          </a:p>
        </p:txBody>
      </p:sp>
      <p:sp>
        <p:nvSpPr>
          <p:cNvPr id="25" name="Shape 23"/>
          <p:cNvSpPr/>
          <p:nvPr/>
        </p:nvSpPr>
        <p:spPr>
          <a:xfrm>
            <a:off x="548640" y="3840480"/>
            <a:ext cx="3474720" cy="914400"/>
          </a:xfrm>
          <a:prstGeom prst="roundRect">
            <a:avLst>
              <a:gd name="adj" fmla="val 12000"/>
            </a:avLst>
          </a:prstGeom>
          <a:solidFill>
            <a:srgbClr val="EEF2FF"/>
          </a:solidFill>
          <a:ln w="12700">
            <a:solidFill>
              <a:srgbClr val="EEF2FF"/>
            </a:solidFill>
            <a:prstDash val="solid"/>
          </a:ln>
        </p:spPr>
      </p:sp>
      <p:sp>
        <p:nvSpPr>
          <p:cNvPr id="26" name="Text 24"/>
          <p:cNvSpPr txBox="1"/>
          <p:nvPr/>
        </p:nvSpPr>
        <p:spPr>
          <a:xfrm>
            <a:off x="77724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certificate</a:t>
            </a:r>
            <a:endParaRPr lang="en-US" sz="1500" dirty="0"/>
          </a:p>
        </p:txBody>
      </p:sp>
      <p:sp>
        <p:nvSpPr>
          <p:cNvPr id="27" name="Text 25"/>
          <p:cNvSpPr txBox="1"/>
          <p:nvPr/>
        </p:nvSpPr>
        <p:spPr>
          <a:xfrm>
            <a:off x="77724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PDF certificates, public verify</a:t>
            </a:r>
            <a:endParaRPr lang="en-US" sz="1300" dirty="0"/>
          </a:p>
        </p:txBody>
      </p:sp>
      <p:sp>
        <p:nvSpPr>
          <p:cNvPr id="28" name="Shape 26"/>
          <p:cNvSpPr/>
          <p:nvPr/>
        </p:nvSpPr>
        <p:spPr>
          <a:xfrm>
            <a:off x="4297680" y="3840480"/>
            <a:ext cx="3474720" cy="914400"/>
          </a:xfrm>
          <a:prstGeom prst="roundRect">
            <a:avLst>
              <a:gd name="adj" fmla="val 12000"/>
            </a:avLst>
          </a:prstGeom>
          <a:solidFill>
            <a:srgbClr val="EEF2FF"/>
          </a:solidFill>
          <a:ln w="12700">
            <a:solidFill>
              <a:srgbClr val="EEF2FF"/>
            </a:solidFill>
            <a:prstDash val="solid"/>
          </a:ln>
        </p:spPr>
      </p:sp>
      <p:sp>
        <p:nvSpPr>
          <p:cNvPr id="29" name="Text 27"/>
          <p:cNvSpPr txBox="1"/>
          <p:nvPr/>
        </p:nvSpPr>
        <p:spPr>
          <a:xfrm>
            <a:off x="452628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feedback</a:t>
            </a:r>
            <a:endParaRPr lang="en-US" sz="1500" dirty="0"/>
          </a:p>
        </p:txBody>
      </p:sp>
      <p:sp>
        <p:nvSpPr>
          <p:cNvPr id="30" name="Text 28"/>
          <p:cNvSpPr txBox="1"/>
          <p:nvPr/>
        </p:nvSpPr>
        <p:spPr>
          <a:xfrm>
            <a:off x="452628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Stars and anonymous comments</a:t>
            </a:r>
            <a:endParaRPr lang="en-US" sz="1300" dirty="0"/>
          </a:p>
        </p:txBody>
      </p:sp>
      <p:sp>
        <p:nvSpPr>
          <p:cNvPr id="31" name="Shape 29"/>
          <p:cNvSpPr/>
          <p:nvPr/>
        </p:nvSpPr>
        <p:spPr>
          <a:xfrm>
            <a:off x="8046720" y="3840480"/>
            <a:ext cx="3474720" cy="914400"/>
          </a:xfrm>
          <a:prstGeom prst="roundRect">
            <a:avLst>
              <a:gd name="adj" fmla="val 12000"/>
            </a:avLst>
          </a:prstGeom>
          <a:solidFill>
            <a:srgbClr val="EEF2FF"/>
          </a:solidFill>
          <a:ln w="12700">
            <a:solidFill>
              <a:srgbClr val="EEF2FF"/>
            </a:solidFill>
            <a:prstDash val="solid"/>
          </a:ln>
        </p:spPr>
      </p:sp>
      <p:sp>
        <p:nvSpPr>
          <p:cNvPr id="32" name="Text 30"/>
          <p:cNvSpPr txBox="1"/>
          <p:nvPr/>
        </p:nvSpPr>
        <p:spPr>
          <a:xfrm>
            <a:off x="827532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analytics</a:t>
            </a:r>
            <a:endParaRPr lang="en-US" sz="1500" dirty="0"/>
          </a:p>
        </p:txBody>
      </p:sp>
      <p:sp>
        <p:nvSpPr>
          <p:cNvPr id="33" name="Text 31"/>
          <p:cNvSpPr txBox="1"/>
          <p:nvPr/>
        </p:nvSpPr>
        <p:spPr>
          <a:xfrm>
            <a:off x="827532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Charts data, 60-second cache</a:t>
            </a:r>
            <a:endParaRPr lang="en-US" sz="1300" dirty="0"/>
          </a:p>
        </p:txBody>
      </p:sp>
      <p:sp>
        <p:nvSpPr>
          <p:cNvPr id="34" name="Shape 32"/>
          <p:cNvSpPr/>
          <p:nvPr/>
        </p:nvSpPr>
        <p:spPr>
          <a:xfrm>
            <a:off x="548640" y="4937760"/>
            <a:ext cx="3474720" cy="914400"/>
          </a:xfrm>
          <a:prstGeom prst="roundRect">
            <a:avLst>
              <a:gd name="adj" fmla="val 12000"/>
            </a:avLst>
          </a:prstGeom>
          <a:solidFill>
            <a:srgbClr val="FFFFFF"/>
          </a:solidFill>
          <a:ln w="12700">
            <a:solidFill>
              <a:srgbClr val="FFFFFF"/>
            </a:solidFill>
            <a:prstDash val="solid"/>
          </a:ln>
        </p:spPr>
      </p:sp>
      <p:sp>
        <p:nvSpPr>
          <p:cNvPr id="35" name="Shape 33"/>
          <p:cNvSpPr/>
          <p:nvPr/>
        </p:nvSpPr>
        <p:spPr>
          <a:xfrm>
            <a:off x="548640" y="4937760"/>
            <a:ext cx="3474720" cy="914400"/>
          </a:xfrm>
          <a:prstGeom prst="roundRect">
            <a:avLst>
              <a:gd name="adj" fmla="val 12000"/>
            </a:avLst>
          </a:prstGeom>
          <a:solidFill>
            <a:srgbClr val="FFFFFF"/>
          </a:solidFill>
          <a:ln w="12700">
            <a:solidFill>
              <a:srgbClr val="C7D2FE"/>
            </a:solidFill>
            <a:prstDash val="solid"/>
          </a:ln>
        </p:spPr>
      </p:sp>
      <p:sp>
        <p:nvSpPr>
          <p:cNvPr id="36" name="Text 34"/>
          <p:cNvSpPr txBox="1"/>
          <p:nvPr/>
        </p:nvSpPr>
        <p:spPr>
          <a:xfrm>
            <a:off x="77724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auth</a:t>
            </a:r>
            <a:endParaRPr lang="en-US" sz="1500" dirty="0"/>
          </a:p>
        </p:txBody>
      </p:sp>
      <p:sp>
        <p:nvSpPr>
          <p:cNvPr id="37" name="Text 35"/>
          <p:cNvSpPr txBox="1"/>
          <p:nvPr/>
        </p:nvSpPr>
        <p:spPr>
          <a:xfrm>
            <a:off x="77724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Register, login, JWT, club roles</a:t>
            </a:r>
            <a:endParaRPr lang="en-US" sz="1300" dirty="0"/>
          </a:p>
        </p:txBody>
      </p:sp>
      <p:sp>
        <p:nvSpPr>
          <p:cNvPr id="38" name="Shape 36"/>
          <p:cNvSpPr/>
          <p:nvPr/>
        </p:nvSpPr>
        <p:spPr>
          <a:xfrm>
            <a:off x="4297680" y="4937760"/>
            <a:ext cx="3474720" cy="914400"/>
          </a:xfrm>
          <a:prstGeom prst="roundRect">
            <a:avLst>
              <a:gd name="adj" fmla="val 12000"/>
            </a:avLst>
          </a:prstGeom>
          <a:solidFill>
            <a:srgbClr val="FFFFFF"/>
          </a:solidFill>
          <a:ln w="12700">
            <a:solidFill>
              <a:srgbClr val="FFFFFF"/>
            </a:solidFill>
            <a:prstDash val="solid"/>
          </a:ln>
        </p:spPr>
      </p:sp>
      <p:sp>
        <p:nvSpPr>
          <p:cNvPr id="39" name="Shape 37"/>
          <p:cNvSpPr/>
          <p:nvPr/>
        </p:nvSpPr>
        <p:spPr>
          <a:xfrm>
            <a:off x="4297680" y="4937760"/>
            <a:ext cx="3474720" cy="914400"/>
          </a:xfrm>
          <a:prstGeom prst="roundRect">
            <a:avLst>
              <a:gd name="adj" fmla="val 12000"/>
            </a:avLst>
          </a:prstGeom>
          <a:solidFill>
            <a:srgbClr val="FFFFFF"/>
          </a:solidFill>
          <a:ln w="12700">
            <a:solidFill>
              <a:srgbClr val="C7D2FE"/>
            </a:solidFill>
            <a:prstDash val="solid"/>
          </a:ln>
        </p:spPr>
      </p:sp>
      <p:sp>
        <p:nvSpPr>
          <p:cNvPr id="40" name="Text 38"/>
          <p:cNvSpPr txBox="1"/>
          <p:nvPr/>
        </p:nvSpPr>
        <p:spPr>
          <a:xfrm>
            <a:off x="452628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audit</a:t>
            </a:r>
            <a:endParaRPr lang="en-US" sz="1500" dirty="0"/>
          </a:p>
        </p:txBody>
      </p:sp>
      <p:sp>
        <p:nvSpPr>
          <p:cNvPr id="41" name="Text 39"/>
          <p:cNvSpPr txBox="1"/>
          <p:nvPr/>
        </p:nvSpPr>
        <p:spPr>
          <a:xfrm>
            <a:off x="452628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Who did what, and when</a:t>
            </a:r>
            <a:endParaRPr lang="en-US" sz="1300" dirty="0"/>
          </a:p>
        </p:txBody>
      </p:sp>
      <p:sp>
        <p:nvSpPr>
          <p:cNvPr id="42" name="Shape 40"/>
          <p:cNvSpPr/>
          <p:nvPr/>
        </p:nvSpPr>
        <p:spPr>
          <a:xfrm>
            <a:off x="8046720" y="4937760"/>
            <a:ext cx="3474720" cy="914400"/>
          </a:xfrm>
          <a:prstGeom prst="roundRect">
            <a:avLst>
              <a:gd name="adj" fmla="val 12000"/>
            </a:avLst>
          </a:prstGeom>
          <a:solidFill>
            <a:srgbClr val="FFFFFF"/>
          </a:solidFill>
          <a:ln w="12700">
            <a:solidFill>
              <a:srgbClr val="FFFFFF"/>
            </a:solidFill>
            <a:prstDash val="solid"/>
          </a:ln>
        </p:spPr>
      </p:sp>
      <p:sp>
        <p:nvSpPr>
          <p:cNvPr id="43" name="Shape 41"/>
          <p:cNvSpPr/>
          <p:nvPr/>
        </p:nvSpPr>
        <p:spPr>
          <a:xfrm>
            <a:off x="8046720" y="4937760"/>
            <a:ext cx="3474720" cy="914400"/>
          </a:xfrm>
          <a:prstGeom prst="roundRect">
            <a:avLst>
              <a:gd name="adj" fmla="val 12000"/>
            </a:avLst>
          </a:prstGeom>
          <a:solidFill>
            <a:srgbClr val="FFFFFF"/>
          </a:solidFill>
          <a:ln w="12700">
            <a:solidFill>
              <a:srgbClr val="C7D2FE"/>
            </a:solidFill>
            <a:prstDash val="solid"/>
          </a:ln>
        </p:spPr>
      </p:sp>
      <p:sp>
        <p:nvSpPr>
          <p:cNvPr id="44" name="Text 42"/>
          <p:cNvSpPr txBox="1"/>
          <p:nvPr/>
        </p:nvSpPr>
        <p:spPr>
          <a:xfrm>
            <a:off x="827532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club · tag · user</a:t>
            </a:r>
            <a:endParaRPr lang="en-US" sz="1500" dirty="0"/>
          </a:p>
        </p:txBody>
      </p:sp>
      <p:sp>
        <p:nvSpPr>
          <p:cNvPr id="45" name="Text 43"/>
          <p:cNvSpPr txBox="1"/>
          <p:nvPr/>
        </p:nvSpPr>
        <p:spPr>
          <a:xfrm>
            <a:off x="827532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Clubs, tags, users, profiles</a:t>
            </a:r>
            <a:endParaRPr lang="en-US" sz="1300" dirty="0"/>
          </a:p>
        </p:txBody>
      </p:sp>
      <p:sp>
        <p:nvSpPr>
          <p:cNvPr id="46" name="Text 4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Database design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17 MySQL tables, created and changed only through Flyway migrations (V1-V9)</a:t>
            </a:r>
            <a:endParaRPr lang="en-US" sz="1600" dirty="0"/>
          </a:p>
        </p:txBody>
      </p:sp>
      <p:sp>
        <p:nvSpPr>
          <p:cNvPr id="4" name="Shape 2"/>
          <p:cNvSpPr/>
          <p:nvPr/>
        </p:nvSpPr>
        <p:spPr>
          <a:xfrm>
            <a:off x="548640" y="1755648"/>
            <a:ext cx="566928" cy="566928"/>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684703" y="1891711"/>
            <a:ext cx="294803" cy="294803"/>
          </a:xfrm>
          <a:prstGeom prst="rect">
            <a:avLst/>
          </a:prstGeom>
        </p:spPr>
      </p:pic>
      <p:sp>
        <p:nvSpPr>
          <p:cNvPr id="6" name="Text 3"/>
          <p:cNvSpPr txBox="1"/>
          <p:nvPr/>
        </p:nvSpPr>
        <p:spPr>
          <a:xfrm>
            <a:off x="1325880" y="1664208"/>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People &amp; clubs</a:t>
            </a:r>
            <a:endParaRPr lang="en-US" sz="1700" dirty="0"/>
          </a:p>
        </p:txBody>
      </p:sp>
      <p:sp>
        <p:nvSpPr>
          <p:cNvPr id="7" name="Text 4"/>
          <p:cNvSpPr txBox="1"/>
          <p:nvPr/>
        </p:nvSpPr>
        <p:spPr>
          <a:xfrm>
            <a:off x="1325880" y="2057400"/>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users, roles, user_roles, profiles, clubs, club_members</a:t>
            </a:r>
            <a:endParaRPr lang="en-US" sz="1250" dirty="0"/>
          </a:p>
        </p:txBody>
      </p:sp>
      <p:sp>
        <p:nvSpPr>
          <p:cNvPr id="8" name="Shape 5"/>
          <p:cNvSpPr/>
          <p:nvPr/>
        </p:nvSpPr>
        <p:spPr>
          <a:xfrm>
            <a:off x="548640" y="2834640"/>
            <a:ext cx="566928" cy="566928"/>
          </a:xfrm>
          <a:prstGeom prst="ellipse">
            <a:avLst/>
          </a:prstGeom>
          <a:solidFill>
            <a:srgbClr val="4F46E5"/>
          </a:solidFill>
          <a:ln w="12700">
            <a:solidFill>
              <a:srgbClr val="4F46E5"/>
            </a:solidFill>
            <a:prstDash val="solid"/>
          </a:ln>
        </p:spPr>
      </p:sp>
      <p:pic>
        <p:nvPicPr>
          <p:cNvPr id="9" name="Image 1" descr="preencoded.png">    </p:cNvPr>
          <p:cNvPicPr>
            <a:picLocks noChangeAspect="1"/>
          </p:cNvPicPr>
          <p:nvPr/>
        </p:nvPicPr>
        <p:blipFill>
          <a:blip r:embed="rId2"/>
          <a:stretch>
            <a:fillRect/>
          </a:stretch>
        </p:blipFill>
        <p:spPr>
          <a:xfrm>
            <a:off x="684703" y="2970703"/>
            <a:ext cx="294803" cy="294803"/>
          </a:xfrm>
          <a:prstGeom prst="rect">
            <a:avLst/>
          </a:prstGeom>
        </p:spPr>
      </p:pic>
      <p:sp>
        <p:nvSpPr>
          <p:cNvPr id="10" name="Text 6"/>
          <p:cNvSpPr txBox="1"/>
          <p:nvPr/>
        </p:nvSpPr>
        <p:spPr>
          <a:xfrm>
            <a:off x="1325880" y="2743200"/>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Events</a:t>
            </a:r>
            <a:endParaRPr lang="en-US" sz="1700" dirty="0"/>
          </a:p>
        </p:txBody>
      </p:sp>
      <p:sp>
        <p:nvSpPr>
          <p:cNvPr id="11" name="Text 7"/>
          <p:cNvSpPr txBox="1"/>
          <p:nvPr/>
        </p:nvSpPr>
        <p:spPr>
          <a:xfrm>
            <a:off x="1325880" y="3136392"/>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events, tags, event_tags, audit_log</a:t>
            </a:r>
            <a:endParaRPr lang="en-US" sz="1250" dirty="0"/>
          </a:p>
        </p:txBody>
      </p:sp>
      <p:sp>
        <p:nvSpPr>
          <p:cNvPr id="12" name="Shape 8"/>
          <p:cNvSpPr/>
          <p:nvPr/>
        </p:nvSpPr>
        <p:spPr>
          <a:xfrm>
            <a:off x="548640" y="3913632"/>
            <a:ext cx="566928" cy="566928"/>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3"/>
          <a:stretch>
            <a:fillRect/>
          </a:stretch>
        </p:blipFill>
        <p:spPr>
          <a:xfrm>
            <a:off x="684703" y="4049695"/>
            <a:ext cx="294803" cy="294803"/>
          </a:xfrm>
          <a:prstGeom prst="rect">
            <a:avLst/>
          </a:prstGeom>
        </p:spPr>
      </p:pic>
      <p:sp>
        <p:nvSpPr>
          <p:cNvPr id="14" name="Text 9"/>
          <p:cNvSpPr txBox="1"/>
          <p:nvPr/>
        </p:nvSpPr>
        <p:spPr>
          <a:xfrm>
            <a:off x="1325880" y="3822192"/>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Bookings &amp; money</a:t>
            </a:r>
            <a:endParaRPr lang="en-US" sz="1700" dirty="0"/>
          </a:p>
        </p:txBody>
      </p:sp>
      <p:sp>
        <p:nvSpPr>
          <p:cNvPr id="15" name="Text 10"/>
          <p:cNvSpPr txBox="1"/>
          <p:nvPr/>
        </p:nvSpPr>
        <p:spPr>
          <a:xfrm>
            <a:off x="1325880" y="4215384"/>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bookings, payments, processed_payment_events, waitlist_entries</a:t>
            </a:r>
            <a:endParaRPr lang="en-US" sz="1250" dirty="0"/>
          </a:p>
        </p:txBody>
      </p:sp>
      <p:sp>
        <p:nvSpPr>
          <p:cNvPr id="16" name="Shape 11"/>
          <p:cNvSpPr/>
          <p:nvPr/>
        </p:nvSpPr>
        <p:spPr>
          <a:xfrm>
            <a:off x="548640" y="4992624"/>
            <a:ext cx="566928" cy="566928"/>
          </a:xfrm>
          <a:prstGeom prst="ellipse">
            <a:avLst/>
          </a:prstGeom>
          <a:solidFill>
            <a:srgbClr val="4F46E5"/>
          </a:solidFill>
          <a:ln w="12700">
            <a:solidFill>
              <a:srgbClr val="4F46E5"/>
            </a:solidFill>
            <a:prstDash val="solid"/>
          </a:ln>
        </p:spPr>
      </p:sp>
      <p:pic>
        <p:nvPicPr>
          <p:cNvPr id="17" name="Image 3" descr="preencoded.png">    </p:cNvPr>
          <p:cNvPicPr>
            <a:picLocks noChangeAspect="1"/>
          </p:cNvPicPr>
          <p:nvPr/>
        </p:nvPicPr>
        <p:blipFill>
          <a:blip r:embed="rId4"/>
          <a:stretch>
            <a:fillRect/>
          </a:stretch>
        </p:blipFill>
        <p:spPr>
          <a:xfrm>
            <a:off x="684703" y="5128687"/>
            <a:ext cx="294803" cy="294803"/>
          </a:xfrm>
          <a:prstGeom prst="rect">
            <a:avLst/>
          </a:prstGeom>
        </p:spPr>
      </p:pic>
      <p:sp>
        <p:nvSpPr>
          <p:cNvPr id="18" name="Text 12"/>
          <p:cNvSpPr txBox="1"/>
          <p:nvPr/>
        </p:nvSpPr>
        <p:spPr>
          <a:xfrm>
            <a:off x="1325880" y="4901184"/>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After the event</a:t>
            </a:r>
            <a:endParaRPr lang="en-US" sz="1700" dirty="0"/>
          </a:p>
        </p:txBody>
      </p:sp>
      <p:sp>
        <p:nvSpPr>
          <p:cNvPr id="19" name="Text 13"/>
          <p:cNvSpPr txBox="1"/>
          <p:nvPr/>
        </p:nvSpPr>
        <p:spPr>
          <a:xfrm>
            <a:off x="1325880" y="5294376"/>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notifications, certificates, feedback</a:t>
            </a:r>
            <a:endParaRPr lang="en-US" sz="1250" dirty="0"/>
          </a:p>
        </p:txBody>
      </p:sp>
      <p:sp>
        <p:nvSpPr>
          <p:cNvPr id="20" name="Shape 14"/>
          <p:cNvSpPr/>
          <p:nvPr/>
        </p:nvSpPr>
        <p:spPr>
          <a:xfrm>
            <a:off x="6309360" y="1645920"/>
            <a:ext cx="5303520" cy="4251960"/>
          </a:xfrm>
          <a:prstGeom prst="roundRect">
            <a:avLst>
              <a:gd name="adj" fmla="val 2581"/>
            </a:avLst>
          </a:prstGeom>
          <a:solidFill>
            <a:srgbClr val="1E1B4B"/>
          </a:solidFill>
          <a:ln w="12700">
            <a:solidFill>
              <a:srgbClr val="1E1B4B"/>
            </a:solidFill>
            <a:prstDash val="solid"/>
          </a:ln>
        </p:spPr>
      </p:sp>
      <p:sp>
        <p:nvSpPr>
          <p:cNvPr id="21" name="Text 15"/>
          <p:cNvSpPr txBox="1"/>
          <p:nvPr/>
        </p:nvSpPr>
        <p:spPr>
          <a:xfrm>
            <a:off x="6629400" y="1874520"/>
            <a:ext cx="4663440" cy="457200"/>
          </a:xfrm>
          <a:prstGeom prst="rect">
            <a:avLst/>
          </a:prstGeom>
          <a:noFill/>
          <a:ln/>
        </p:spPr>
        <p:txBody>
          <a:bodyPr wrap="square" lIns="0" tIns="0" rIns="0" bIns="0" rtlCol="0" anchor="ctr"/>
          <a:lstStyle/>
          <a:p>
            <a:pPr indent="0" marL="0">
              <a:buNone/>
            </a:pPr>
            <a:r>
              <a:rPr lang="en-US" sz="1700" b="1" dirty="0">
                <a:solidFill>
                  <a:srgbClr val="F59E0B"/>
                </a:solidFill>
                <a:latin typeface="Arial" pitchFamily="34" charset="0"/>
                <a:ea typeface="Arial" pitchFamily="34" charset="-122"/>
                <a:cs typeface="Arial" pitchFamily="34" charset="-120"/>
              </a:rPr>
              <a:t>Design rules that keep the data correct</a:t>
            </a:r>
            <a:endParaRPr lang="en-US" sz="1700" dirty="0"/>
          </a:p>
        </p:txBody>
      </p:sp>
      <p:sp>
        <p:nvSpPr>
          <p:cNvPr id="22" name="Text 16"/>
          <p:cNvSpPr txBox="1"/>
          <p:nvPr/>
        </p:nvSpPr>
        <p:spPr>
          <a:xfrm>
            <a:off x="6629400" y="24231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events.available_seats is the ONE seat counter; a @Version column stops two saves from overwriting each other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UNIQUE keys stop duplicates: one certificate and one rating per ticket, one webhook message processed once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CHECK constraints: status values, 1-5 stars, 1-10 tickets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Random codes (EVH-..., EH-2026-...) so nobody can guess other tickets or certificates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Tests run on their own fresh MySQL (Testcontainers)</a:t>
            </a:r>
            <a:endParaRPr lang="en-US" sz="1400" dirty="0"/>
          </a:p>
        </p:txBody>
      </p:sp>
      <p:sp>
        <p:nvSpPr>
          <p:cNvPr id="23" name="Text 17"/>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Workflow 1: an event from idea to published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A small state machine - illegal moves are refused by the server</a:t>
            </a:r>
            <a:endParaRPr lang="en-US" sz="1600" dirty="0"/>
          </a:p>
        </p:txBody>
      </p:sp>
      <p:sp>
        <p:nvSpPr>
          <p:cNvPr id="4" name="Shape 2"/>
          <p:cNvSpPr/>
          <p:nvPr/>
        </p:nvSpPr>
        <p:spPr>
          <a:xfrm>
            <a:off x="548640" y="1691640"/>
            <a:ext cx="3246120" cy="1143000"/>
          </a:xfrm>
          <a:prstGeom prst="roundRect">
            <a:avLst>
              <a:gd name="adj" fmla="val 9600"/>
            </a:avLst>
          </a:prstGeom>
          <a:solidFill>
            <a:srgbClr val="EEF2FF"/>
          </a:solidFill>
          <a:ln w="12700">
            <a:solidFill>
              <a:srgbClr val="EEF2FF"/>
            </a:solidFill>
            <a:prstDash val="solid"/>
          </a:ln>
        </p:spPr>
      </p:sp>
      <p:sp>
        <p:nvSpPr>
          <p:cNvPr id="5" name="Text 3"/>
          <p:cNvSpPr txBox="1"/>
          <p:nvPr/>
        </p:nvSpPr>
        <p:spPr>
          <a:xfrm>
            <a:off x="5486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1E1B4B"/>
                </a:solidFill>
                <a:latin typeface="Calibri" pitchFamily="34" charset="0"/>
                <a:ea typeface="Calibri" pitchFamily="34" charset="-122"/>
                <a:cs typeface="Calibri" pitchFamily="34" charset="-120"/>
              </a:rPr>
              <a:t>DRAFT</a:t>
            </a:r>
            <a:endParaRPr lang="en-US" sz="1700" dirty="0"/>
          </a:p>
          <a:p>
            <a:pPr algn="ctr" indent="0" marL="0">
              <a:buNone/>
            </a:pPr>
            <a:r>
              <a:rPr lang="en-US" sz="1300" dirty="0">
                <a:solidFill>
                  <a:srgbClr val="1E1B4B"/>
                </a:solidFill>
                <a:latin typeface="Calibri" pitchFamily="34" charset="0"/>
                <a:ea typeface="Calibri" pitchFamily="34" charset="-122"/>
                <a:cs typeface="Calibri" pitchFamily="34" charset="-120"/>
              </a:rPr>
              <a:t>Organizer creates and edits</a:t>
            </a:r>
            <a:endParaRPr lang="en-US" sz="1700" dirty="0"/>
          </a:p>
        </p:txBody>
      </p:sp>
      <p:sp>
        <p:nvSpPr>
          <p:cNvPr id="6" name="Shape 4"/>
          <p:cNvSpPr/>
          <p:nvPr/>
        </p:nvSpPr>
        <p:spPr>
          <a:xfrm>
            <a:off x="3840480" y="2258568"/>
            <a:ext cx="548640" cy="0"/>
          </a:xfrm>
          <a:prstGeom prst="line">
            <a:avLst/>
          </a:prstGeom>
          <a:noFill/>
          <a:ln w="25400">
            <a:solidFill>
              <a:srgbClr val="4F46E5"/>
            </a:solidFill>
            <a:prstDash val="solid"/>
            <a:tailEnd type="triangle"/>
          </a:ln>
        </p:spPr>
      </p:sp>
      <p:sp>
        <p:nvSpPr>
          <p:cNvPr id="7" name="Shape 5"/>
          <p:cNvSpPr/>
          <p:nvPr/>
        </p:nvSpPr>
        <p:spPr>
          <a:xfrm>
            <a:off x="4434840" y="1691640"/>
            <a:ext cx="3246120" cy="1143000"/>
          </a:xfrm>
          <a:prstGeom prst="roundRect">
            <a:avLst>
              <a:gd name="adj" fmla="val 9600"/>
            </a:avLst>
          </a:prstGeom>
          <a:solidFill>
            <a:srgbClr val="FEF3C7"/>
          </a:solidFill>
          <a:ln w="12700">
            <a:solidFill>
              <a:srgbClr val="FEF3C7"/>
            </a:solidFill>
            <a:prstDash val="solid"/>
          </a:ln>
        </p:spPr>
      </p:sp>
      <p:sp>
        <p:nvSpPr>
          <p:cNvPr id="8" name="Text 6"/>
          <p:cNvSpPr txBox="1"/>
          <p:nvPr/>
        </p:nvSpPr>
        <p:spPr>
          <a:xfrm>
            <a:off x="44348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1E1B4B"/>
                </a:solidFill>
                <a:latin typeface="Calibri" pitchFamily="34" charset="0"/>
                <a:ea typeface="Calibri" pitchFamily="34" charset="-122"/>
                <a:cs typeface="Calibri" pitchFamily="34" charset="-120"/>
              </a:rPr>
              <a:t>PENDING APPROVAL</a:t>
            </a:r>
            <a:endParaRPr lang="en-US" sz="1700" dirty="0"/>
          </a:p>
          <a:p>
            <a:pPr algn="ctr" indent="0" marL="0">
              <a:buNone/>
            </a:pPr>
            <a:r>
              <a:rPr lang="en-US" sz="1300" dirty="0">
                <a:solidFill>
                  <a:srgbClr val="1E1B4B"/>
                </a:solidFill>
                <a:latin typeface="Calibri" pitchFamily="34" charset="0"/>
                <a:ea typeface="Calibri" pitchFamily="34" charset="-122"/>
                <a:cs typeface="Calibri" pitchFamily="34" charset="-120"/>
              </a:rPr>
              <a:t>Submitted - cannot be edited</a:t>
            </a:r>
            <a:endParaRPr lang="en-US" sz="1700" dirty="0"/>
          </a:p>
        </p:txBody>
      </p:sp>
      <p:sp>
        <p:nvSpPr>
          <p:cNvPr id="9" name="Shape 7"/>
          <p:cNvSpPr/>
          <p:nvPr/>
        </p:nvSpPr>
        <p:spPr>
          <a:xfrm>
            <a:off x="7726680" y="2258568"/>
            <a:ext cx="548640" cy="0"/>
          </a:xfrm>
          <a:prstGeom prst="line">
            <a:avLst/>
          </a:prstGeom>
          <a:noFill/>
          <a:ln w="25400">
            <a:solidFill>
              <a:srgbClr val="4F46E5"/>
            </a:solidFill>
            <a:prstDash val="solid"/>
            <a:tailEnd type="triangle"/>
          </a:ln>
        </p:spPr>
      </p:sp>
      <p:sp>
        <p:nvSpPr>
          <p:cNvPr id="10" name="Shape 8"/>
          <p:cNvSpPr/>
          <p:nvPr/>
        </p:nvSpPr>
        <p:spPr>
          <a:xfrm>
            <a:off x="8321040" y="1691640"/>
            <a:ext cx="3246120" cy="1143000"/>
          </a:xfrm>
          <a:prstGeom prst="roundRect">
            <a:avLst>
              <a:gd name="adj" fmla="val 9600"/>
            </a:avLst>
          </a:prstGeom>
          <a:solidFill>
            <a:srgbClr val="1E1B4B"/>
          </a:solidFill>
          <a:ln w="12700">
            <a:solidFill>
              <a:srgbClr val="1E1B4B"/>
            </a:solidFill>
            <a:prstDash val="solid"/>
          </a:ln>
        </p:spPr>
      </p:sp>
      <p:sp>
        <p:nvSpPr>
          <p:cNvPr id="11" name="Text 9"/>
          <p:cNvSpPr txBox="1"/>
          <p:nvPr/>
        </p:nvSpPr>
        <p:spPr>
          <a:xfrm>
            <a:off x="83210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PUBLISHED</a:t>
            </a:r>
            <a:endParaRPr lang="en-US" sz="1700" dirty="0"/>
          </a:p>
          <a:p>
            <a:pPr algn="ctr" indent="0" marL="0">
              <a:buNone/>
            </a:pPr>
            <a:r>
              <a:rPr lang="en-US" sz="1300" dirty="0">
                <a:solidFill>
                  <a:srgbClr val="FFFFFF"/>
                </a:solidFill>
                <a:latin typeface="Calibri" pitchFamily="34" charset="0"/>
                <a:ea typeface="Calibri" pitchFamily="34" charset="-122"/>
                <a:cs typeface="Calibri" pitchFamily="34" charset="-120"/>
              </a:rPr>
              <a:t>Visible and bookable</a:t>
            </a:r>
            <a:endParaRPr lang="en-US" sz="1700" dirty="0"/>
          </a:p>
        </p:txBody>
      </p:sp>
      <p:sp>
        <p:nvSpPr>
          <p:cNvPr id="12" name="Text 10"/>
          <p:cNvSpPr txBox="1"/>
          <p:nvPr/>
        </p:nvSpPr>
        <p:spPr>
          <a:xfrm>
            <a:off x="3749040" y="1828800"/>
            <a:ext cx="73152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submit</a:t>
            </a:r>
            <a:endParaRPr lang="en-US" sz="1100" dirty="0"/>
          </a:p>
        </p:txBody>
      </p:sp>
      <p:sp>
        <p:nvSpPr>
          <p:cNvPr id="13" name="Text 11"/>
          <p:cNvSpPr txBox="1"/>
          <p:nvPr/>
        </p:nvSpPr>
        <p:spPr>
          <a:xfrm>
            <a:off x="7635240" y="1828800"/>
            <a:ext cx="73152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approve</a:t>
            </a:r>
            <a:endParaRPr lang="en-US" sz="1100" dirty="0"/>
          </a:p>
        </p:txBody>
      </p:sp>
      <p:sp>
        <p:nvSpPr>
          <p:cNvPr id="14" name="Text 12"/>
          <p:cNvSpPr txBox="1"/>
          <p:nvPr/>
        </p:nvSpPr>
        <p:spPr>
          <a:xfrm>
            <a:off x="548640" y="2971800"/>
            <a:ext cx="7315200" cy="365760"/>
          </a:xfrm>
          <a:prstGeom prst="rect">
            <a:avLst/>
          </a:prstGeom>
          <a:noFill/>
          <a:ln/>
        </p:spPr>
        <p:txBody>
          <a:bodyPr wrap="square" lIns="0" tIns="0" rIns="0" bIns="0" rtlCol="0" anchor="ctr"/>
          <a:lstStyle/>
          <a:p>
            <a:pPr indent="0" marL="0">
              <a:buNone/>
            </a:pPr>
            <a:r>
              <a:rPr lang="en-US" sz="1400" i="1" dirty="0">
                <a:solidFill>
                  <a:srgbClr val="B91C1C"/>
                </a:solidFill>
                <a:latin typeface="Calibri" pitchFamily="34" charset="0"/>
                <a:ea typeface="Calibri" pitchFamily="34" charset="-122"/>
                <a:cs typeface="Calibri" pitchFamily="34" charset="-120"/>
              </a:rPr>
              <a:t>Admin sends back with a reason → back to DRAFT, the organizer sees the note</a:t>
            </a:r>
            <a:endParaRPr lang="en-US" sz="1400" dirty="0"/>
          </a:p>
        </p:txBody>
      </p:sp>
      <p:sp>
        <p:nvSpPr>
          <p:cNvPr id="15" name="Shape 13"/>
          <p:cNvSpPr/>
          <p:nvPr/>
        </p:nvSpPr>
        <p:spPr>
          <a:xfrm>
            <a:off x="493776" y="3557016"/>
            <a:ext cx="6419088" cy="2578292"/>
          </a:xfrm>
          <a:prstGeom prst="roundRect">
            <a:avLst>
              <a:gd name="adj" fmla="val 4256"/>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16" name="Image 0" descr="D:/Java_FullStack_Journey/02_EventHub_Practice_Project/Showcase/screenshots/23-approve-dialog.png">    </p:cNvPr>
          <p:cNvPicPr>
            <a:picLocks noChangeAspect="1"/>
          </p:cNvPicPr>
          <p:nvPr/>
        </p:nvPicPr>
        <p:blipFill>
          <a:blip r:embed="rId1"/>
          <a:stretch>
            <a:fillRect/>
          </a:stretch>
        </p:blipFill>
        <p:spPr>
          <a:xfrm>
            <a:off x="548640" y="3611880"/>
            <a:ext cx="6309360" cy="2468564"/>
          </a:xfrm>
          <a:prstGeom prst="rect">
            <a:avLst/>
          </a:prstGeom>
        </p:spPr>
      </p:pic>
      <p:sp>
        <p:nvSpPr>
          <p:cNvPr id="17" name="Text 14"/>
          <p:cNvSpPr txBox="1"/>
          <p:nvPr/>
        </p:nvSpPr>
        <p:spPr>
          <a:xfrm>
            <a:off x="7223760" y="3611880"/>
            <a:ext cx="4389120" cy="2468564"/>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Every change is written to the audit log (who, what, when)</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The event row has a version number: two admins clicking at once cannot both win</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Only organizers of THAT club may edit its events</a:t>
            </a:r>
            <a:endParaRPr lang="en-US" sz="1400" dirty="0"/>
          </a:p>
        </p:txBody>
      </p:sp>
      <p:sp>
        <p:nvSpPr>
          <p:cNvPr id="18" name="Text 15"/>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Workflow 2: the student journey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From finding an event to getting a certificate</a:t>
            </a:r>
            <a:endParaRPr lang="en-US" sz="1600" dirty="0"/>
          </a:p>
        </p:txBody>
      </p:sp>
      <p:sp>
        <p:nvSpPr>
          <p:cNvPr id="4" name="Shape 2"/>
          <p:cNvSpPr/>
          <p:nvPr/>
        </p:nvSpPr>
        <p:spPr>
          <a:xfrm>
            <a:off x="868680" y="1828800"/>
            <a:ext cx="868680" cy="8686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1077163" y="2037283"/>
            <a:ext cx="451714" cy="451714"/>
          </a:xfrm>
          <a:prstGeom prst="rect">
            <a:avLst/>
          </a:prstGeom>
        </p:spPr>
      </p:pic>
      <p:sp>
        <p:nvSpPr>
          <p:cNvPr id="6" name="Text 3"/>
          <p:cNvSpPr txBox="1"/>
          <p:nvPr/>
        </p:nvSpPr>
        <p:spPr>
          <a:xfrm>
            <a:off x="548640"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Find</a:t>
            </a:r>
            <a:endParaRPr lang="en-US" sz="1600" dirty="0"/>
          </a:p>
        </p:txBody>
      </p:sp>
      <p:sp>
        <p:nvSpPr>
          <p:cNvPr id="7" name="Text 4"/>
          <p:cNvSpPr txBox="1"/>
          <p:nvPr/>
        </p:nvSpPr>
        <p:spPr>
          <a:xfrm>
            <a:off x="548640"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search, filter</a:t>
            </a:r>
            <a:endParaRPr lang="en-US" sz="1250" dirty="0"/>
          </a:p>
        </p:txBody>
      </p:sp>
      <p:sp>
        <p:nvSpPr>
          <p:cNvPr id="8" name="Shape 5"/>
          <p:cNvSpPr/>
          <p:nvPr/>
        </p:nvSpPr>
        <p:spPr>
          <a:xfrm>
            <a:off x="1810512" y="2258568"/>
            <a:ext cx="310896" cy="0"/>
          </a:xfrm>
          <a:prstGeom prst="line">
            <a:avLst/>
          </a:prstGeom>
          <a:noFill/>
          <a:ln w="25400">
            <a:solidFill>
              <a:srgbClr val="C7D2FE"/>
            </a:solidFill>
            <a:prstDash val="solid"/>
            <a:tailEnd type="triangle"/>
          </a:ln>
        </p:spPr>
      </p:sp>
      <p:sp>
        <p:nvSpPr>
          <p:cNvPr id="9" name="Shape 6"/>
          <p:cNvSpPr/>
          <p:nvPr/>
        </p:nvSpPr>
        <p:spPr>
          <a:xfrm>
            <a:off x="2496312" y="1828800"/>
            <a:ext cx="868680" cy="8686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2704795" y="2037283"/>
            <a:ext cx="451714" cy="451714"/>
          </a:xfrm>
          <a:prstGeom prst="rect">
            <a:avLst/>
          </a:prstGeom>
        </p:spPr>
      </p:pic>
      <p:sp>
        <p:nvSpPr>
          <p:cNvPr id="11" name="Text 7"/>
          <p:cNvSpPr txBox="1"/>
          <p:nvPr/>
        </p:nvSpPr>
        <p:spPr>
          <a:xfrm>
            <a:off x="2176272"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Hold</a:t>
            </a:r>
            <a:endParaRPr lang="en-US" sz="1600" dirty="0"/>
          </a:p>
        </p:txBody>
      </p:sp>
      <p:sp>
        <p:nvSpPr>
          <p:cNvPr id="12" name="Text 8"/>
          <p:cNvSpPr txBox="1"/>
          <p:nvPr/>
        </p:nvSpPr>
        <p:spPr>
          <a:xfrm>
            <a:off x="2176272"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seats kept 10 min</a:t>
            </a:r>
            <a:endParaRPr lang="en-US" sz="1250" dirty="0"/>
          </a:p>
        </p:txBody>
      </p:sp>
      <p:sp>
        <p:nvSpPr>
          <p:cNvPr id="13" name="Shape 9"/>
          <p:cNvSpPr/>
          <p:nvPr/>
        </p:nvSpPr>
        <p:spPr>
          <a:xfrm>
            <a:off x="3438144" y="2258568"/>
            <a:ext cx="310896" cy="0"/>
          </a:xfrm>
          <a:prstGeom prst="line">
            <a:avLst/>
          </a:prstGeom>
          <a:noFill/>
          <a:ln w="25400">
            <a:solidFill>
              <a:srgbClr val="C7D2FE"/>
            </a:solidFill>
            <a:prstDash val="solid"/>
            <a:tailEnd type="triangle"/>
          </a:ln>
        </p:spPr>
      </p:sp>
      <p:sp>
        <p:nvSpPr>
          <p:cNvPr id="14" name="Shape 10"/>
          <p:cNvSpPr/>
          <p:nvPr/>
        </p:nvSpPr>
        <p:spPr>
          <a:xfrm>
            <a:off x="4123944" y="1828800"/>
            <a:ext cx="868680" cy="868680"/>
          </a:xfrm>
          <a:prstGeom prst="ellipse">
            <a:avLst/>
          </a:prstGeom>
          <a:solidFill>
            <a:srgbClr val="4F46E5"/>
          </a:solidFill>
          <a:ln w="12700">
            <a:solidFill>
              <a:srgbClr val="4F46E5"/>
            </a:solidFill>
            <a:prstDash val="solid"/>
          </a:ln>
        </p:spPr>
      </p:sp>
      <p:pic>
        <p:nvPicPr>
          <p:cNvPr id="15" name="Image 2" descr="preencoded.png">    </p:cNvPr>
          <p:cNvPicPr>
            <a:picLocks noChangeAspect="1"/>
          </p:cNvPicPr>
          <p:nvPr/>
        </p:nvPicPr>
        <p:blipFill>
          <a:blip r:embed="rId3"/>
          <a:stretch>
            <a:fillRect/>
          </a:stretch>
        </p:blipFill>
        <p:spPr>
          <a:xfrm>
            <a:off x="4332427" y="2037283"/>
            <a:ext cx="451714" cy="451714"/>
          </a:xfrm>
          <a:prstGeom prst="rect">
            <a:avLst/>
          </a:prstGeom>
        </p:spPr>
      </p:pic>
      <p:sp>
        <p:nvSpPr>
          <p:cNvPr id="16" name="Text 11"/>
          <p:cNvSpPr txBox="1"/>
          <p:nvPr/>
        </p:nvSpPr>
        <p:spPr>
          <a:xfrm>
            <a:off x="3803904"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Pay</a:t>
            </a:r>
            <a:endParaRPr lang="en-US" sz="1600" dirty="0"/>
          </a:p>
        </p:txBody>
      </p:sp>
      <p:sp>
        <p:nvSpPr>
          <p:cNvPr id="17" name="Text 12"/>
          <p:cNvSpPr txBox="1"/>
          <p:nvPr/>
        </p:nvSpPr>
        <p:spPr>
          <a:xfrm>
            <a:off x="3803904"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Stripe / test page</a:t>
            </a:r>
            <a:endParaRPr lang="en-US" sz="1250" dirty="0"/>
          </a:p>
        </p:txBody>
      </p:sp>
      <p:sp>
        <p:nvSpPr>
          <p:cNvPr id="18" name="Shape 13"/>
          <p:cNvSpPr/>
          <p:nvPr/>
        </p:nvSpPr>
        <p:spPr>
          <a:xfrm>
            <a:off x="5065776" y="2258568"/>
            <a:ext cx="310896" cy="0"/>
          </a:xfrm>
          <a:prstGeom prst="line">
            <a:avLst/>
          </a:prstGeom>
          <a:noFill/>
          <a:ln w="25400">
            <a:solidFill>
              <a:srgbClr val="C7D2FE"/>
            </a:solidFill>
            <a:prstDash val="solid"/>
            <a:tailEnd type="triangle"/>
          </a:ln>
        </p:spPr>
      </p:sp>
      <p:sp>
        <p:nvSpPr>
          <p:cNvPr id="19" name="Shape 14"/>
          <p:cNvSpPr/>
          <p:nvPr/>
        </p:nvSpPr>
        <p:spPr>
          <a:xfrm>
            <a:off x="5751576" y="1828800"/>
            <a:ext cx="868680" cy="868680"/>
          </a:xfrm>
          <a:prstGeom prst="ellipse">
            <a:avLst/>
          </a:prstGeom>
          <a:solidFill>
            <a:srgbClr val="4F46E5"/>
          </a:solidFill>
          <a:ln w="12700">
            <a:solidFill>
              <a:srgbClr val="4F46E5"/>
            </a:solidFill>
            <a:prstDash val="solid"/>
          </a:ln>
        </p:spPr>
      </p:sp>
      <p:pic>
        <p:nvPicPr>
          <p:cNvPr id="20" name="Image 3" descr="preencoded.png">    </p:cNvPr>
          <p:cNvPicPr>
            <a:picLocks noChangeAspect="1"/>
          </p:cNvPicPr>
          <p:nvPr/>
        </p:nvPicPr>
        <p:blipFill>
          <a:blip r:embed="rId4"/>
          <a:stretch>
            <a:fillRect/>
          </a:stretch>
        </p:blipFill>
        <p:spPr>
          <a:xfrm>
            <a:off x="5960059" y="2037283"/>
            <a:ext cx="451714" cy="451714"/>
          </a:xfrm>
          <a:prstGeom prst="rect">
            <a:avLst/>
          </a:prstGeom>
        </p:spPr>
      </p:pic>
      <p:sp>
        <p:nvSpPr>
          <p:cNvPr id="21" name="Text 15"/>
          <p:cNvSpPr txBox="1"/>
          <p:nvPr/>
        </p:nvSpPr>
        <p:spPr>
          <a:xfrm>
            <a:off x="5431536"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QR ticket</a:t>
            </a:r>
            <a:endParaRPr lang="en-US" sz="1600" dirty="0"/>
          </a:p>
        </p:txBody>
      </p:sp>
      <p:sp>
        <p:nvSpPr>
          <p:cNvPr id="22" name="Text 16"/>
          <p:cNvSpPr txBox="1"/>
          <p:nvPr/>
        </p:nvSpPr>
        <p:spPr>
          <a:xfrm>
            <a:off x="5431536"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booking confirmed</a:t>
            </a:r>
            <a:endParaRPr lang="en-US" sz="1250" dirty="0"/>
          </a:p>
        </p:txBody>
      </p:sp>
      <p:sp>
        <p:nvSpPr>
          <p:cNvPr id="23" name="Shape 17"/>
          <p:cNvSpPr/>
          <p:nvPr/>
        </p:nvSpPr>
        <p:spPr>
          <a:xfrm>
            <a:off x="6693408" y="2258568"/>
            <a:ext cx="310896" cy="0"/>
          </a:xfrm>
          <a:prstGeom prst="line">
            <a:avLst/>
          </a:prstGeom>
          <a:noFill/>
          <a:ln w="25400">
            <a:solidFill>
              <a:srgbClr val="C7D2FE"/>
            </a:solidFill>
            <a:prstDash val="solid"/>
            <a:tailEnd type="triangle"/>
          </a:ln>
        </p:spPr>
      </p:sp>
      <p:sp>
        <p:nvSpPr>
          <p:cNvPr id="24" name="Shape 18"/>
          <p:cNvSpPr/>
          <p:nvPr/>
        </p:nvSpPr>
        <p:spPr>
          <a:xfrm>
            <a:off x="7379208" y="1828800"/>
            <a:ext cx="868680" cy="868680"/>
          </a:xfrm>
          <a:prstGeom prst="ellipse">
            <a:avLst/>
          </a:prstGeom>
          <a:solidFill>
            <a:srgbClr val="F59E0B"/>
          </a:solidFill>
          <a:ln w="12700">
            <a:solidFill>
              <a:srgbClr val="F59E0B"/>
            </a:solidFill>
            <a:prstDash val="solid"/>
          </a:ln>
        </p:spPr>
      </p:sp>
      <p:pic>
        <p:nvPicPr>
          <p:cNvPr id="25" name="Image 4" descr="preencoded.png">    </p:cNvPr>
          <p:cNvPicPr>
            <a:picLocks noChangeAspect="1"/>
          </p:cNvPicPr>
          <p:nvPr/>
        </p:nvPicPr>
        <p:blipFill>
          <a:blip r:embed="rId5"/>
          <a:stretch>
            <a:fillRect/>
          </a:stretch>
        </p:blipFill>
        <p:spPr>
          <a:xfrm>
            <a:off x="7587691" y="2037283"/>
            <a:ext cx="451714" cy="451714"/>
          </a:xfrm>
          <a:prstGeom prst="rect">
            <a:avLst/>
          </a:prstGeom>
        </p:spPr>
      </p:pic>
      <p:sp>
        <p:nvSpPr>
          <p:cNvPr id="26" name="Text 19"/>
          <p:cNvSpPr txBox="1"/>
          <p:nvPr/>
        </p:nvSpPr>
        <p:spPr>
          <a:xfrm>
            <a:off x="7059168"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Gate</a:t>
            </a:r>
            <a:endParaRPr lang="en-US" sz="1600" dirty="0"/>
          </a:p>
        </p:txBody>
      </p:sp>
      <p:sp>
        <p:nvSpPr>
          <p:cNvPr id="27" name="Text 20"/>
          <p:cNvSpPr txBox="1"/>
          <p:nvPr/>
        </p:nvSpPr>
        <p:spPr>
          <a:xfrm>
            <a:off x="7059168"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scanned once</a:t>
            </a:r>
            <a:endParaRPr lang="en-US" sz="1250" dirty="0"/>
          </a:p>
        </p:txBody>
      </p:sp>
      <p:sp>
        <p:nvSpPr>
          <p:cNvPr id="28" name="Shape 21"/>
          <p:cNvSpPr/>
          <p:nvPr/>
        </p:nvSpPr>
        <p:spPr>
          <a:xfrm>
            <a:off x="8321040" y="2258568"/>
            <a:ext cx="310896" cy="0"/>
          </a:xfrm>
          <a:prstGeom prst="line">
            <a:avLst/>
          </a:prstGeom>
          <a:noFill/>
          <a:ln w="25400">
            <a:solidFill>
              <a:srgbClr val="C7D2FE"/>
            </a:solidFill>
            <a:prstDash val="solid"/>
            <a:tailEnd type="triangle"/>
          </a:ln>
        </p:spPr>
      </p:sp>
      <p:sp>
        <p:nvSpPr>
          <p:cNvPr id="29" name="Shape 22"/>
          <p:cNvSpPr/>
          <p:nvPr/>
        </p:nvSpPr>
        <p:spPr>
          <a:xfrm>
            <a:off x="9006840" y="1828800"/>
            <a:ext cx="868680" cy="868680"/>
          </a:xfrm>
          <a:prstGeom prst="ellipse">
            <a:avLst/>
          </a:prstGeom>
          <a:solidFill>
            <a:srgbClr val="4F46E5"/>
          </a:solidFill>
          <a:ln w="12700">
            <a:solidFill>
              <a:srgbClr val="4F46E5"/>
            </a:solidFill>
            <a:prstDash val="solid"/>
          </a:ln>
        </p:spPr>
      </p:sp>
      <p:pic>
        <p:nvPicPr>
          <p:cNvPr id="30" name="Image 5" descr="preencoded.png">    </p:cNvPr>
          <p:cNvPicPr>
            <a:picLocks noChangeAspect="1"/>
          </p:cNvPicPr>
          <p:nvPr/>
        </p:nvPicPr>
        <p:blipFill>
          <a:blip r:embed="rId6"/>
          <a:stretch>
            <a:fillRect/>
          </a:stretch>
        </p:blipFill>
        <p:spPr>
          <a:xfrm>
            <a:off x="9215323" y="2037283"/>
            <a:ext cx="451714" cy="451714"/>
          </a:xfrm>
          <a:prstGeom prst="rect">
            <a:avLst/>
          </a:prstGeom>
        </p:spPr>
      </p:pic>
      <p:sp>
        <p:nvSpPr>
          <p:cNvPr id="31" name="Text 23"/>
          <p:cNvSpPr txBox="1"/>
          <p:nvPr/>
        </p:nvSpPr>
        <p:spPr>
          <a:xfrm>
            <a:off x="8686800"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Certificate</a:t>
            </a:r>
            <a:endParaRPr lang="en-US" sz="1600" dirty="0"/>
          </a:p>
        </p:txBody>
      </p:sp>
      <p:sp>
        <p:nvSpPr>
          <p:cNvPr id="32" name="Text 24"/>
          <p:cNvSpPr txBox="1"/>
          <p:nvPr/>
        </p:nvSpPr>
        <p:spPr>
          <a:xfrm>
            <a:off x="8686800"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PDF after event</a:t>
            </a:r>
            <a:endParaRPr lang="en-US" sz="1250" dirty="0"/>
          </a:p>
        </p:txBody>
      </p:sp>
      <p:sp>
        <p:nvSpPr>
          <p:cNvPr id="33" name="Shape 25"/>
          <p:cNvSpPr/>
          <p:nvPr/>
        </p:nvSpPr>
        <p:spPr>
          <a:xfrm>
            <a:off x="9948672" y="2258568"/>
            <a:ext cx="310896" cy="0"/>
          </a:xfrm>
          <a:prstGeom prst="line">
            <a:avLst/>
          </a:prstGeom>
          <a:noFill/>
          <a:ln w="25400">
            <a:solidFill>
              <a:srgbClr val="C7D2FE"/>
            </a:solidFill>
            <a:prstDash val="solid"/>
            <a:tailEnd type="triangle"/>
          </a:ln>
        </p:spPr>
      </p:sp>
      <p:sp>
        <p:nvSpPr>
          <p:cNvPr id="34" name="Shape 26"/>
          <p:cNvSpPr/>
          <p:nvPr/>
        </p:nvSpPr>
        <p:spPr>
          <a:xfrm>
            <a:off x="10634472" y="1828800"/>
            <a:ext cx="868680" cy="868680"/>
          </a:xfrm>
          <a:prstGeom prst="ellipse">
            <a:avLst/>
          </a:prstGeom>
          <a:solidFill>
            <a:srgbClr val="4F46E5"/>
          </a:solidFill>
          <a:ln w="12700">
            <a:solidFill>
              <a:srgbClr val="4F46E5"/>
            </a:solidFill>
            <a:prstDash val="solid"/>
          </a:ln>
        </p:spPr>
      </p:sp>
      <p:pic>
        <p:nvPicPr>
          <p:cNvPr id="35" name="Image 6" descr="preencoded.png">    </p:cNvPr>
          <p:cNvPicPr>
            <a:picLocks noChangeAspect="1"/>
          </p:cNvPicPr>
          <p:nvPr/>
        </p:nvPicPr>
        <p:blipFill>
          <a:blip r:embed="rId7"/>
          <a:stretch>
            <a:fillRect/>
          </a:stretch>
        </p:blipFill>
        <p:spPr>
          <a:xfrm>
            <a:off x="10842955" y="2037283"/>
            <a:ext cx="451714" cy="451714"/>
          </a:xfrm>
          <a:prstGeom prst="rect">
            <a:avLst/>
          </a:prstGeom>
        </p:spPr>
      </p:pic>
      <p:sp>
        <p:nvSpPr>
          <p:cNvPr id="36" name="Text 27"/>
          <p:cNvSpPr txBox="1"/>
          <p:nvPr/>
        </p:nvSpPr>
        <p:spPr>
          <a:xfrm>
            <a:off x="10314432"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Feedback</a:t>
            </a:r>
            <a:endParaRPr lang="en-US" sz="1600" dirty="0"/>
          </a:p>
        </p:txBody>
      </p:sp>
      <p:sp>
        <p:nvSpPr>
          <p:cNvPr id="37" name="Text 28"/>
          <p:cNvSpPr txBox="1"/>
          <p:nvPr/>
        </p:nvSpPr>
        <p:spPr>
          <a:xfrm>
            <a:off x="10314432"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1-5 stars</a:t>
            </a:r>
            <a:endParaRPr lang="en-US" sz="1250" dirty="0"/>
          </a:p>
        </p:txBody>
      </p:sp>
      <p:sp>
        <p:nvSpPr>
          <p:cNvPr id="38" name="Shape 29"/>
          <p:cNvSpPr/>
          <p:nvPr/>
        </p:nvSpPr>
        <p:spPr>
          <a:xfrm>
            <a:off x="548640" y="3931920"/>
            <a:ext cx="11064240" cy="2011680"/>
          </a:xfrm>
          <a:prstGeom prst="roundRect">
            <a:avLst>
              <a:gd name="adj" fmla="val 5455"/>
            </a:avLst>
          </a:prstGeom>
          <a:solidFill>
            <a:srgbClr val="EEF2FF"/>
          </a:solidFill>
          <a:ln w="12700">
            <a:solidFill>
              <a:srgbClr val="EEF2FF"/>
            </a:solidFill>
            <a:prstDash val="solid"/>
          </a:ln>
        </p:spPr>
      </p:sp>
      <p:sp>
        <p:nvSpPr>
          <p:cNvPr id="39" name="Text 30"/>
          <p:cNvSpPr txBox="1"/>
          <p:nvPr/>
        </p:nvSpPr>
        <p:spPr>
          <a:xfrm>
            <a:off x="868680" y="4114800"/>
            <a:ext cx="548640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What happens if...</a:t>
            </a:r>
            <a:endParaRPr lang="en-US" sz="1600" dirty="0"/>
          </a:p>
        </p:txBody>
      </p:sp>
      <p:sp>
        <p:nvSpPr>
          <p:cNvPr id="40" name="Text 31"/>
          <p:cNvSpPr txBox="1"/>
          <p:nvPr/>
        </p:nvSpPr>
        <p:spPr>
          <a:xfrm>
            <a:off x="868680" y="4526280"/>
            <a:ext cx="10424160" cy="132588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event is sold out? → join the waitlist ("You are #3"). When someone cancels, the seats are kept 30 minutes for the next student, who gets an email and a bell notification.</a:t>
            </a:r>
            <a:endParaRPr lang="en-US" sz="1350" dirty="0"/>
          </a:p>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student does not pay? → a job running every minute frees the held seats after 10 minutes.</a:t>
            </a:r>
            <a:endParaRPr lang="en-US" sz="1350" dirty="0"/>
          </a:p>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payment arrives after the hold ran out? → the seats are taken again if still free, otherwise the money is refunded.</a:t>
            </a:r>
            <a:endParaRPr lang="en-US" sz="1350" dirty="0"/>
          </a:p>
        </p:txBody>
      </p:sp>
      <p:sp>
        <p:nvSpPr>
          <p:cNvPr id="41" name="Text 3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1: Ravi books the 24-Hour Hackathon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Screens from the real running application</a:t>
            </a:r>
            <a:endParaRPr lang="en-US" sz="1600" dirty="0"/>
          </a:p>
        </p:txBody>
      </p:sp>
      <p:sp>
        <p:nvSpPr>
          <p:cNvPr id="4" name="Shape 2"/>
          <p:cNvSpPr/>
          <p:nvPr/>
        </p:nvSpPr>
        <p:spPr>
          <a:xfrm>
            <a:off x="49377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05-event-details.png">    </p:cNvPr>
          <p:cNvPicPr>
            <a:picLocks noChangeAspect="1"/>
          </p:cNvPicPr>
          <p:nvPr/>
        </p:nvPicPr>
        <p:blipFill>
          <a:blip r:embed="rId1"/>
          <a:stretch>
            <a:fillRect/>
          </a:stretch>
        </p:blipFill>
        <p:spPr>
          <a:xfrm>
            <a:off x="548640" y="1783080"/>
            <a:ext cx="3520440" cy="1377387"/>
          </a:xfrm>
          <a:prstGeom prst="rect">
            <a:avLst/>
          </a:prstGeom>
        </p:spPr>
      </p:pic>
      <p:sp>
        <p:nvSpPr>
          <p:cNvPr id="6" name="Text 3"/>
          <p:cNvSpPr txBox="1"/>
          <p:nvPr/>
        </p:nvSpPr>
        <p:spPr>
          <a:xfrm>
            <a:off x="54864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1. Live seat count, choose tickets</a:t>
            </a:r>
            <a:endParaRPr lang="en-US" sz="1500" dirty="0"/>
          </a:p>
        </p:txBody>
      </p:sp>
      <p:sp>
        <p:nvSpPr>
          <p:cNvPr id="7" name="Shape 4"/>
          <p:cNvSpPr/>
          <p:nvPr/>
        </p:nvSpPr>
        <p:spPr>
          <a:xfrm>
            <a:off x="428853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07-checkout-hold.png">    </p:cNvPr>
          <p:cNvPicPr>
            <a:picLocks noChangeAspect="1"/>
          </p:cNvPicPr>
          <p:nvPr/>
        </p:nvPicPr>
        <p:blipFill>
          <a:blip r:embed="rId2"/>
          <a:stretch>
            <a:fillRect/>
          </a:stretch>
        </p:blipFill>
        <p:spPr>
          <a:xfrm>
            <a:off x="4343400" y="1783080"/>
            <a:ext cx="3520440" cy="1377387"/>
          </a:xfrm>
          <a:prstGeom prst="rect">
            <a:avLst/>
          </a:prstGeom>
        </p:spPr>
      </p:pic>
      <p:sp>
        <p:nvSpPr>
          <p:cNvPr id="9" name="Text 5"/>
          <p:cNvSpPr txBox="1"/>
          <p:nvPr/>
        </p:nvSpPr>
        <p:spPr>
          <a:xfrm>
            <a:off x="434340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2. Seat held - server-side timer</a:t>
            </a:r>
            <a:endParaRPr lang="en-US" sz="1500" dirty="0"/>
          </a:p>
        </p:txBody>
      </p:sp>
      <p:sp>
        <p:nvSpPr>
          <p:cNvPr id="10" name="Shape 6"/>
          <p:cNvSpPr/>
          <p:nvPr/>
        </p:nvSpPr>
        <p:spPr>
          <a:xfrm>
            <a:off x="808329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11" name="Image 2" descr="D:/Java_FullStack_Journey/02_EventHub_Practice_Project/Showcase/screenshots/11-qr-ticket.png">    </p:cNvPr>
          <p:cNvPicPr>
            <a:picLocks noChangeAspect="1"/>
          </p:cNvPicPr>
          <p:nvPr/>
        </p:nvPicPr>
        <p:blipFill>
          <a:blip r:embed="rId3"/>
          <a:stretch>
            <a:fillRect/>
          </a:stretch>
        </p:blipFill>
        <p:spPr>
          <a:xfrm>
            <a:off x="8138160" y="1783080"/>
            <a:ext cx="3520440" cy="1377387"/>
          </a:xfrm>
          <a:prstGeom prst="rect">
            <a:avLst/>
          </a:prstGeom>
        </p:spPr>
      </p:pic>
      <p:sp>
        <p:nvSpPr>
          <p:cNvPr id="12" name="Text 7"/>
          <p:cNvSpPr txBox="1"/>
          <p:nvPr/>
        </p:nvSpPr>
        <p:spPr>
          <a:xfrm>
            <a:off x="813816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3. Paid → QR ticket</a:t>
            </a:r>
            <a:endParaRPr lang="en-US" sz="1500" dirty="0"/>
          </a:p>
        </p:txBody>
      </p:sp>
      <p:sp>
        <p:nvSpPr>
          <p:cNvPr id="13" name="Shape 8"/>
          <p:cNvSpPr/>
          <p:nvPr/>
        </p:nvSpPr>
        <p:spPr>
          <a:xfrm>
            <a:off x="548640" y="4069080"/>
            <a:ext cx="11064240" cy="1691640"/>
          </a:xfrm>
          <a:prstGeom prst="roundRect">
            <a:avLst>
              <a:gd name="adj" fmla="val 6486"/>
            </a:avLst>
          </a:prstGeom>
          <a:solidFill>
            <a:srgbClr val="FEF3C7"/>
          </a:solidFill>
          <a:ln w="12700">
            <a:solidFill>
              <a:srgbClr val="FEF3C7"/>
            </a:solidFill>
            <a:prstDash val="solid"/>
          </a:ln>
        </p:spPr>
      </p:sp>
      <p:sp>
        <p:nvSpPr>
          <p:cNvPr id="14" name="Text 9"/>
          <p:cNvSpPr txBox="1"/>
          <p:nvPr/>
        </p:nvSpPr>
        <p:spPr>
          <a:xfrm>
            <a:off x="868680" y="4251960"/>
            <a:ext cx="1042416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Why two students can never get the same last seat</a:t>
            </a:r>
            <a:endParaRPr lang="en-US" sz="1600" dirty="0"/>
          </a:p>
        </p:txBody>
      </p:sp>
      <p:sp>
        <p:nvSpPr>
          <p:cNvPr id="15" name="Text 10"/>
          <p:cNvSpPr txBox="1"/>
          <p:nvPr/>
        </p:nvSpPr>
        <p:spPr>
          <a:xfrm>
            <a:off x="868680" y="4663440"/>
            <a:ext cx="1042416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save of an event carries its version number. If Ravi and Asha both read "1 seat left, version 7", the first save succeeds (version 8) and the second is refused and retried with fresh data - it now sees 0 seats. A test starts 100 threads for 10 seats: exactly 10 bookings succeed, every time. Without @Version the same test sold 96-99 tickets.</a:t>
            </a:r>
            <a:endParaRPr lang="en-US" sz="1400" dirty="0"/>
          </a:p>
        </p:txBody>
      </p:sp>
      <p:sp>
        <p:nvSpPr>
          <p:cNvPr id="16" name="Text 1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2: the gate - each ticket works once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Volunteer Priya scans Ravi's QR code (camera or typed code)</a:t>
            </a:r>
            <a:endParaRPr lang="en-US" sz="1600" dirty="0"/>
          </a:p>
        </p:txBody>
      </p:sp>
      <p:sp>
        <p:nvSpPr>
          <p:cNvPr id="4" name="Shape 2"/>
          <p:cNvSpPr/>
          <p:nvPr/>
        </p:nvSpPr>
        <p:spPr>
          <a:xfrm>
            <a:off x="49377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15-gate-let-in.png">    </p:cNvPr>
          <p:cNvPicPr>
            <a:picLocks noChangeAspect="1"/>
          </p:cNvPicPr>
          <p:nvPr/>
        </p:nvPicPr>
        <p:blipFill>
          <a:blip r:embed="rId1"/>
          <a:stretch>
            <a:fillRect/>
          </a:stretch>
        </p:blipFill>
        <p:spPr>
          <a:xfrm>
            <a:off x="548640" y="1737360"/>
            <a:ext cx="5394960" cy="2110801"/>
          </a:xfrm>
          <a:prstGeom prst="rect">
            <a:avLst/>
          </a:prstGeom>
        </p:spPr>
      </p:pic>
      <p:sp>
        <p:nvSpPr>
          <p:cNvPr id="6" name="Text 3"/>
          <p:cNvSpPr txBox="1"/>
          <p:nvPr/>
        </p:nvSpPr>
        <p:spPr>
          <a:xfrm>
            <a:off x="548640" y="3985321"/>
            <a:ext cx="5394960" cy="365760"/>
          </a:xfrm>
          <a:prstGeom prst="rect">
            <a:avLst/>
          </a:prstGeom>
          <a:noFill/>
          <a:ln/>
        </p:spPr>
        <p:txBody>
          <a:bodyPr wrap="square" lIns="0" tIns="0" rIns="0" bIns="0" rtlCol="0" anchor="ctr"/>
          <a:lstStyle/>
          <a:p>
            <a:pPr indent="0" marL="0">
              <a:buNone/>
            </a:pPr>
            <a:r>
              <a:rPr lang="en-US" sz="1600" b="1" dirty="0">
                <a:solidFill>
                  <a:srgbClr val="15803D"/>
                </a:solidFill>
                <a:latin typeface="Arial" pitchFamily="34" charset="0"/>
                <a:ea typeface="Arial" pitchFamily="34" charset="-122"/>
                <a:cs typeface="Arial" pitchFamily="34" charset="-120"/>
              </a:rPr>
              <a:t>First scan → LET IN</a:t>
            </a:r>
            <a:endParaRPr lang="en-US" sz="1600" dirty="0"/>
          </a:p>
        </p:txBody>
      </p:sp>
      <p:sp>
        <p:nvSpPr>
          <p:cNvPr id="7" name="Shape 4"/>
          <p:cNvSpPr/>
          <p:nvPr/>
        </p:nvSpPr>
        <p:spPr>
          <a:xfrm>
            <a:off x="616305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16-gate-already-used.png">    </p:cNvPr>
          <p:cNvPicPr>
            <a:picLocks noChangeAspect="1"/>
          </p:cNvPicPr>
          <p:nvPr/>
        </p:nvPicPr>
        <p:blipFill>
          <a:blip r:embed="rId2"/>
          <a:stretch>
            <a:fillRect/>
          </a:stretch>
        </p:blipFill>
        <p:spPr>
          <a:xfrm>
            <a:off x="6217920" y="1737360"/>
            <a:ext cx="5394960" cy="2110801"/>
          </a:xfrm>
          <a:prstGeom prst="rect">
            <a:avLst/>
          </a:prstGeom>
        </p:spPr>
      </p:pic>
      <p:sp>
        <p:nvSpPr>
          <p:cNvPr id="9" name="Text 5"/>
          <p:cNvSpPr txBox="1"/>
          <p:nvPr/>
        </p:nvSpPr>
        <p:spPr>
          <a:xfrm>
            <a:off x="6217920" y="3985321"/>
            <a:ext cx="5394960" cy="365760"/>
          </a:xfrm>
          <a:prstGeom prst="rect">
            <a:avLst/>
          </a:prstGeom>
          <a:noFill/>
          <a:ln/>
        </p:spPr>
        <p:txBody>
          <a:bodyPr wrap="square" lIns="0" tIns="0" rIns="0" bIns="0" rtlCol="0" anchor="ctr"/>
          <a:lstStyle/>
          <a:p>
            <a:pPr indent="0" marL="0">
              <a:buNone/>
            </a:pPr>
            <a:r>
              <a:rPr lang="en-US" sz="1600" b="1" dirty="0">
                <a:solidFill>
                  <a:srgbClr val="B91C1C"/>
                </a:solidFill>
                <a:latin typeface="Arial" pitchFamily="34" charset="0"/>
                <a:ea typeface="Arial" pitchFamily="34" charset="-122"/>
                <a:cs typeface="Arial" pitchFamily="34" charset="-120"/>
              </a:rPr>
              <a:t>Same ticket again → ALREADY USED (when, by whom)</a:t>
            </a:r>
            <a:endParaRPr lang="en-US" sz="1600" dirty="0"/>
          </a:p>
        </p:txBody>
      </p:sp>
      <p:sp>
        <p:nvSpPr>
          <p:cNvPr id="10" name="Shape 6"/>
          <p:cNvSpPr/>
          <p:nvPr/>
        </p:nvSpPr>
        <p:spPr>
          <a:xfrm>
            <a:off x="548640" y="4572000"/>
            <a:ext cx="11064240" cy="1417320"/>
          </a:xfrm>
          <a:prstGeom prst="roundRect">
            <a:avLst>
              <a:gd name="adj" fmla="val 7742"/>
            </a:avLst>
          </a:prstGeom>
          <a:solidFill>
            <a:srgbClr val="EEF2FF"/>
          </a:solidFill>
          <a:ln w="12700">
            <a:solidFill>
              <a:srgbClr val="EEF2FF"/>
            </a:solidFill>
            <a:prstDash val="solid"/>
          </a:ln>
        </p:spPr>
      </p:sp>
      <p:sp>
        <p:nvSpPr>
          <p:cNvPr id="11" name="Text 7"/>
          <p:cNvSpPr txBox="1"/>
          <p:nvPr/>
        </p:nvSpPr>
        <p:spPr>
          <a:xfrm>
            <a:off x="868680" y="4754880"/>
            <a:ext cx="10424160" cy="10972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One SQL statement does check-and-mark together: </a:t>
            </a:r>
            <a:pPr indent="0" marL="0">
              <a:buNone/>
            </a:pPr>
            <a:r>
              <a:rPr lang="en-US" sz="1400" dirty="0">
                <a:solidFill>
                  <a:srgbClr val="4F46E5"/>
                </a:solidFill>
                <a:latin typeface="Courier New" pitchFamily="34" charset="0"/>
                <a:ea typeface="Courier New" pitchFamily="34" charset="-122"/>
                <a:cs typeface="Courier New" pitchFamily="34" charset="-120"/>
              </a:rPr>
              <a:t>UPDATE bookings SET checked_in_at = now WHERE id = ? AND checked_in_at IS NULL</a:t>
            </a:r>
            <a:pPr indent="0" marL="0">
              <a:buNone/>
            </a:pPr>
            <a:r>
              <a:rPr lang="en-US" sz="1400" dirty="0">
                <a:solidFill>
                  <a:srgbClr val="1F2937"/>
                </a:solidFill>
                <a:latin typeface="Calibri" pitchFamily="34" charset="0"/>
                <a:ea typeface="Calibri" pitchFamily="34" charset="-122"/>
                <a:cs typeface="Calibri" pitchFamily="34" charset="-120"/>
              </a:rPr>
              <a:t>. If it changed 1 row → VALID; 0 rows → someone was faster → ALREADY USED. A test with 20 gates scanning the same ticket at the same moment gets exactly one VALID.</a:t>
            </a:r>
            <a:endParaRPr lang="en-US" sz="1400" dirty="0"/>
          </a:p>
        </p:txBody>
      </p:sp>
      <p:sp>
        <p:nvSpPr>
          <p:cNvPr id="12" name="Text 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3: certificates anyone can verify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Only for students who were scanned at the gate, after the event ends</a:t>
            </a:r>
            <a:endParaRPr lang="en-US" sz="1600" dirty="0"/>
          </a:p>
        </p:txBody>
      </p:sp>
      <p:sp>
        <p:nvSpPr>
          <p:cNvPr id="4" name="Shape 2"/>
          <p:cNvSpPr/>
          <p:nvPr/>
        </p:nvSpPr>
        <p:spPr>
          <a:xfrm>
            <a:off x="49377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14-certificate.png">    </p:cNvPr>
          <p:cNvPicPr>
            <a:picLocks noChangeAspect="1"/>
          </p:cNvPicPr>
          <p:nvPr/>
        </p:nvPicPr>
        <p:blipFill>
          <a:blip r:embed="rId1"/>
          <a:stretch>
            <a:fillRect/>
          </a:stretch>
        </p:blipFill>
        <p:spPr>
          <a:xfrm>
            <a:off x="548640" y="1737360"/>
            <a:ext cx="5394960" cy="2110801"/>
          </a:xfrm>
          <a:prstGeom prst="rect">
            <a:avLst/>
          </a:prstGeom>
        </p:spPr>
      </p:pic>
      <p:sp>
        <p:nvSpPr>
          <p:cNvPr id="6" name="Text 3"/>
          <p:cNvSpPr txBox="1"/>
          <p:nvPr/>
        </p:nvSpPr>
        <p:spPr>
          <a:xfrm>
            <a:off x="548640" y="3985321"/>
            <a:ext cx="539496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PDF drawn by the server (OpenPDF), with a QR code</a:t>
            </a:r>
            <a:endParaRPr lang="en-US" sz="1500" dirty="0"/>
          </a:p>
        </p:txBody>
      </p:sp>
      <p:sp>
        <p:nvSpPr>
          <p:cNvPr id="7" name="Shape 4"/>
          <p:cNvSpPr/>
          <p:nvPr/>
        </p:nvSpPr>
        <p:spPr>
          <a:xfrm>
            <a:off x="616305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17-verify-public.png">    </p:cNvPr>
          <p:cNvPicPr>
            <a:picLocks noChangeAspect="1"/>
          </p:cNvPicPr>
          <p:nvPr/>
        </p:nvPicPr>
        <p:blipFill>
          <a:blip r:embed="rId2"/>
          <a:stretch>
            <a:fillRect/>
          </a:stretch>
        </p:blipFill>
        <p:spPr>
          <a:xfrm>
            <a:off x="6217920" y="1737360"/>
            <a:ext cx="5394960" cy="2110801"/>
          </a:xfrm>
          <a:prstGeom prst="rect">
            <a:avLst/>
          </a:prstGeom>
        </p:spPr>
      </p:pic>
      <p:sp>
        <p:nvSpPr>
          <p:cNvPr id="9" name="Text 5"/>
          <p:cNvSpPr txBox="1"/>
          <p:nvPr/>
        </p:nvSpPr>
        <p:spPr>
          <a:xfrm>
            <a:off x="6217920" y="3985321"/>
            <a:ext cx="539496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Public verify page - no login needed</a:t>
            </a:r>
            <a:endParaRPr lang="en-US" sz="1500" dirty="0"/>
          </a:p>
        </p:txBody>
      </p:sp>
      <p:sp>
        <p:nvSpPr>
          <p:cNvPr id="10" name="Shape 6"/>
          <p:cNvSpPr/>
          <p:nvPr/>
        </p:nvSpPr>
        <p:spPr>
          <a:xfrm>
            <a:off x="548640" y="4983480"/>
            <a:ext cx="548640" cy="548640"/>
          </a:xfrm>
          <a:prstGeom prst="ellipse">
            <a:avLst/>
          </a:prstGeom>
          <a:solidFill>
            <a:srgbClr val="4F46E5"/>
          </a:solidFill>
          <a:ln w="12700">
            <a:solidFill>
              <a:srgbClr val="4F46E5"/>
            </a:solidFill>
            <a:prstDash val="solid"/>
          </a:ln>
        </p:spPr>
      </p:sp>
      <p:pic>
        <p:nvPicPr>
          <p:cNvPr id="11" name="Image 2" descr="preencoded.png">    </p:cNvPr>
          <p:cNvPicPr>
            <a:picLocks noChangeAspect="1"/>
          </p:cNvPicPr>
          <p:nvPr/>
        </p:nvPicPr>
        <p:blipFill>
          <a:blip r:embed="rId3"/>
          <a:stretch>
            <a:fillRect/>
          </a:stretch>
        </p:blipFill>
        <p:spPr>
          <a:xfrm>
            <a:off x="680314" y="5115154"/>
            <a:ext cx="285293" cy="285293"/>
          </a:xfrm>
          <a:prstGeom prst="rect">
            <a:avLst/>
          </a:prstGeom>
        </p:spPr>
      </p:pic>
      <p:sp>
        <p:nvSpPr>
          <p:cNvPr id="12" name="Text 7"/>
          <p:cNvSpPr txBox="1"/>
          <p:nvPr/>
        </p:nvSpPr>
        <p:spPr>
          <a:xfrm>
            <a:off x="123444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Random number EH-2026-BEQR4Y79 - cannot be guessed</a:t>
            </a:r>
            <a:endParaRPr lang="en-US" sz="1400" dirty="0"/>
          </a:p>
        </p:txBody>
      </p:sp>
      <p:sp>
        <p:nvSpPr>
          <p:cNvPr id="13" name="Shape 8"/>
          <p:cNvSpPr/>
          <p:nvPr/>
        </p:nvSpPr>
        <p:spPr>
          <a:xfrm>
            <a:off x="4297680" y="4983480"/>
            <a:ext cx="548640" cy="548640"/>
          </a:xfrm>
          <a:prstGeom prst="ellipse">
            <a:avLst/>
          </a:prstGeom>
          <a:solidFill>
            <a:srgbClr val="4F46E5"/>
          </a:solidFill>
          <a:ln w="12700">
            <a:solidFill>
              <a:srgbClr val="4F46E5"/>
            </a:solidFill>
            <a:prstDash val="solid"/>
          </a:ln>
        </p:spPr>
      </p:sp>
      <p:pic>
        <p:nvPicPr>
          <p:cNvPr id="14" name="Image 3" descr="preencoded.png">    </p:cNvPr>
          <p:cNvPicPr>
            <a:picLocks noChangeAspect="1"/>
          </p:cNvPicPr>
          <p:nvPr/>
        </p:nvPicPr>
        <p:blipFill>
          <a:blip r:embed="rId4"/>
          <a:stretch>
            <a:fillRect/>
          </a:stretch>
        </p:blipFill>
        <p:spPr>
          <a:xfrm>
            <a:off x="4429354" y="5115154"/>
            <a:ext cx="285293" cy="285293"/>
          </a:xfrm>
          <a:prstGeom prst="rect">
            <a:avLst/>
          </a:prstGeom>
        </p:spPr>
      </p:pic>
      <p:sp>
        <p:nvSpPr>
          <p:cNvPr id="15" name="Text 9"/>
          <p:cNvSpPr txBox="1"/>
          <p:nvPr/>
        </p:nvSpPr>
        <p:spPr>
          <a:xfrm>
            <a:off x="498348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Checked-in + event over = certificate</a:t>
            </a:r>
            <a:endParaRPr lang="en-US" sz="1400" dirty="0"/>
          </a:p>
        </p:txBody>
      </p:sp>
      <p:sp>
        <p:nvSpPr>
          <p:cNvPr id="16" name="Shape 10"/>
          <p:cNvSpPr/>
          <p:nvPr/>
        </p:nvSpPr>
        <p:spPr>
          <a:xfrm>
            <a:off x="8046720" y="4983480"/>
            <a:ext cx="548640" cy="548640"/>
          </a:xfrm>
          <a:prstGeom prst="ellipse">
            <a:avLst/>
          </a:prstGeom>
          <a:solidFill>
            <a:srgbClr val="4F46E5"/>
          </a:solidFill>
          <a:ln w="12700">
            <a:solidFill>
              <a:srgbClr val="4F46E5"/>
            </a:solidFill>
            <a:prstDash val="solid"/>
          </a:ln>
        </p:spPr>
      </p:sp>
      <p:pic>
        <p:nvPicPr>
          <p:cNvPr id="17" name="Image 4" descr="preencoded.png">    </p:cNvPr>
          <p:cNvPicPr>
            <a:picLocks noChangeAspect="1"/>
          </p:cNvPicPr>
          <p:nvPr/>
        </p:nvPicPr>
        <p:blipFill>
          <a:blip r:embed="rId5"/>
          <a:stretch>
            <a:fillRect/>
          </a:stretch>
        </p:blipFill>
        <p:spPr>
          <a:xfrm>
            <a:off x="8178394" y="5115154"/>
            <a:ext cx="285293" cy="285293"/>
          </a:xfrm>
          <a:prstGeom prst="rect">
            <a:avLst/>
          </a:prstGeom>
        </p:spPr>
      </p:pic>
      <p:sp>
        <p:nvSpPr>
          <p:cNvPr id="18" name="Text 11"/>
          <p:cNvSpPr txBox="1"/>
          <p:nvPr/>
        </p:nvSpPr>
        <p:spPr>
          <a:xfrm>
            <a:off x="873252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company checks it in seconds</a:t>
            </a:r>
            <a:endParaRPr lang="en-US" sz="1400" dirty="0"/>
          </a:p>
        </p:txBody>
      </p:sp>
      <p:sp>
        <p:nvSpPr>
          <p:cNvPr id="19" name="Text 1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4: analytics for organizers and the admin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Tickets and money per day, check-in rate and average rating</a:t>
            </a:r>
            <a:endParaRPr lang="en-US" sz="1600" dirty="0"/>
          </a:p>
        </p:txBody>
      </p:sp>
      <p:sp>
        <p:nvSpPr>
          <p:cNvPr id="4" name="Shape 2"/>
          <p:cNvSpPr/>
          <p:nvPr/>
        </p:nvSpPr>
        <p:spPr>
          <a:xfrm>
            <a:off x="493776" y="1682496"/>
            <a:ext cx="6876288" cy="2757174"/>
          </a:xfrm>
          <a:prstGeom prst="roundRect">
            <a:avLst>
              <a:gd name="adj" fmla="val 3980"/>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21-organizer-analytics.png">    </p:cNvPr>
          <p:cNvPicPr>
            <a:picLocks noChangeAspect="1"/>
          </p:cNvPicPr>
          <p:nvPr/>
        </p:nvPicPr>
        <p:blipFill>
          <a:blip r:embed="rId1"/>
          <a:stretch>
            <a:fillRect/>
          </a:stretch>
        </p:blipFill>
        <p:spPr>
          <a:xfrm>
            <a:off x="548640" y="1737360"/>
            <a:ext cx="6766560" cy="2647446"/>
          </a:xfrm>
          <a:prstGeom prst="rect">
            <a:avLst/>
          </a:prstGeom>
        </p:spPr>
      </p:pic>
      <p:sp>
        <p:nvSpPr>
          <p:cNvPr id="6" name="Text 3"/>
          <p:cNvSpPr txBox="1"/>
          <p:nvPr/>
        </p:nvSpPr>
        <p:spPr>
          <a:xfrm>
            <a:off x="7680960" y="1737360"/>
            <a:ext cx="3931920" cy="2926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Counted in the database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JPQL GROUP BY, SUM and AVG - Java gets a few small rows, not every booking.</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Cached for 60 seconds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@Cacheable + Caffeine: repeated views do not touch MySQL. Seat counts are never cached.</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Drawn with Recharts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Bar charts with hover tooltips, a table view for screen readers, light and dark colours checked for contrast.</a:t>
            </a:r>
            <a:endParaRPr lang="en-US" sz="1400" dirty="0"/>
          </a:p>
        </p:txBody>
      </p:sp>
      <p:sp>
        <p:nvSpPr>
          <p:cNvPr id="7" name="Text 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Security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page only hides buttons - the server protects every action</a:t>
            </a:r>
            <a:endParaRPr lang="en-US" sz="1600" dirty="0"/>
          </a:p>
        </p:txBody>
      </p:sp>
      <p:sp>
        <p:nvSpPr>
          <p:cNvPr id="4" name="Shape 2"/>
          <p:cNvSpPr/>
          <p:nvPr/>
        </p:nvSpPr>
        <p:spPr>
          <a:xfrm>
            <a:off x="548640" y="1645920"/>
            <a:ext cx="530352" cy="530352"/>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675924" y="1773204"/>
            <a:ext cx="275783" cy="275783"/>
          </a:xfrm>
          <a:prstGeom prst="rect">
            <a:avLst/>
          </a:prstGeom>
        </p:spPr>
      </p:pic>
      <p:sp>
        <p:nvSpPr>
          <p:cNvPr id="6" name="Text 3"/>
          <p:cNvSpPr txBox="1"/>
          <p:nvPr/>
        </p:nvSpPr>
        <p:spPr>
          <a:xfrm>
            <a:off x="1234440" y="159105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Passwords hashed with BCrypt</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never stored as plain text</a:t>
            </a:r>
            <a:endParaRPr lang="en-US" sz="1400" dirty="0"/>
          </a:p>
        </p:txBody>
      </p:sp>
      <p:sp>
        <p:nvSpPr>
          <p:cNvPr id="7" name="Shape 4"/>
          <p:cNvSpPr/>
          <p:nvPr/>
        </p:nvSpPr>
        <p:spPr>
          <a:xfrm>
            <a:off x="548640" y="2377440"/>
            <a:ext cx="530352" cy="530352"/>
          </a:xfrm>
          <a:prstGeom prst="ellipse">
            <a:avLst/>
          </a:prstGeom>
          <a:solidFill>
            <a:srgbClr val="4F46E5"/>
          </a:solidFill>
          <a:ln w="12700">
            <a:solidFill>
              <a:srgbClr val="4F46E5"/>
            </a:solidFill>
            <a:prstDash val="solid"/>
          </a:ln>
        </p:spPr>
      </p:sp>
      <p:pic>
        <p:nvPicPr>
          <p:cNvPr id="8" name="Image 1" descr="preencoded.png">    </p:cNvPr>
          <p:cNvPicPr>
            <a:picLocks noChangeAspect="1"/>
          </p:cNvPicPr>
          <p:nvPr/>
        </p:nvPicPr>
        <p:blipFill>
          <a:blip r:embed="rId2"/>
          <a:stretch>
            <a:fillRect/>
          </a:stretch>
        </p:blipFill>
        <p:spPr>
          <a:xfrm>
            <a:off x="675924" y="2504724"/>
            <a:ext cx="275783" cy="275783"/>
          </a:xfrm>
          <a:prstGeom prst="rect">
            <a:avLst/>
          </a:prstGeom>
        </p:spPr>
      </p:pic>
      <p:sp>
        <p:nvSpPr>
          <p:cNvPr id="9" name="Text 5"/>
          <p:cNvSpPr txBox="1"/>
          <p:nvPr/>
        </p:nvSpPr>
        <p:spPr>
          <a:xfrm>
            <a:off x="1234440" y="232257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JWT in an httpOnly cookie</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JavaScript cannot read it, so a script cannot steal it</a:t>
            </a:r>
            <a:endParaRPr lang="en-US" sz="1400" dirty="0"/>
          </a:p>
        </p:txBody>
      </p:sp>
      <p:sp>
        <p:nvSpPr>
          <p:cNvPr id="10" name="Shape 6"/>
          <p:cNvSpPr/>
          <p:nvPr/>
        </p:nvSpPr>
        <p:spPr>
          <a:xfrm>
            <a:off x="548640" y="3108960"/>
            <a:ext cx="530352" cy="530352"/>
          </a:xfrm>
          <a:prstGeom prst="ellipse">
            <a:avLst/>
          </a:prstGeom>
          <a:solidFill>
            <a:srgbClr val="4F46E5"/>
          </a:solidFill>
          <a:ln w="12700">
            <a:solidFill>
              <a:srgbClr val="4F46E5"/>
            </a:solidFill>
            <a:prstDash val="solid"/>
          </a:ln>
        </p:spPr>
      </p:sp>
      <p:pic>
        <p:nvPicPr>
          <p:cNvPr id="11" name="Image 2" descr="preencoded.png">    </p:cNvPr>
          <p:cNvPicPr>
            <a:picLocks noChangeAspect="1"/>
          </p:cNvPicPr>
          <p:nvPr/>
        </p:nvPicPr>
        <p:blipFill>
          <a:blip r:embed="rId3"/>
          <a:stretch>
            <a:fillRect/>
          </a:stretch>
        </p:blipFill>
        <p:spPr>
          <a:xfrm>
            <a:off x="675924" y="3236244"/>
            <a:ext cx="275783" cy="275783"/>
          </a:xfrm>
          <a:prstGeom prst="rect">
            <a:avLst/>
          </a:prstGeom>
        </p:spPr>
      </p:pic>
      <p:sp>
        <p:nvSpPr>
          <p:cNvPr id="12" name="Text 7"/>
          <p:cNvSpPr txBox="1"/>
          <p:nvPr/>
        </p:nvSpPr>
        <p:spPr>
          <a:xfrm>
            <a:off x="1234440" y="305409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CSRF protection</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other websites cannot send requests as you</a:t>
            </a:r>
            <a:endParaRPr lang="en-US" sz="1400" dirty="0"/>
          </a:p>
        </p:txBody>
      </p:sp>
      <p:sp>
        <p:nvSpPr>
          <p:cNvPr id="13" name="Shape 8"/>
          <p:cNvSpPr/>
          <p:nvPr/>
        </p:nvSpPr>
        <p:spPr>
          <a:xfrm>
            <a:off x="548640" y="3840480"/>
            <a:ext cx="530352" cy="530352"/>
          </a:xfrm>
          <a:prstGeom prst="ellipse">
            <a:avLst/>
          </a:prstGeom>
          <a:solidFill>
            <a:srgbClr val="4F46E5"/>
          </a:solidFill>
          <a:ln w="12700">
            <a:solidFill>
              <a:srgbClr val="4F46E5"/>
            </a:solidFill>
            <a:prstDash val="solid"/>
          </a:ln>
        </p:spPr>
      </p:sp>
      <p:pic>
        <p:nvPicPr>
          <p:cNvPr id="14" name="Image 3" descr="preencoded.png">    </p:cNvPr>
          <p:cNvPicPr>
            <a:picLocks noChangeAspect="1"/>
          </p:cNvPicPr>
          <p:nvPr/>
        </p:nvPicPr>
        <p:blipFill>
          <a:blip r:embed="rId4"/>
          <a:stretch>
            <a:fillRect/>
          </a:stretch>
        </p:blipFill>
        <p:spPr>
          <a:xfrm>
            <a:off x="675924" y="3967764"/>
            <a:ext cx="275783" cy="275783"/>
          </a:xfrm>
          <a:prstGeom prst="rect">
            <a:avLst/>
          </a:prstGeom>
        </p:spPr>
      </p:pic>
      <p:sp>
        <p:nvSpPr>
          <p:cNvPr id="15" name="Text 9"/>
          <p:cNvSpPr txBox="1"/>
          <p:nvPr/>
        </p:nvSpPr>
        <p:spPr>
          <a:xfrm>
            <a:off x="1234440" y="378561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Roles checked on every request</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club roles read from the database each time → 403</a:t>
            </a:r>
            <a:endParaRPr lang="en-US" sz="1400" dirty="0"/>
          </a:p>
        </p:txBody>
      </p:sp>
      <p:sp>
        <p:nvSpPr>
          <p:cNvPr id="16" name="Shape 10"/>
          <p:cNvSpPr/>
          <p:nvPr/>
        </p:nvSpPr>
        <p:spPr>
          <a:xfrm>
            <a:off x="548640" y="4572000"/>
            <a:ext cx="530352" cy="530352"/>
          </a:xfrm>
          <a:prstGeom prst="ellipse">
            <a:avLst/>
          </a:prstGeom>
          <a:solidFill>
            <a:srgbClr val="4F46E5"/>
          </a:solidFill>
          <a:ln w="12700">
            <a:solidFill>
              <a:srgbClr val="4F46E5"/>
            </a:solidFill>
            <a:prstDash val="solid"/>
          </a:ln>
        </p:spPr>
      </p:sp>
      <p:pic>
        <p:nvPicPr>
          <p:cNvPr id="17" name="Image 4" descr="preencoded.png">    </p:cNvPr>
          <p:cNvPicPr>
            <a:picLocks noChangeAspect="1"/>
          </p:cNvPicPr>
          <p:nvPr/>
        </p:nvPicPr>
        <p:blipFill>
          <a:blip r:embed="rId5"/>
          <a:stretch>
            <a:fillRect/>
          </a:stretch>
        </p:blipFill>
        <p:spPr>
          <a:xfrm>
            <a:off x="675924" y="4699284"/>
            <a:ext cx="275783" cy="275783"/>
          </a:xfrm>
          <a:prstGeom prst="rect">
            <a:avLst/>
          </a:prstGeom>
        </p:spPr>
      </p:pic>
      <p:sp>
        <p:nvSpPr>
          <p:cNvPr id="18" name="Text 11"/>
          <p:cNvSpPr txBox="1"/>
          <p:nvPr/>
        </p:nvSpPr>
        <p:spPr>
          <a:xfrm>
            <a:off x="1234440" y="451713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Login lock</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5 wrong passwords → 15 minutes locked (HTTP 429)</a:t>
            </a:r>
            <a:endParaRPr lang="en-US" sz="1400" dirty="0"/>
          </a:p>
        </p:txBody>
      </p:sp>
      <p:sp>
        <p:nvSpPr>
          <p:cNvPr id="19" name="Shape 12"/>
          <p:cNvSpPr/>
          <p:nvPr/>
        </p:nvSpPr>
        <p:spPr>
          <a:xfrm>
            <a:off x="548640" y="5303520"/>
            <a:ext cx="530352" cy="530352"/>
          </a:xfrm>
          <a:prstGeom prst="ellipse">
            <a:avLst/>
          </a:prstGeom>
          <a:solidFill>
            <a:srgbClr val="4F46E5"/>
          </a:solidFill>
          <a:ln w="12700">
            <a:solidFill>
              <a:srgbClr val="4F46E5"/>
            </a:solidFill>
            <a:prstDash val="solid"/>
          </a:ln>
        </p:spPr>
      </p:sp>
      <p:pic>
        <p:nvPicPr>
          <p:cNvPr id="20" name="Image 5" descr="preencoded.png">    </p:cNvPr>
          <p:cNvPicPr>
            <a:picLocks noChangeAspect="1"/>
          </p:cNvPicPr>
          <p:nvPr/>
        </p:nvPicPr>
        <p:blipFill>
          <a:blip r:embed="rId6"/>
          <a:stretch>
            <a:fillRect/>
          </a:stretch>
        </p:blipFill>
        <p:spPr>
          <a:xfrm>
            <a:off x="675924" y="5430804"/>
            <a:ext cx="275783" cy="275783"/>
          </a:xfrm>
          <a:prstGeom prst="rect">
            <a:avLst/>
          </a:prstGeom>
        </p:spPr>
      </p:pic>
      <p:sp>
        <p:nvSpPr>
          <p:cNvPr id="21" name="Text 13"/>
          <p:cNvSpPr txBox="1"/>
          <p:nvPr/>
        </p:nvSpPr>
        <p:spPr>
          <a:xfrm>
            <a:off x="1234440" y="524865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Audit log + admin-only tools</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Swagger and Actuator for the admin only</a:t>
            </a:r>
            <a:endParaRPr lang="en-US" sz="1400" dirty="0"/>
          </a:p>
        </p:txBody>
      </p:sp>
      <p:sp>
        <p:nvSpPr>
          <p:cNvPr id="22" name="Shape 14"/>
          <p:cNvSpPr/>
          <p:nvPr/>
        </p:nvSpPr>
        <p:spPr>
          <a:xfrm>
            <a:off x="6620256" y="1682496"/>
            <a:ext cx="5047488" cy="2041648"/>
          </a:xfrm>
          <a:prstGeom prst="roundRect">
            <a:avLst>
              <a:gd name="adj" fmla="val 5374"/>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23" name="Image 6" descr="D:/Java_FullStack_Journey/02_EventHub_Practice_Project/Showcase/screenshots/27-security-blocked.png">    </p:cNvPr>
          <p:cNvPicPr>
            <a:picLocks noChangeAspect="1"/>
          </p:cNvPicPr>
          <p:nvPr/>
        </p:nvPicPr>
        <p:blipFill>
          <a:blip r:embed="rId7"/>
          <a:stretch>
            <a:fillRect/>
          </a:stretch>
        </p:blipFill>
        <p:spPr>
          <a:xfrm>
            <a:off x="6675120" y="1737360"/>
            <a:ext cx="4937760" cy="1931920"/>
          </a:xfrm>
          <a:prstGeom prst="rect">
            <a:avLst/>
          </a:prstGeom>
        </p:spPr>
      </p:pic>
      <p:sp>
        <p:nvSpPr>
          <p:cNvPr id="24" name="Text 15"/>
          <p:cNvSpPr txBox="1"/>
          <p:nvPr/>
        </p:nvSpPr>
        <p:spPr>
          <a:xfrm>
            <a:off x="6675120" y="3852160"/>
            <a:ext cx="4937760" cy="731520"/>
          </a:xfrm>
          <a:prstGeom prst="rect">
            <a:avLst/>
          </a:prstGeom>
          <a:noFill/>
          <a:ln/>
        </p:spPr>
        <p:txBody>
          <a:bodyPr wrap="square" lIns="0" tIns="0" rIns="0" bIns="0" rtlCol="0" anchor="ctr"/>
          <a:lstStyle/>
          <a:p>
            <a:pPr indent="0" marL="0">
              <a:buNone/>
            </a:pPr>
            <a:r>
              <a:rPr lang="en-US" sz="1400" i="1" dirty="0">
                <a:solidFill>
                  <a:srgbClr val="1F2937"/>
                </a:solidFill>
                <a:latin typeface="Calibri" pitchFamily="34" charset="0"/>
                <a:ea typeface="Calibri" pitchFamily="34" charset="-122"/>
                <a:cs typeface="Calibri" pitchFamily="34" charset="-120"/>
              </a:rPr>
              <a:t>Kavya (organizer of another club) opens the admin area: blocked. The API answers 403 Forbidden too.</a:t>
            </a:r>
            <a:endParaRPr lang="en-US" sz="1400" dirty="0"/>
          </a:p>
        </p:txBody>
      </p:sp>
      <p:sp>
        <p:nvSpPr>
          <p:cNvPr id="25" name="Text 1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Testing and quality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Every push to GitHub runs all tests automatically (GitHub Actions)</a:t>
            </a:r>
            <a:endParaRPr lang="en-US" sz="1600" dirty="0"/>
          </a:p>
        </p:txBody>
      </p:sp>
      <p:sp>
        <p:nvSpPr>
          <p:cNvPr id="4" name="Shape 2"/>
          <p:cNvSpPr/>
          <p:nvPr/>
        </p:nvSpPr>
        <p:spPr>
          <a:xfrm>
            <a:off x="548640" y="1645920"/>
            <a:ext cx="3291840" cy="1234440"/>
          </a:xfrm>
          <a:prstGeom prst="roundRect">
            <a:avLst>
              <a:gd name="adj" fmla="val 8889"/>
            </a:avLst>
          </a:prstGeom>
          <a:solidFill>
            <a:srgbClr val="EEF2FF"/>
          </a:solidFill>
          <a:ln w="12700">
            <a:solidFill>
              <a:srgbClr val="EEF2FF"/>
            </a:solidFill>
            <a:prstDash val="solid"/>
          </a:ln>
        </p:spPr>
      </p:sp>
      <p:sp>
        <p:nvSpPr>
          <p:cNvPr id="5" name="Text 3"/>
          <p:cNvSpPr txBox="1"/>
          <p:nvPr/>
        </p:nvSpPr>
        <p:spPr>
          <a:xfrm>
            <a:off x="822960" y="1755648"/>
            <a:ext cx="2834640" cy="731520"/>
          </a:xfrm>
          <a:prstGeom prst="rect">
            <a:avLst/>
          </a:prstGeom>
          <a:noFill/>
          <a:ln/>
        </p:spPr>
        <p:txBody>
          <a:bodyPr wrap="square" lIns="0" tIns="0" rIns="0" bIns="0" rtlCol="0" anchor="ctr"/>
          <a:lstStyle/>
          <a:p>
            <a:pPr indent="0" marL="0">
              <a:buNone/>
            </a:pPr>
            <a:r>
              <a:rPr lang="en-US" sz="4400" b="1" dirty="0">
                <a:solidFill>
                  <a:srgbClr val="4F46E5"/>
                </a:solidFill>
                <a:latin typeface="Arial" pitchFamily="34" charset="0"/>
                <a:ea typeface="Arial" pitchFamily="34" charset="-122"/>
                <a:cs typeface="Arial" pitchFamily="34" charset="-120"/>
              </a:rPr>
              <a:t>133</a:t>
            </a:r>
            <a:endParaRPr lang="en-US" sz="4400" dirty="0"/>
          </a:p>
        </p:txBody>
      </p:sp>
      <p:sp>
        <p:nvSpPr>
          <p:cNvPr id="6" name="Text 4"/>
          <p:cNvSpPr txBox="1"/>
          <p:nvPr/>
        </p:nvSpPr>
        <p:spPr>
          <a:xfrm>
            <a:off x="822960" y="245059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backend tests</a:t>
            </a:r>
            <a:endParaRPr lang="en-US" sz="1400" dirty="0"/>
          </a:p>
        </p:txBody>
      </p:sp>
      <p:sp>
        <p:nvSpPr>
          <p:cNvPr id="7" name="Shape 5"/>
          <p:cNvSpPr/>
          <p:nvPr/>
        </p:nvSpPr>
        <p:spPr>
          <a:xfrm>
            <a:off x="548640" y="3063240"/>
            <a:ext cx="3291840" cy="1234440"/>
          </a:xfrm>
          <a:prstGeom prst="roundRect">
            <a:avLst>
              <a:gd name="adj" fmla="val 8889"/>
            </a:avLst>
          </a:prstGeom>
          <a:solidFill>
            <a:srgbClr val="EEF2FF"/>
          </a:solidFill>
          <a:ln w="12700">
            <a:solidFill>
              <a:srgbClr val="EEF2FF"/>
            </a:solidFill>
            <a:prstDash val="solid"/>
          </a:ln>
        </p:spPr>
      </p:sp>
      <p:sp>
        <p:nvSpPr>
          <p:cNvPr id="8" name="Text 6"/>
          <p:cNvSpPr txBox="1"/>
          <p:nvPr/>
        </p:nvSpPr>
        <p:spPr>
          <a:xfrm>
            <a:off x="822960" y="3172968"/>
            <a:ext cx="2834640" cy="731520"/>
          </a:xfrm>
          <a:prstGeom prst="rect">
            <a:avLst/>
          </a:prstGeom>
          <a:noFill/>
          <a:ln/>
        </p:spPr>
        <p:txBody>
          <a:bodyPr wrap="square" lIns="0" tIns="0" rIns="0" bIns="0" rtlCol="0" anchor="ctr"/>
          <a:lstStyle/>
          <a:p>
            <a:pPr indent="0" marL="0">
              <a:buNone/>
            </a:pPr>
            <a:r>
              <a:rPr lang="en-US" sz="4400" b="1" dirty="0">
                <a:solidFill>
                  <a:srgbClr val="4F46E5"/>
                </a:solidFill>
                <a:latin typeface="Arial" pitchFamily="34" charset="0"/>
                <a:ea typeface="Arial" pitchFamily="34" charset="-122"/>
                <a:cs typeface="Arial" pitchFamily="34" charset="-120"/>
              </a:rPr>
              <a:t>13</a:t>
            </a:r>
            <a:endParaRPr lang="en-US" sz="4400" dirty="0"/>
          </a:p>
        </p:txBody>
      </p:sp>
      <p:sp>
        <p:nvSpPr>
          <p:cNvPr id="9" name="Text 7"/>
          <p:cNvSpPr txBox="1"/>
          <p:nvPr/>
        </p:nvSpPr>
        <p:spPr>
          <a:xfrm>
            <a:off x="822960" y="386791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React tests</a:t>
            </a:r>
            <a:endParaRPr lang="en-US" sz="1400" dirty="0"/>
          </a:p>
        </p:txBody>
      </p:sp>
      <p:sp>
        <p:nvSpPr>
          <p:cNvPr id="10" name="Shape 8"/>
          <p:cNvSpPr/>
          <p:nvPr/>
        </p:nvSpPr>
        <p:spPr>
          <a:xfrm>
            <a:off x="548640" y="4480560"/>
            <a:ext cx="3291840" cy="1234440"/>
          </a:xfrm>
          <a:prstGeom prst="roundRect">
            <a:avLst>
              <a:gd name="adj" fmla="val 8889"/>
            </a:avLst>
          </a:prstGeom>
          <a:solidFill>
            <a:srgbClr val="FEF3C7"/>
          </a:solidFill>
          <a:ln w="12700">
            <a:solidFill>
              <a:srgbClr val="FEF3C7"/>
            </a:solidFill>
            <a:prstDash val="solid"/>
          </a:ln>
        </p:spPr>
      </p:sp>
      <p:sp>
        <p:nvSpPr>
          <p:cNvPr id="11" name="Text 9"/>
          <p:cNvSpPr txBox="1"/>
          <p:nvPr/>
        </p:nvSpPr>
        <p:spPr>
          <a:xfrm>
            <a:off x="822960" y="4590288"/>
            <a:ext cx="2834640" cy="731520"/>
          </a:xfrm>
          <a:prstGeom prst="rect">
            <a:avLst/>
          </a:prstGeom>
          <a:noFill/>
          <a:ln/>
        </p:spPr>
        <p:txBody>
          <a:bodyPr wrap="square" lIns="0" tIns="0" rIns="0" bIns="0" rtlCol="0" anchor="ctr"/>
          <a:lstStyle/>
          <a:p>
            <a:pPr indent="0" marL="0">
              <a:buNone/>
            </a:pPr>
            <a:r>
              <a:rPr lang="en-US" sz="4400" b="1" dirty="0">
                <a:solidFill>
                  <a:srgbClr val="1E1B4B"/>
                </a:solidFill>
                <a:latin typeface="Arial" pitchFamily="34" charset="0"/>
                <a:ea typeface="Arial" pitchFamily="34" charset="-122"/>
                <a:cs typeface="Arial" pitchFamily="34" charset="-120"/>
              </a:rPr>
              <a:t>91%</a:t>
            </a:r>
            <a:endParaRPr lang="en-US" sz="4400" dirty="0"/>
          </a:p>
        </p:txBody>
      </p:sp>
      <p:sp>
        <p:nvSpPr>
          <p:cNvPr id="12" name="Text 10"/>
          <p:cNvSpPr txBox="1"/>
          <p:nvPr/>
        </p:nvSpPr>
        <p:spPr>
          <a:xfrm>
            <a:off x="822960" y="528523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service coverage</a:t>
            </a:r>
            <a:endParaRPr lang="en-US" sz="1400" dirty="0"/>
          </a:p>
        </p:txBody>
      </p:sp>
      <p:graphicFrame>
        <p:nvGraphicFramePr>
          <p:cNvPr id="13" name="Chart 0" descr=""/>
          <p:cNvGraphicFramePr/>
          <p:nvPr/>
        </p:nvGraphicFramePr>
        <p:xfrm>
          <a:off x="4206240" y="1554480"/>
          <a:ext cx="7406640" cy="43891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Hard problems solved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lessons I would explain in an interview</a:t>
            </a:r>
            <a:endParaRPr lang="en-US" sz="1600" dirty="0"/>
          </a:p>
        </p:txBody>
      </p:sp>
      <p:sp>
        <p:nvSpPr>
          <p:cNvPr id="4" name="Shape 2"/>
          <p:cNvSpPr/>
          <p:nvPr/>
        </p:nvSpPr>
        <p:spPr>
          <a:xfrm>
            <a:off x="548640" y="1645920"/>
            <a:ext cx="3474720" cy="1965960"/>
          </a:xfrm>
          <a:prstGeom prst="roundRect">
            <a:avLst>
              <a:gd name="adj" fmla="val 5581"/>
            </a:avLst>
          </a:prstGeom>
          <a:solidFill>
            <a:srgbClr val="EEF2FF"/>
          </a:solidFill>
          <a:ln w="12700">
            <a:solidFill>
              <a:srgbClr val="EEF2FF"/>
            </a:solidFill>
            <a:prstDash val="solid"/>
          </a:ln>
        </p:spPr>
      </p:sp>
      <p:sp>
        <p:nvSpPr>
          <p:cNvPr id="5" name="Text 3"/>
          <p:cNvSpPr txBox="1"/>
          <p:nvPr/>
        </p:nvSpPr>
        <p:spPr>
          <a:xfrm>
            <a:off x="82296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Last seat race</a:t>
            </a:r>
            <a:endParaRPr lang="en-US" sz="1600" dirty="0"/>
          </a:p>
        </p:txBody>
      </p:sp>
      <p:sp>
        <p:nvSpPr>
          <p:cNvPr id="6" name="Text 4"/>
          <p:cNvSpPr txBox="1"/>
          <p:nvPr/>
        </p:nvSpPr>
        <p:spPr>
          <a:xfrm>
            <a:off x="82296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100 students, 10 seats</a:t>
            </a:r>
            <a:endParaRPr lang="en-US" sz="1250" dirty="0"/>
          </a:p>
        </p:txBody>
      </p:sp>
      <p:sp>
        <p:nvSpPr>
          <p:cNvPr id="7" name="Text 5"/>
          <p:cNvSpPr txBox="1"/>
          <p:nvPr/>
        </p:nvSpPr>
        <p:spPr>
          <a:xfrm>
            <a:off x="82296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Optimistic locking (@Version) + automatic retry</a:t>
            </a:r>
            <a:endParaRPr lang="en-US" sz="1350" dirty="0"/>
          </a:p>
        </p:txBody>
      </p:sp>
      <p:sp>
        <p:nvSpPr>
          <p:cNvPr id="8" name="Shape 6"/>
          <p:cNvSpPr/>
          <p:nvPr/>
        </p:nvSpPr>
        <p:spPr>
          <a:xfrm>
            <a:off x="4297680" y="1645920"/>
            <a:ext cx="3474720" cy="1965960"/>
          </a:xfrm>
          <a:prstGeom prst="roundRect">
            <a:avLst>
              <a:gd name="adj" fmla="val 5581"/>
            </a:avLst>
          </a:prstGeom>
          <a:solidFill>
            <a:srgbClr val="EEF2FF"/>
          </a:solidFill>
          <a:ln w="12700">
            <a:solidFill>
              <a:srgbClr val="EEF2FF"/>
            </a:solidFill>
            <a:prstDash val="solid"/>
          </a:ln>
        </p:spPr>
      </p:sp>
      <p:sp>
        <p:nvSpPr>
          <p:cNvPr id="9" name="Text 7"/>
          <p:cNvSpPr txBox="1"/>
          <p:nvPr/>
        </p:nvSpPr>
        <p:spPr>
          <a:xfrm>
            <a:off x="457200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MySQL deadlock</a:t>
            </a:r>
            <a:endParaRPr lang="en-US" sz="1600" dirty="0"/>
          </a:p>
        </p:txBody>
      </p:sp>
      <p:sp>
        <p:nvSpPr>
          <p:cNvPr id="10" name="Text 8"/>
          <p:cNvSpPr txBox="1"/>
          <p:nvPr/>
        </p:nvSpPr>
        <p:spPr>
          <a:xfrm>
            <a:off x="457200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two transactions waiting on each other</a:t>
            </a:r>
            <a:endParaRPr lang="en-US" sz="1250" dirty="0"/>
          </a:p>
        </p:txBody>
      </p:sp>
      <p:sp>
        <p:nvSpPr>
          <p:cNvPr id="11" name="Text 9"/>
          <p:cNvSpPr txBox="1"/>
          <p:nvPr/>
        </p:nvSpPr>
        <p:spPr>
          <a:xfrm>
            <a:off x="457200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Always update the event row first, then insert the booking</a:t>
            </a:r>
            <a:endParaRPr lang="en-US" sz="1350" dirty="0"/>
          </a:p>
        </p:txBody>
      </p:sp>
      <p:sp>
        <p:nvSpPr>
          <p:cNvPr id="12" name="Shape 10"/>
          <p:cNvSpPr/>
          <p:nvPr/>
        </p:nvSpPr>
        <p:spPr>
          <a:xfrm>
            <a:off x="8046720" y="1645920"/>
            <a:ext cx="3474720" cy="1965960"/>
          </a:xfrm>
          <a:prstGeom prst="roundRect">
            <a:avLst>
              <a:gd name="adj" fmla="val 5581"/>
            </a:avLst>
          </a:prstGeom>
          <a:solidFill>
            <a:srgbClr val="EEF2FF"/>
          </a:solidFill>
          <a:ln w="12700">
            <a:solidFill>
              <a:srgbClr val="EEF2FF"/>
            </a:solidFill>
            <a:prstDash val="solid"/>
          </a:ln>
        </p:spPr>
      </p:sp>
      <p:sp>
        <p:nvSpPr>
          <p:cNvPr id="13" name="Text 11"/>
          <p:cNvSpPr txBox="1"/>
          <p:nvPr/>
        </p:nvSpPr>
        <p:spPr>
          <a:xfrm>
            <a:off x="832104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Emails for undone work</a:t>
            </a:r>
            <a:endParaRPr lang="en-US" sz="1600" dirty="0"/>
          </a:p>
        </p:txBody>
      </p:sp>
      <p:sp>
        <p:nvSpPr>
          <p:cNvPr id="14" name="Text 12"/>
          <p:cNvSpPr txBox="1"/>
          <p:nvPr/>
        </p:nvSpPr>
        <p:spPr>
          <a:xfrm>
            <a:off x="832104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mail sent, then the change rolled back</a:t>
            </a:r>
            <a:endParaRPr lang="en-US" sz="1250" dirty="0"/>
          </a:p>
        </p:txBody>
      </p:sp>
      <p:sp>
        <p:nvSpPr>
          <p:cNvPr id="15" name="Text 13"/>
          <p:cNvSpPr txBox="1"/>
          <p:nvPr/>
        </p:nvSpPr>
        <p:spPr>
          <a:xfrm>
            <a:off x="832104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Save the message in the same transaction; send only after commit</a:t>
            </a:r>
            <a:endParaRPr lang="en-US" sz="1350" dirty="0"/>
          </a:p>
        </p:txBody>
      </p:sp>
      <p:sp>
        <p:nvSpPr>
          <p:cNvPr id="16" name="Shape 14"/>
          <p:cNvSpPr/>
          <p:nvPr/>
        </p:nvSpPr>
        <p:spPr>
          <a:xfrm>
            <a:off x="548640" y="3840480"/>
            <a:ext cx="3474720" cy="1965960"/>
          </a:xfrm>
          <a:prstGeom prst="roundRect">
            <a:avLst>
              <a:gd name="adj" fmla="val 5581"/>
            </a:avLst>
          </a:prstGeom>
          <a:solidFill>
            <a:srgbClr val="FEF3C7"/>
          </a:solidFill>
          <a:ln w="12700">
            <a:solidFill>
              <a:srgbClr val="FEF3C7"/>
            </a:solidFill>
            <a:prstDash val="solid"/>
          </a:ln>
        </p:spPr>
      </p:sp>
      <p:sp>
        <p:nvSpPr>
          <p:cNvPr id="17" name="Text 15"/>
          <p:cNvSpPr txBox="1"/>
          <p:nvPr/>
        </p:nvSpPr>
        <p:spPr>
          <a:xfrm>
            <a:off x="82296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Stale snapshot</a:t>
            </a:r>
            <a:endParaRPr lang="en-US" sz="1600" dirty="0"/>
          </a:p>
        </p:txBody>
      </p:sp>
      <p:sp>
        <p:nvSpPr>
          <p:cNvPr id="18" name="Text 16"/>
          <p:cNvSpPr txBox="1"/>
          <p:nvPr/>
        </p:nvSpPr>
        <p:spPr>
          <a:xfrm>
            <a:off x="82296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REPEATABLE READ kept showing "unused"</a:t>
            </a:r>
            <a:endParaRPr lang="en-US" sz="1250" dirty="0"/>
          </a:p>
        </p:txBody>
      </p:sp>
      <p:sp>
        <p:nvSpPr>
          <p:cNvPr id="19" name="Text 17"/>
          <p:cNvSpPr txBox="1"/>
          <p:nvPr/>
        </p:nvSpPr>
        <p:spPr>
          <a:xfrm>
            <a:off x="82296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Answer from the UPDATE result instead of reading again</a:t>
            </a:r>
            <a:endParaRPr lang="en-US" sz="1350" dirty="0"/>
          </a:p>
        </p:txBody>
      </p:sp>
      <p:sp>
        <p:nvSpPr>
          <p:cNvPr id="20" name="Shape 18"/>
          <p:cNvSpPr/>
          <p:nvPr/>
        </p:nvSpPr>
        <p:spPr>
          <a:xfrm>
            <a:off x="4297680" y="3840480"/>
            <a:ext cx="3474720" cy="1965960"/>
          </a:xfrm>
          <a:prstGeom prst="roundRect">
            <a:avLst>
              <a:gd name="adj" fmla="val 5581"/>
            </a:avLst>
          </a:prstGeom>
          <a:solidFill>
            <a:srgbClr val="FEF3C7"/>
          </a:solidFill>
          <a:ln w="12700">
            <a:solidFill>
              <a:srgbClr val="FEF3C7"/>
            </a:solidFill>
            <a:prstDash val="solid"/>
          </a:ln>
        </p:spPr>
      </p:sp>
      <p:sp>
        <p:nvSpPr>
          <p:cNvPr id="21" name="Text 19"/>
          <p:cNvSpPr txBox="1"/>
          <p:nvPr/>
        </p:nvSpPr>
        <p:spPr>
          <a:xfrm>
            <a:off x="457200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Flaky JWT test</a:t>
            </a:r>
            <a:endParaRPr lang="en-US" sz="1600" dirty="0"/>
          </a:p>
        </p:txBody>
      </p:sp>
      <p:sp>
        <p:nvSpPr>
          <p:cNvPr id="22" name="Text 20"/>
          <p:cNvSpPr txBox="1"/>
          <p:nvPr/>
        </p:nvSpPr>
        <p:spPr>
          <a:xfrm>
            <a:off x="457200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failed 1 run in 16</a:t>
            </a:r>
            <a:endParaRPr lang="en-US" sz="1250" dirty="0"/>
          </a:p>
        </p:txBody>
      </p:sp>
      <p:sp>
        <p:nvSpPr>
          <p:cNvPr id="23" name="Text 21"/>
          <p:cNvSpPr txBox="1"/>
          <p:nvPr/>
        </p:nvSpPr>
        <p:spPr>
          <a:xfrm>
            <a:off x="457200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The last base64 letter has 2 unused bits - change the first letter</a:t>
            </a:r>
            <a:endParaRPr lang="en-US" sz="1350" dirty="0"/>
          </a:p>
        </p:txBody>
      </p:sp>
      <p:sp>
        <p:nvSpPr>
          <p:cNvPr id="24" name="Shape 22"/>
          <p:cNvSpPr/>
          <p:nvPr/>
        </p:nvSpPr>
        <p:spPr>
          <a:xfrm>
            <a:off x="8046720" y="3840480"/>
            <a:ext cx="3474720" cy="1965960"/>
          </a:xfrm>
          <a:prstGeom prst="roundRect">
            <a:avLst>
              <a:gd name="adj" fmla="val 5581"/>
            </a:avLst>
          </a:prstGeom>
          <a:solidFill>
            <a:srgbClr val="FEF3C7"/>
          </a:solidFill>
          <a:ln w="12700">
            <a:solidFill>
              <a:srgbClr val="FEF3C7"/>
            </a:solidFill>
            <a:prstDash val="solid"/>
          </a:ln>
        </p:spPr>
      </p:sp>
      <p:sp>
        <p:nvSpPr>
          <p:cNvPr id="25" name="Text 23"/>
          <p:cNvSpPr txBox="1"/>
          <p:nvPr/>
        </p:nvSpPr>
        <p:spPr>
          <a:xfrm>
            <a:off x="832104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Blank scanner page</a:t>
            </a:r>
            <a:endParaRPr lang="en-US" sz="1600" dirty="0"/>
          </a:p>
        </p:txBody>
      </p:sp>
      <p:sp>
        <p:nvSpPr>
          <p:cNvPr id="26" name="Text 24"/>
          <p:cNvSpPr txBox="1"/>
          <p:nvPr/>
        </p:nvSpPr>
        <p:spPr>
          <a:xfrm>
            <a:off x="832104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crash after a refactor</a:t>
            </a:r>
            <a:endParaRPr lang="en-US" sz="1250" dirty="0"/>
          </a:p>
        </p:txBody>
      </p:sp>
      <p:sp>
        <p:nvSpPr>
          <p:cNvPr id="27" name="Text 25"/>
          <p:cNvSpPr txBox="1"/>
          <p:nvPr/>
        </p:nvSpPr>
        <p:spPr>
          <a:xfrm>
            <a:off x="832104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Found by the demo tour; added a page test and a lint rule</a:t>
            </a:r>
            <a:endParaRPr lang="en-US" sz="1350" dirty="0"/>
          </a:p>
        </p:txBody>
      </p:sp>
      <p:sp>
        <p:nvSpPr>
          <p:cNvPr id="28" name="Text 2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How it was built: 10 phases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Each phase ended with "done when" checks before moving on</a:t>
            </a:r>
            <a:endParaRPr lang="en-US" sz="1600" dirty="0"/>
          </a:p>
        </p:txBody>
      </p:sp>
      <p:sp>
        <p:nvSpPr>
          <p:cNvPr id="4" name="Shape 2"/>
          <p:cNvSpPr/>
          <p:nvPr/>
        </p:nvSpPr>
        <p:spPr>
          <a:xfrm>
            <a:off x="868680" y="3063240"/>
            <a:ext cx="10469880" cy="0"/>
          </a:xfrm>
          <a:prstGeom prst="line">
            <a:avLst/>
          </a:prstGeom>
          <a:noFill/>
          <a:ln w="38100">
            <a:solidFill>
              <a:srgbClr val="C7D2FE"/>
            </a:solidFill>
            <a:prstDash val="solid"/>
          </a:ln>
        </p:spPr>
      </p:sp>
      <p:sp>
        <p:nvSpPr>
          <p:cNvPr id="5" name="Shape 3"/>
          <p:cNvSpPr/>
          <p:nvPr/>
        </p:nvSpPr>
        <p:spPr>
          <a:xfrm>
            <a:off x="640080" y="2743200"/>
            <a:ext cx="640080" cy="640080"/>
          </a:xfrm>
          <a:prstGeom prst="ellipse">
            <a:avLst/>
          </a:prstGeom>
          <a:solidFill>
            <a:srgbClr val="4F46E5"/>
          </a:solidFill>
          <a:ln w="25400">
            <a:solidFill>
              <a:srgbClr val="FFFFFF"/>
            </a:solidFill>
            <a:prstDash val="solid"/>
          </a:ln>
        </p:spPr>
      </p:sp>
      <p:sp>
        <p:nvSpPr>
          <p:cNvPr id="6" name="Text 4"/>
          <p:cNvSpPr txBox="1"/>
          <p:nvPr/>
        </p:nvSpPr>
        <p:spPr>
          <a:xfrm>
            <a:off x="640080"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7" name="Text 5"/>
          <p:cNvSpPr txBox="1"/>
          <p:nvPr/>
        </p:nvSpPr>
        <p:spPr>
          <a:xfrm>
            <a:off x="438912"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Java basics</a:t>
            </a:r>
            <a:endParaRPr lang="en-US" sz="1250" dirty="0"/>
          </a:p>
        </p:txBody>
      </p:sp>
      <p:sp>
        <p:nvSpPr>
          <p:cNvPr id="8" name="Shape 6"/>
          <p:cNvSpPr/>
          <p:nvPr/>
        </p:nvSpPr>
        <p:spPr>
          <a:xfrm>
            <a:off x="1801368" y="2743200"/>
            <a:ext cx="640080" cy="640080"/>
          </a:xfrm>
          <a:prstGeom prst="ellipse">
            <a:avLst/>
          </a:prstGeom>
          <a:solidFill>
            <a:srgbClr val="4F46E5"/>
          </a:solidFill>
          <a:ln w="25400">
            <a:solidFill>
              <a:srgbClr val="FFFFFF"/>
            </a:solidFill>
            <a:prstDash val="solid"/>
          </a:ln>
        </p:spPr>
      </p:sp>
      <p:sp>
        <p:nvSpPr>
          <p:cNvPr id="9" name="Text 7"/>
          <p:cNvSpPr txBox="1"/>
          <p:nvPr/>
        </p:nvSpPr>
        <p:spPr>
          <a:xfrm>
            <a:off x="1801368"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1600200"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Project setup</a:t>
            </a:r>
            <a:endParaRPr lang="en-US" sz="1250" dirty="0"/>
          </a:p>
        </p:txBody>
      </p:sp>
      <p:sp>
        <p:nvSpPr>
          <p:cNvPr id="11" name="Shape 9"/>
          <p:cNvSpPr/>
          <p:nvPr/>
        </p:nvSpPr>
        <p:spPr>
          <a:xfrm>
            <a:off x="2962656" y="2743200"/>
            <a:ext cx="640080" cy="640080"/>
          </a:xfrm>
          <a:prstGeom prst="ellipse">
            <a:avLst/>
          </a:prstGeom>
          <a:solidFill>
            <a:srgbClr val="4F46E5"/>
          </a:solidFill>
          <a:ln w="25400">
            <a:solidFill>
              <a:srgbClr val="FFFFFF"/>
            </a:solidFill>
            <a:prstDash val="solid"/>
          </a:ln>
        </p:spPr>
      </p:sp>
      <p:sp>
        <p:nvSpPr>
          <p:cNvPr id="12" name="Text 10"/>
          <p:cNvSpPr txBox="1"/>
          <p:nvPr/>
        </p:nvSpPr>
        <p:spPr>
          <a:xfrm>
            <a:off x="2962656"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2761488"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Backend API</a:t>
            </a:r>
            <a:endParaRPr lang="en-US" sz="1250" dirty="0"/>
          </a:p>
        </p:txBody>
      </p:sp>
      <p:sp>
        <p:nvSpPr>
          <p:cNvPr id="14" name="Shape 12"/>
          <p:cNvSpPr/>
          <p:nvPr/>
        </p:nvSpPr>
        <p:spPr>
          <a:xfrm>
            <a:off x="4123944" y="2743200"/>
            <a:ext cx="640080" cy="640080"/>
          </a:xfrm>
          <a:prstGeom prst="ellipse">
            <a:avLst/>
          </a:prstGeom>
          <a:solidFill>
            <a:srgbClr val="4F46E5"/>
          </a:solidFill>
          <a:ln w="25400">
            <a:solidFill>
              <a:srgbClr val="FFFFFF"/>
            </a:solidFill>
            <a:prstDash val="solid"/>
          </a:ln>
        </p:spPr>
      </p:sp>
      <p:sp>
        <p:nvSpPr>
          <p:cNvPr id="15" name="Text 13"/>
          <p:cNvSpPr txBox="1"/>
          <p:nvPr/>
        </p:nvSpPr>
        <p:spPr>
          <a:xfrm>
            <a:off x="4123944"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3922776"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Frontend</a:t>
            </a:r>
            <a:endParaRPr lang="en-US" sz="1250" dirty="0"/>
          </a:p>
        </p:txBody>
      </p:sp>
      <p:sp>
        <p:nvSpPr>
          <p:cNvPr id="17" name="Shape 15"/>
          <p:cNvSpPr/>
          <p:nvPr/>
        </p:nvSpPr>
        <p:spPr>
          <a:xfrm>
            <a:off x="5285232" y="2743200"/>
            <a:ext cx="640080" cy="640080"/>
          </a:xfrm>
          <a:prstGeom prst="ellipse">
            <a:avLst/>
          </a:prstGeom>
          <a:solidFill>
            <a:srgbClr val="4F46E5"/>
          </a:solidFill>
          <a:ln w="25400">
            <a:solidFill>
              <a:srgbClr val="FFFFFF"/>
            </a:solidFill>
            <a:prstDash val="solid"/>
          </a:ln>
        </p:spPr>
      </p:sp>
      <p:sp>
        <p:nvSpPr>
          <p:cNvPr id="18" name="Text 16"/>
          <p:cNvSpPr txBox="1"/>
          <p:nvPr/>
        </p:nvSpPr>
        <p:spPr>
          <a:xfrm>
            <a:off x="5285232"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txBox="1"/>
          <p:nvPr/>
        </p:nvSpPr>
        <p:spPr>
          <a:xfrm>
            <a:off x="5084064"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Connecting</a:t>
            </a:r>
            <a:endParaRPr lang="en-US" sz="1250" dirty="0"/>
          </a:p>
        </p:txBody>
      </p:sp>
      <p:sp>
        <p:nvSpPr>
          <p:cNvPr id="20" name="Shape 18"/>
          <p:cNvSpPr/>
          <p:nvPr/>
        </p:nvSpPr>
        <p:spPr>
          <a:xfrm>
            <a:off x="6446520" y="2743200"/>
            <a:ext cx="640080" cy="640080"/>
          </a:xfrm>
          <a:prstGeom prst="ellipse">
            <a:avLst/>
          </a:prstGeom>
          <a:solidFill>
            <a:srgbClr val="4F46E5"/>
          </a:solidFill>
          <a:ln w="25400">
            <a:solidFill>
              <a:srgbClr val="FFFFFF"/>
            </a:solidFill>
            <a:prstDash val="solid"/>
          </a:ln>
        </p:spPr>
      </p:sp>
      <p:sp>
        <p:nvSpPr>
          <p:cNvPr id="21" name="Text 19"/>
          <p:cNvSpPr txBox="1"/>
          <p:nvPr/>
        </p:nvSpPr>
        <p:spPr>
          <a:xfrm>
            <a:off x="6446520"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6245352"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Login &amp; roles</a:t>
            </a:r>
            <a:endParaRPr lang="en-US" sz="1250" dirty="0"/>
          </a:p>
        </p:txBody>
      </p:sp>
      <p:sp>
        <p:nvSpPr>
          <p:cNvPr id="23" name="Shape 21"/>
          <p:cNvSpPr/>
          <p:nvPr/>
        </p:nvSpPr>
        <p:spPr>
          <a:xfrm>
            <a:off x="7607808" y="2743200"/>
            <a:ext cx="640080" cy="640080"/>
          </a:xfrm>
          <a:prstGeom prst="ellipse">
            <a:avLst/>
          </a:prstGeom>
          <a:solidFill>
            <a:srgbClr val="4F46E5"/>
          </a:solidFill>
          <a:ln w="25400">
            <a:solidFill>
              <a:srgbClr val="FFFFFF"/>
            </a:solidFill>
            <a:prstDash val="solid"/>
          </a:ln>
        </p:spPr>
      </p:sp>
      <p:sp>
        <p:nvSpPr>
          <p:cNvPr id="24" name="Text 22"/>
          <p:cNvSpPr txBox="1"/>
          <p:nvPr/>
        </p:nvSpPr>
        <p:spPr>
          <a:xfrm>
            <a:off x="7607808"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5" name="Text 23"/>
          <p:cNvSpPr txBox="1"/>
          <p:nvPr/>
        </p:nvSpPr>
        <p:spPr>
          <a:xfrm>
            <a:off x="7406640"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Bookings &amp; pay</a:t>
            </a:r>
            <a:endParaRPr lang="en-US" sz="1250" dirty="0"/>
          </a:p>
        </p:txBody>
      </p:sp>
      <p:sp>
        <p:nvSpPr>
          <p:cNvPr id="26" name="Shape 24"/>
          <p:cNvSpPr/>
          <p:nvPr/>
        </p:nvSpPr>
        <p:spPr>
          <a:xfrm>
            <a:off x="8769096" y="2743200"/>
            <a:ext cx="640080" cy="640080"/>
          </a:xfrm>
          <a:prstGeom prst="ellipse">
            <a:avLst/>
          </a:prstGeom>
          <a:solidFill>
            <a:srgbClr val="4F46E5"/>
          </a:solidFill>
          <a:ln w="25400">
            <a:solidFill>
              <a:srgbClr val="FFFFFF"/>
            </a:solidFill>
            <a:prstDash val="solid"/>
          </a:ln>
        </p:spPr>
      </p:sp>
      <p:sp>
        <p:nvSpPr>
          <p:cNvPr id="27" name="Text 25"/>
          <p:cNvSpPr txBox="1"/>
          <p:nvPr/>
        </p:nvSpPr>
        <p:spPr>
          <a:xfrm>
            <a:off x="8769096"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8" name="Text 26"/>
          <p:cNvSpPr txBox="1"/>
          <p:nvPr/>
        </p:nvSpPr>
        <p:spPr>
          <a:xfrm>
            <a:off x="8567928"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Signature features</a:t>
            </a:r>
            <a:endParaRPr lang="en-US" sz="1250" dirty="0"/>
          </a:p>
        </p:txBody>
      </p:sp>
      <p:sp>
        <p:nvSpPr>
          <p:cNvPr id="29" name="Shape 27"/>
          <p:cNvSpPr/>
          <p:nvPr/>
        </p:nvSpPr>
        <p:spPr>
          <a:xfrm>
            <a:off x="9930384" y="2743200"/>
            <a:ext cx="640080" cy="640080"/>
          </a:xfrm>
          <a:prstGeom prst="ellipse">
            <a:avLst/>
          </a:prstGeom>
          <a:solidFill>
            <a:srgbClr val="4F46E5"/>
          </a:solidFill>
          <a:ln w="25400">
            <a:solidFill>
              <a:srgbClr val="FFFFFF"/>
            </a:solidFill>
            <a:prstDash val="solid"/>
          </a:ln>
        </p:spPr>
      </p:sp>
      <p:sp>
        <p:nvSpPr>
          <p:cNvPr id="30" name="Text 28"/>
          <p:cNvSpPr txBox="1"/>
          <p:nvPr/>
        </p:nvSpPr>
        <p:spPr>
          <a:xfrm>
            <a:off x="9930384"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31" name="Text 29"/>
          <p:cNvSpPr txBox="1"/>
          <p:nvPr/>
        </p:nvSpPr>
        <p:spPr>
          <a:xfrm>
            <a:off x="9729216"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Testing &amp; polish</a:t>
            </a:r>
            <a:endParaRPr lang="en-US" sz="1250" dirty="0"/>
          </a:p>
        </p:txBody>
      </p:sp>
      <p:sp>
        <p:nvSpPr>
          <p:cNvPr id="32" name="Shape 30"/>
          <p:cNvSpPr/>
          <p:nvPr/>
        </p:nvSpPr>
        <p:spPr>
          <a:xfrm>
            <a:off x="11091672" y="2743200"/>
            <a:ext cx="640080" cy="640080"/>
          </a:xfrm>
          <a:prstGeom prst="ellipse">
            <a:avLst/>
          </a:prstGeom>
          <a:solidFill>
            <a:srgbClr val="F59E0B"/>
          </a:solidFill>
          <a:ln w="25400">
            <a:solidFill>
              <a:srgbClr val="FFFFFF"/>
            </a:solidFill>
            <a:prstDash val="solid"/>
          </a:ln>
        </p:spPr>
      </p:sp>
      <p:sp>
        <p:nvSpPr>
          <p:cNvPr id="33" name="Text 31"/>
          <p:cNvSpPr txBox="1"/>
          <p:nvPr/>
        </p:nvSpPr>
        <p:spPr>
          <a:xfrm>
            <a:off x="11091672" y="2743200"/>
            <a:ext cx="640080" cy="64008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9</a:t>
            </a:r>
            <a:endParaRPr lang="en-US" sz="1600" dirty="0"/>
          </a:p>
        </p:txBody>
      </p:sp>
      <p:sp>
        <p:nvSpPr>
          <p:cNvPr id="34" name="Text 32"/>
          <p:cNvSpPr txBox="1"/>
          <p:nvPr/>
        </p:nvSpPr>
        <p:spPr>
          <a:xfrm>
            <a:off x="10890504"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Launch</a:t>
            </a:r>
            <a:endParaRPr lang="en-US" sz="1250" dirty="0"/>
          </a:p>
        </p:txBody>
      </p:sp>
      <p:sp>
        <p:nvSpPr>
          <p:cNvPr id="35" name="Text 33"/>
          <p:cNvSpPr txBox="1"/>
          <p:nvPr/>
        </p:nvSpPr>
        <p:spPr>
          <a:xfrm>
            <a:off x="548640" y="1645920"/>
            <a:ext cx="11064240" cy="36576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Phases 0-8 complete  ·  Phase 9 (deployment) next</a:t>
            </a:r>
            <a:endParaRPr lang="en-US" sz="1500" dirty="0"/>
          </a:p>
        </p:txBody>
      </p:sp>
      <p:sp>
        <p:nvSpPr>
          <p:cNvPr id="36" name="Shape 34"/>
          <p:cNvSpPr/>
          <p:nvPr/>
        </p:nvSpPr>
        <p:spPr>
          <a:xfrm>
            <a:off x="548640" y="4572000"/>
            <a:ext cx="11064240" cy="1371600"/>
          </a:xfrm>
          <a:prstGeom prst="roundRect">
            <a:avLst>
              <a:gd name="adj" fmla="val 8000"/>
            </a:avLst>
          </a:prstGeom>
          <a:solidFill>
            <a:srgbClr val="EEF2FF"/>
          </a:solidFill>
          <a:ln w="12700">
            <a:solidFill>
              <a:srgbClr val="EEF2FF"/>
            </a:solidFill>
            <a:prstDash val="solid"/>
          </a:ln>
        </p:spPr>
      </p:sp>
      <p:sp>
        <p:nvSpPr>
          <p:cNvPr id="37" name="Text 35"/>
          <p:cNvSpPr txBox="1"/>
          <p:nvPr/>
        </p:nvSpPr>
        <p:spPr>
          <a:xfrm>
            <a:off x="868680" y="4663440"/>
            <a:ext cx="10424160" cy="11887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Working style: </a:t>
            </a:r>
            <a:pPr indent="0" marL="0">
              <a:buNone/>
            </a:pPr>
            <a:r>
              <a:rPr lang="en-US" sz="1500" dirty="0">
                <a:solidFill>
                  <a:srgbClr val="1F2937"/>
                </a:solidFill>
                <a:latin typeface="Calibri" pitchFamily="34" charset="0"/>
                <a:ea typeface="Calibri" pitchFamily="34" charset="-122"/>
                <a:cs typeface="Calibri" pitchFamily="34" charset="-120"/>
              </a:rPr>
              <a:t>small steps, each one tested and committed; every phase started from a written checklist; CI stayed green; a guided demo tour in Edge replays the whole journey (28 steps) and made the screenshots in this deck.</a:t>
            </a:r>
            <a:endParaRPr lang="en-US" sz="1500" dirty="0"/>
          </a:p>
        </p:txBody>
      </p:sp>
      <p:sp>
        <p:nvSpPr>
          <p:cNvPr id="38" name="Text 3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Future scope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would come next in a real product</a:t>
            </a:r>
            <a:endParaRPr lang="en-US" sz="1600" dirty="0"/>
          </a:p>
        </p:txBody>
      </p:sp>
      <p:sp>
        <p:nvSpPr>
          <p:cNvPr id="4" name="Shape 2"/>
          <p:cNvSpPr/>
          <p:nvPr/>
        </p:nvSpPr>
        <p:spPr>
          <a:xfrm>
            <a:off x="548640" y="1645920"/>
            <a:ext cx="5440680" cy="1325880"/>
          </a:xfrm>
          <a:prstGeom prst="roundRect">
            <a:avLst>
              <a:gd name="adj" fmla="val 8276"/>
            </a:avLst>
          </a:prstGeom>
          <a:solidFill>
            <a:srgbClr val="EEF2FF"/>
          </a:solidFill>
          <a:ln w="12700">
            <a:solidFill>
              <a:srgbClr val="EEF2FF"/>
            </a:solidFill>
            <a:prstDash val="solid"/>
          </a:ln>
        </p:spPr>
      </p:sp>
      <p:sp>
        <p:nvSpPr>
          <p:cNvPr id="5" name="Shape 3"/>
          <p:cNvSpPr/>
          <p:nvPr/>
        </p:nvSpPr>
        <p:spPr>
          <a:xfrm>
            <a:off x="822960" y="2011680"/>
            <a:ext cx="585216" cy="585216"/>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63412" y="2152132"/>
            <a:ext cx="304312" cy="304312"/>
          </a:xfrm>
          <a:prstGeom prst="rect">
            <a:avLst/>
          </a:prstGeom>
        </p:spPr>
      </p:pic>
      <p:sp>
        <p:nvSpPr>
          <p:cNvPr id="7" name="Text 4"/>
          <p:cNvSpPr txBox="1"/>
          <p:nvPr/>
        </p:nvSpPr>
        <p:spPr>
          <a:xfrm>
            <a:off x="1645920" y="182880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Go live</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Deploy backend, database and frontend (Phase 9)</a:t>
            </a:r>
            <a:endParaRPr lang="en-US" sz="1600" dirty="0"/>
          </a:p>
        </p:txBody>
      </p:sp>
      <p:sp>
        <p:nvSpPr>
          <p:cNvPr id="8" name="Shape 5"/>
          <p:cNvSpPr/>
          <p:nvPr/>
        </p:nvSpPr>
        <p:spPr>
          <a:xfrm>
            <a:off x="6172200" y="1645920"/>
            <a:ext cx="5440680" cy="1325880"/>
          </a:xfrm>
          <a:prstGeom prst="roundRect">
            <a:avLst>
              <a:gd name="adj" fmla="val 8276"/>
            </a:avLst>
          </a:prstGeom>
          <a:solidFill>
            <a:srgbClr val="FEF3C7"/>
          </a:solidFill>
          <a:ln w="12700">
            <a:solidFill>
              <a:srgbClr val="FEF3C7"/>
            </a:solidFill>
            <a:prstDash val="solid"/>
          </a:ln>
        </p:spPr>
      </p:sp>
      <p:sp>
        <p:nvSpPr>
          <p:cNvPr id="9" name="Shape 6"/>
          <p:cNvSpPr/>
          <p:nvPr/>
        </p:nvSpPr>
        <p:spPr>
          <a:xfrm>
            <a:off x="6446520" y="2011680"/>
            <a:ext cx="585216" cy="585216"/>
          </a:xfrm>
          <a:prstGeom prst="ellipse">
            <a:avLst/>
          </a:prstGeom>
          <a:solidFill>
            <a:srgbClr val="F59E0B"/>
          </a:solidFill>
          <a:ln w="12700">
            <a:solidFill>
              <a:srgbClr val="F59E0B"/>
            </a:solidFill>
            <a:prstDash val="solid"/>
          </a:ln>
        </p:spPr>
      </p:sp>
      <p:pic>
        <p:nvPicPr>
          <p:cNvPr id="10" name="Image 1" descr="preencoded.png">    </p:cNvPr>
          <p:cNvPicPr>
            <a:picLocks noChangeAspect="1"/>
          </p:cNvPicPr>
          <p:nvPr/>
        </p:nvPicPr>
        <p:blipFill>
          <a:blip r:embed="rId2"/>
          <a:stretch>
            <a:fillRect/>
          </a:stretch>
        </p:blipFill>
        <p:spPr>
          <a:xfrm>
            <a:off x="6586972" y="2152132"/>
            <a:ext cx="304312" cy="304312"/>
          </a:xfrm>
          <a:prstGeom prst="rect">
            <a:avLst/>
          </a:prstGeom>
        </p:spPr>
      </p:pic>
      <p:sp>
        <p:nvSpPr>
          <p:cNvPr id="11" name="Text 7"/>
          <p:cNvSpPr txBox="1"/>
          <p:nvPr/>
        </p:nvSpPr>
        <p:spPr>
          <a:xfrm>
            <a:off x="7269480" y="182880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Password reset</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Reset link by email</a:t>
            </a:r>
            <a:endParaRPr lang="en-US" sz="1600" dirty="0"/>
          </a:p>
        </p:txBody>
      </p:sp>
      <p:sp>
        <p:nvSpPr>
          <p:cNvPr id="12" name="Shape 8"/>
          <p:cNvSpPr/>
          <p:nvPr/>
        </p:nvSpPr>
        <p:spPr>
          <a:xfrm>
            <a:off x="548640" y="3154680"/>
            <a:ext cx="5440680" cy="1325880"/>
          </a:xfrm>
          <a:prstGeom prst="roundRect">
            <a:avLst>
              <a:gd name="adj" fmla="val 8276"/>
            </a:avLst>
          </a:prstGeom>
          <a:solidFill>
            <a:srgbClr val="EEF2FF"/>
          </a:solidFill>
          <a:ln w="12700">
            <a:solidFill>
              <a:srgbClr val="EEF2FF"/>
            </a:solidFill>
            <a:prstDash val="solid"/>
          </a:ln>
        </p:spPr>
      </p:sp>
      <p:sp>
        <p:nvSpPr>
          <p:cNvPr id="13" name="Shape 9"/>
          <p:cNvSpPr/>
          <p:nvPr/>
        </p:nvSpPr>
        <p:spPr>
          <a:xfrm>
            <a:off x="822960" y="3520440"/>
            <a:ext cx="585216" cy="585216"/>
          </a:xfrm>
          <a:prstGeom prst="ellipse">
            <a:avLst/>
          </a:prstGeom>
          <a:solidFill>
            <a:srgbClr val="4F46E5"/>
          </a:solidFill>
          <a:ln w="12700">
            <a:solidFill>
              <a:srgbClr val="4F46E5"/>
            </a:solidFill>
            <a:prstDash val="solid"/>
          </a:ln>
        </p:spPr>
      </p:sp>
      <p:pic>
        <p:nvPicPr>
          <p:cNvPr id="14" name="Image 2" descr="preencoded.png">    </p:cNvPr>
          <p:cNvPicPr>
            <a:picLocks noChangeAspect="1"/>
          </p:cNvPicPr>
          <p:nvPr/>
        </p:nvPicPr>
        <p:blipFill>
          <a:blip r:embed="rId3"/>
          <a:stretch>
            <a:fillRect/>
          </a:stretch>
        </p:blipFill>
        <p:spPr>
          <a:xfrm>
            <a:off x="963412" y="3660892"/>
            <a:ext cx="304312" cy="304312"/>
          </a:xfrm>
          <a:prstGeom prst="rect">
            <a:avLst/>
          </a:prstGeom>
        </p:spPr>
      </p:pic>
      <p:sp>
        <p:nvSpPr>
          <p:cNvPr id="15" name="Text 10"/>
          <p:cNvSpPr txBox="1"/>
          <p:nvPr/>
        </p:nvSpPr>
        <p:spPr>
          <a:xfrm>
            <a:off x="1645920" y="333756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Mobile / offline gate</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Installable app that scans even with weak Wi-Fi</a:t>
            </a:r>
            <a:endParaRPr lang="en-US" sz="1600" dirty="0"/>
          </a:p>
        </p:txBody>
      </p:sp>
      <p:sp>
        <p:nvSpPr>
          <p:cNvPr id="16" name="Shape 11"/>
          <p:cNvSpPr/>
          <p:nvPr/>
        </p:nvSpPr>
        <p:spPr>
          <a:xfrm>
            <a:off x="6172200" y="3154680"/>
            <a:ext cx="5440680" cy="1325880"/>
          </a:xfrm>
          <a:prstGeom prst="roundRect">
            <a:avLst>
              <a:gd name="adj" fmla="val 8276"/>
            </a:avLst>
          </a:prstGeom>
          <a:solidFill>
            <a:srgbClr val="FEF3C7"/>
          </a:solidFill>
          <a:ln w="12700">
            <a:solidFill>
              <a:srgbClr val="FEF3C7"/>
            </a:solidFill>
            <a:prstDash val="solid"/>
          </a:ln>
        </p:spPr>
      </p:sp>
      <p:sp>
        <p:nvSpPr>
          <p:cNvPr id="17" name="Shape 12"/>
          <p:cNvSpPr/>
          <p:nvPr/>
        </p:nvSpPr>
        <p:spPr>
          <a:xfrm>
            <a:off x="6446520" y="3520440"/>
            <a:ext cx="585216" cy="585216"/>
          </a:xfrm>
          <a:prstGeom prst="ellipse">
            <a:avLst/>
          </a:prstGeom>
          <a:solidFill>
            <a:srgbClr val="F59E0B"/>
          </a:solidFill>
          <a:ln w="12700">
            <a:solidFill>
              <a:srgbClr val="F59E0B"/>
            </a:solidFill>
            <a:prstDash val="solid"/>
          </a:ln>
        </p:spPr>
      </p:sp>
      <p:pic>
        <p:nvPicPr>
          <p:cNvPr id="18" name="Image 3" descr="preencoded.png">    </p:cNvPr>
          <p:cNvPicPr>
            <a:picLocks noChangeAspect="1"/>
          </p:cNvPicPr>
          <p:nvPr/>
        </p:nvPicPr>
        <p:blipFill>
          <a:blip r:embed="rId4"/>
          <a:stretch>
            <a:fillRect/>
          </a:stretch>
        </p:blipFill>
        <p:spPr>
          <a:xfrm>
            <a:off x="6586972" y="3660892"/>
            <a:ext cx="304312" cy="304312"/>
          </a:xfrm>
          <a:prstGeom prst="rect">
            <a:avLst/>
          </a:prstGeom>
        </p:spPr>
      </p:pic>
      <p:sp>
        <p:nvSpPr>
          <p:cNvPr id="19" name="Text 13"/>
          <p:cNvSpPr txBox="1"/>
          <p:nvPr/>
        </p:nvSpPr>
        <p:spPr>
          <a:xfrm>
            <a:off x="7269480" y="333756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Indian payments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UPI through Razorpay next to Stripe</a:t>
            </a:r>
            <a:endParaRPr lang="en-US" sz="1600" dirty="0"/>
          </a:p>
        </p:txBody>
      </p:sp>
      <p:sp>
        <p:nvSpPr>
          <p:cNvPr id="20" name="Shape 14"/>
          <p:cNvSpPr/>
          <p:nvPr/>
        </p:nvSpPr>
        <p:spPr>
          <a:xfrm>
            <a:off x="548640" y="4663440"/>
            <a:ext cx="5440680" cy="1325880"/>
          </a:xfrm>
          <a:prstGeom prst="roundRect">
            <a:avLst>
              <a:gd name="adj" fmla="val 8276"/>
            </a:avLst>
          </a:prstGeom>
          <a:solidFill>
            <a:srgbClr val="EEF2FF"/>
          </a:solidFill>
          <a:ln w="12700">
            <a:solidFill>
              <a:srgbClr val="EEF2FF"/>
            </a:solidFill>
            <a:prstDash val="solid"/>
          </a:ln>
        </p:spPr>
      </p:sp>
      <p:sp>
        <p:nvSpPr>
          <p:cNvPr id="21" name="Shape 15"/>
          <p:cNvSpPr/>
          <p:nvPr/>
        </p:nvSpPr>
        <p:spPr>
          <a:xfrm>
            <a:off x="822960" y="5029200"/>
            <a:ext cx="585216" cy="585216"/>
          </a:xfrm>
          <a:prstGeom prst="ellipse">
            <a:avLst/>
          </a:prstGeom>
          <a:solidFill>
            <a:srgbClr val="4F46E5"/>
          </a:solidFill>
          <a:ln w="12700">
            <a:solidFill>
              <a:srgbClr val="4F46E5"/>
            </a:solidFill>
            <a:prstDash val="solid"/>
          </a:ln>
        </p:spPr>
      </p:sp>
      <p:pic>
        <p:nvPicPr>
          <p:cNvPr id="22" name="Image 4" descr="preencoded.png">    </p:cNvPr>
          <p:cNvPicPr>
            <a:picLocks noChangeAspect="1"/>
          </p:cNvPicPr>
          <p:nvPr/>
        </p:nvPicPr>
        <p:blipFill>
          <a:blip r:embed="rId5"/>
          <a:stretch>
            <a:fillRect/>
          </a:stretch>
        </p:blipFill>
        <p:spPr>
          <a:xfrm>
            <a:off x="963412" y="5169652"/>
            <a:ext cx="304312" cy="304312"/>
          </a:xfrm>
          <a:prstGeom prst="rect">
            <a:avLst/>
          </a:prstGeom>
        </p:spPr>
      </p:pic>
      <p:sp>
        <p:nvSpPr>
          <p:cNvPr id="23" name="Text 16"/>
          <p:cNvSpPr txBox="1"/>
          <p:nvPr/>
        </p:nvSpPr>
        <p:spPr>
          <a:xfrm>
            <a:off x="1645920" y="484632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More servers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Redis for the login lock and cache</a:t>
            </a:r>
            <a:endParaRPr lang="en-US" sz="1600" dirty="0"/>
          </a:p>
        </p:txBody>
      </p:sp>
      <p:sp>
        <p:nvSpPr>
          <p:cNvPr id="24" name="Shape 17"/>
          <p:cNvSpPr/>
          <p:nvPr/>
        </p:nvSpPr>
        <p:spPr>
          <a:xfrm>
            <a:off x="6172200" y="4663440"/>
            <a:ext cx="5440680" cy="1325880"/>
          </a:xfrm>
          <a:prstGeom prst="roundRect">
            <a:avLst>
              <a:gd name="adj" fmla="val 8276"/>
            </a:avLst>
          </a:prstGeom>
          <a:solidFill>
            <a:srgbClr val="FEF3C7"/>
          </a:solidFill>
          <a:ln w="12700">
            <a:solidFill>
              <a:srgbClr val="FEF3C7"/>
            </a:solidFill>
            <a:prstDash val="solid"/>
          </a:ln>
        </p:spPr>
      </p:sp>
      <p:sp>
        <p:nvSpPr>
          <p:cNvPr id="25" name="Shape 18"/>
          <p:cNvSpPr/>
          <p:nvPr/>
        </p:nvSpPr>
        <p:spPr>
          <a:xfrm>
            <a:off x="6446520" y="5029200"/>
            <a:ext cx="585216" cy="585216"/>
          </a:xfrm>
          <a:prstGeom prst="ellipse">
            <a:avLst/>
          </a:prstGeom>
          <a:solidFill>
            <a:srgbClr val="F59E0B"/>
          </a:solidFill>
          <a:ln w="12700">
            <a:solidFill>
              <a:srgbClr val="F59E0B"/>
            </a:solidFill>
            <a:prstDash val="solid"/>
          </a:ln>
        </p:spPr>
      </p:sp>
      <p:pic>
        <p:nvPicPr>
          <p:cNvPr id="26" name="Image 5" descr="preencoded.png">    </p:cNvPr>
          <p:cNvPicPr>
            <a:picLocks noChangeAspect="1"/>
          </p:cNvPicPr>
          <p:nvPr/>
        </p:nvPicPr>
        <p:blipFill>
          <a:blip r:embed="rId6"/>
          <a:stretch>
            <a:fillRect/>
          </a:stretch>
        </p:blipFill>
        <p:spPr>
          <a:xfrm>
            <a:off x="6586972" y="5169652"/>
            <a:ext cx="304312" cy="304312"/>
          </a:xfrm>
          <a:prstGeom prst="rect">
            <a:avLst/>
          </a:prstGeom>
        </p:spPr>
      </p:pic>
      <p:sp>
        <p:nvSpPr>
          <p:cNvPr id="27" name="Text 19"/>
          <p:cNvSpPr txBox="1"/>
          <p:nvPr/>
        </p:nvSpPr>
        <p:spPr>
          <a:xfrm>
            <a:off x="7269480" y="484632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Many colleges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One platform, separate data per college</a:t>
            </a:r>
            <a:endParaRPr lang="en-US" sz="1600" dirty="0"/>
          </a:p>
        </p:txBody>
      </p:sp>
      <p:sp>
        <p:nvSpPr>
          <p:cNvPr id="28"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640080" y="640080"/>
            <a:ext cx="548640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Conclusion</a:t>
            </a:r>
            <a:endParaRPr lang="en-US" sz="4000" dirty="0"/>
          </a:p>
        </p:txBody>
      </p:sp>
      <p:sp>
        <p:nvSpPr>
          <p:cNvPr id="3" name="Shape 1"/>
          <p:cNvSpPr/>
          <p:nvPr/>
        </p:nvSpPr>
        <p:spPr>
          <a:xfrm>
            <a:off x="640080" y="1737360"/>
            <a:ext cx="548640" cy="548640"/>
          </a:xfrm>
          <a:prstGeom prst="ellipse">
            <a:avLst/>
          </a:prstGeom>
          <a:solidFill>
            <a:srgbClr val="F59E0B"/>
          </a:solidFill>
          <a:ln w="12700">
            <a:solidFill>
              <a:srgbClr val="F59E0B"/>
            </a:solidFill>
            <a:prstDash val="solid"/>
          </a:ln>
        </p:spPr>
      </p:sp>
      <p:sp>
        <p:nvSpPr>
          <p:cNvPr id="4" name="Text 2"/>
          <p:cNvSpPr txBox="1"/>
          <p:nvPr/>
        </p:nvSpPr>
        <p:spPr>
          <a:xfrm>
            <a:off x="640080" y="173736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417320" y="164592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complete, working full stack product - not just screens: payments, QR entry, PDFs, emails, charts.</a:t>
            </a:r>
            <a:endParaRPr lang="en-US" sz="1600" dirty="0"/>
          </a:p>
        </p:txBody>
      </p:sp>
      <p:sp>
        <p:nvSpPr>
          <p:cNvPr id="6" name="Shape 4"/>
          <p:cNvSpPr/>
          <p:nvPr/>
        </p:nvSpPr>
        <p:spPr>
          <a:xfrm>
            <a:off x="640080" y="2926080"/>
            <a:ext cx="548640" cy="548640"/>
          </a:xfrm>
          <a:prstGeom prst="ellipse">
            <a:avLst/>
          </a:prstGeom>
          <a:solidFill>
            <a:srgbClr val="F59E0B"/>
          </a:solidFill>
          <a:ln w="12700">
            <a:solidFill>
              <a:srgbClr val="F59E0B"/>
            </a:solidFill>
            <a:prstDash val="solid"/>
          </a:ln>
        </p:spPr>
      </p:sp>
      <p:sp>
        <p:nvSpPr>
          <p:cNvPr id="7" name="Text 5"/>
          <p:cNvSpPr txBox="1"/>
          <p:nvPr/>
        </p:nvSpPr>
        <p:spPr>
          <a:xfrm>
            <a:off x="640080" y="292608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417320" y="283464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Correct under pressure: no overselling, no double entry, no emails for undone work.</a:t>
            </a:r>
            <a:endParaRPr lang="en-US" sz="1600" dirty="0"/>
          </a:p>
        </p:txBody>
      </p:sp>
      <p:sp>
        <p:nvSpPr>
          <p:cNvPr id="9" name="Shape 7"/>
          <p:cNvSpPr/>
          <p:nvPr/>
        </p:nvSpPr>
        <p:spPr>
          <a:xfrm>
            <a:off x="640080" y="4114800"/>
            <a:ext cx="548640" cy="548640"/>
          </a:xfrm>
          <a:prstGeom prst="ellipse">
            <a:avLst/>
          </a:prstGeom>
          <a:solidFill>
            <a:srgbClr val="F59E0B"/>
          </a:solidFill>
          <a:ln w="12700">
            <a:solidFill>
              <a:srgbClr val="F59E0B"/>
            </a:solidFill>
            <a:prstDash val="solid"/>
          </a:ln>
        </p:spPr>
      </p:sp>
      <p:sp>
        <p:nvSpPr>
          <p:cNvPr id="10" name="Text 8"/>
          <p:cNvSpPr txBox="1"/>
          <p:nvPr/>
        </p:nvSpPr>
        <p:spPr>
          <a:xfrm>
            <a:off x="640080" y="411480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417320" y="402336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Professional practice: security, 146 automated tests, CI, clean modules and documentation.</a:t>
            </a:r>
            <a:endParaRPr lang="en-US" sz="1600" dirty="0"/>
          </a:p>
        </p:txBody>
      </p:sp>
      <p:sp>
        <p:nvSpPr>
          <p:cNvPr id="12" name="Text 10"/>
          <p:cNvSpPr txBox="1"/>
          <p:nvPr/>
        </p:nvSpPr>
        <p:spPr>
          <a:xfrm>
            <a:off x="6949440" y="2011680"/>
            <a:ext cx="4572000" cy="914400"/>
          </a:xfrm>
          <a:prstGeom prst="rect">
            <a:avLst/>
          </a:prstGeom>
          <a:noFill/>
          <a:ln/>
        </p:spPr>
        <p:txBody>
          <a:bodyPr wrap="square" lIns="0" tIns="0" rIns="0" bIns="0" rtlCol="0" anchor="ctr"/>
          <a:lstStyle/>
          <a:p>
            <a:pPr algn="ctr" indent="0" marL="0">
              <a:buNone/>
            </a:pPr>
            <a:r>
              <a:rPr lang="en-US" sz="4800" b="1" dirty="0">
                <a:solidFill>
                  <a:srgbClr val="F59E0B"/>
                </a:solidFill>
                <a:latin typeface="Arial" pitchFamily="34" charset="0"/>
                <a:ea typeface="Arial" pitchFamily="34" charset="-122"/>
                <a:cs typeface="Arial" pitchFamily="34" charset="-120"/>
              </a:rPr>
              <a:t>Thank you</a:t>
            </a:r>
            <a:endParaRPr lang="en-US" sz="4800" dirty="0"/>
          </a:p>
        </p:txBody>
      </p:sp>
      <p:sp>
        <p:nvSpPr>
          <p:cNvPr id="13" name="Text 11"/>
          <p:cNvSpPr txBox="1"/>
          <p:nvPr/>
        </p:nvSpPr>
        <p:spPr>
          <a:xfrm>
            <a:off x="6949440" y="2926080"/>
            <a:ext cx="4572000" cy="548640"/>
          </a:xfrm>
          <a:prstGeom prst="rect">
            <a:avLst/>
          </a:prstGeom>
          <a:noFill/>
          <a:ln/>
        </p:spPr>
        <p:txBody>
          <a:bodyPr wrap="square" lIns="0" tIns="0" rIns="0" bIns="0" rtlCol="0" anchor="ctr"/>
          <a:lstStyle/>
          <a:p>
            <a:pPr algn="ctr" indent="0" marL="0">
              <a:buNone/>
            </a:pPr>
            <a:r>
              <a:rPr lang="en-US" sz="2600" dirty="0">
                <a:solidFill>
                  <a:srgbClr val="FFFFFF"/>
                </a:solidFill>
                <a:latin typeface="Arial" pitchFamily="34" charset="0"/>
                <a:ea typeface="Arial" pitchFamily="34" charset="-122"/>
                <a:cs typeface="Arial" pitchFamily="34" charset="-120"/>
              </a:rPr>
              <a:t>Questions?</a:t>
            </a:r>
            <a:endParaRPr lang="en-US" sz="2600" dirty="0"/>
          </a:p>
        </p:txBody>
      </p:sp>
      <p:sp>
        <p:nvSpPr>
          <p:cNvPr id="14" name="Text 12"/>
          <p:cNvSpPr txBox="1"/>
          <p:nvPr/>
        </p:nvSpPr>
        <p:spPr>
          <a:xfrm>
            <a:off x="6949440" y="3931920"/>
            <a:ext cx="4572000" cy="365760"/>
          </a:xfrm>
          <a:prstGeom prst="rect">
            <a:avLst/>
          </a:prstGeom>
          <a:noFill/>
          <a:ln/>
        </p:spPr>
        <p:txBody>
          <a:bodyPr wrap="square" lIns="0" tIns="0" rIns="0" bIns="0" rtlCol="0" anchor="ctr"/>
          <a:lstStyle/>
          <a:p>
            <a:pPr algn="ctr" indent="0" marL="0">
              <a:buNone/>
            </a:pPr>
            <a:r>
              <a:rPr lang="en-US" sz="1500" dirty="0">
                <a:solidFill>
                  <a:srgbClr val="C7D2FE"/>
                </a:solidFill>
                <a:latin typeface="Calibri" pitchFamily="34" charset="0"/>
                <a:ea typeface="Calibri" pitchFamily="34" charset="-122"/>
                <a:cs typeface="Calibri" pitchFamily="34" charset="-120"/>
              </a:rPr>
              <a:t>github.com/madhavansuresh000-sys/eventhub</a:t>
            </a:r>
            <a:endParaRPr lang="en-US" sz="1500" dirty="0"/>
          </a:p>
        </p:txBody>
      </p:sp>
      <p:sp>
        <p:nvSpPr>
          <p:cNvPr id="15" name="Text 13"/>
          <p:cNvSpPr txBox="1"/>
          <p:nvPr/>
        </p:nvSpPr>
        <p:spPr>
          <a:xfrm>
            <a:off x="6949440" y="4343400"/>
            <a:ext cx="4572000" cy="365760"/>
          </a:xfrm>
          <a:prstGeom prst="rect">
            <a:avLst/>
          </a:prstGeom>
          <a:noFill/>
          <a:ln/>
        </p:spPr>
        <p:txBody>
          <a:bodyPr wrap="square" lIns="0" tIns="0" rIns="0" bIns="0" rtlCol="0" anchor="ctr"/>
          <a:lstStyle/>
          <a:p>
            <a:pPr algn="ctr" indent="0" marL="0">
              <a:buNone/>
            </a:pPr>
            <a:r>
              <a:rPr lang="en-US" sz="1400" dirty="0">
                <a:solidFill>
                  <a:srgbClr val="C7D2FE"/>
                </a:solidFill>
                <a:latin typeface="Calibri" pitchFamily="34" charset="0"/>
                <a:ea typeface="Calibri" pitchFamily="34" charset="-122"/>
                <a:cs typeface="Calibri" pitchFamily="34" charset="-120"/>
              </a:rPr>
              <a:t>Madhavan Suresh  ·  Java Full Stack</a:t>
            </a:r>
            <a:endParaRPr lang="en-US" sz="1400" dirty="0"/>
          </a:p>
        </p:txBody>
      </p:sp>
      <p:sp>
        <p:nvSpPr>
          <p:cNvPr id="16" name="Text 1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C7D2FE"/>
                </a:solidFill>
                <a:latin typeface="Calibri" pitchFamily="34" charset="0"/>
                <a:ea typeface="Calibri" pitchFamily="34" charset="-122"/>
                <a:cs typeface="Calibri" pitchFamily="34" charset="-120"/>
              </a:rPr>
              <a:t>EventHub  ·  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EventHub - College Event Management Platform</dc:title>
  <dc:subject>PptxGenJS Presentation</dc:subject>
  <dc:creator>Madhavan Suresh</dc:creator>
  <cp:lastModifiedBy>Madhavan Suresh</cp:lastModifiedBy>
  <cp:revision>1</cp:revision>
  <dcterms:created xsi:type="dcterms:W3CDTF">2026-09-29T15:32:14Z</dcterms:created>
  <dcterms:modified xsi:type="dcterms:W3CDTF">2026-09-29T15:32:14Z</dcterms:modified>
</cp:coreProperties>
</file>