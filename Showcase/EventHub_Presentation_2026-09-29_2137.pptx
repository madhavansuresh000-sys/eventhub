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1B4B"/>
                </a:solidFill>
                <a:latin typeface="Arial"/>
              </a:defRPr>
            </a:pPr>
            <a:r>
              <a:rPr sz="1400" b="0" i="0" u="none" strike="noStrike">
                <a:solidFill>
                  <a:srgbClr val="1E1B4B"/>
                </a:solidFill>
                <a:latin typeface="Arial"/>
              </a:rPr>
              <a:t>Line coverage by module (JaCoCo)</a:t>
            </a:r>
          </a:p>
        </c:rich>
      </c:tx>
      <c:layout/>
      <c:overlay val="0"/>
    </c:title>
    <c:autoTitleDeleted val="0"/>
    <c:plotArea>
      <c:layout/>
      <c:barChart>
        <c:barDir val="bar"/>
        <c:grouping val="clustered"/>
        <c:varyColors val="0"/>
        <c:ser>
          <c:idx val="0"/>
          <c:order val="0"/>
          <c:tx>
            <c:strRef>
              <c:f>Sheet1!$B$1</c:f>
              <c:strCache>
                <c:ptCount val="1"/>
                <c:pt idx="0">
                  <c:v>Line coverage %</c:v>
                </c:pt>
              </c:strCache>
            </c:strRef>
          </c:tx>
          <c:spPr>
            <a:solidFill>
              <a:srgbClr val="4F46E5"/>
            </a:solidFill>
            <a:effectLst/>
          </c:spPr>
          <c:invertIfNegative val="0"/>
          <c:dLbls>
            <c:numFmt formatCode="0&quot;%&quot;" sourceLinked="0"/>
            <c:txPr>
              <a:bodyPr/>
              <a:lstStyle/>
              <a:p>
                <a:pPr>
                  <a:defRPr b="0" i="0" strike="noStrike" sz="10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Sheet1!$A$2:$A$11</c:f>
              <c:multiLvlStrCache>
                <c:ptCount val="10"/>
                <c:lvl>
                  <c:pt idx="0">
                    <c:v>booking</c:v>
                  </c:pt>
                  <c:pt idx="1">
                    <c:v>auth</c:v>
                  </c:pt>
                  <c:pt idx="2">
                    <c:v>payment</c:v>
                  </c:pt>
                  <c:pt idx="3">
                    <c:v>gate</c:v>
                  </c:pt>
                  <c:pt idx="4">
                    <c:v>waitlist</c:v>
                  </c:pt>
                  <c:pt idx="5">
                    <c:v>notification</c:v>
                  </c:pt>
                  <c:pt idx="6">
                    <c:v>certificate</c:v>
                  </c:pt>
                  <c:pt idx="7">
                    <c:v>event</c:v>
                  </c:pt>
                  <c:pt idx="8">
                    <c:v>feedback</c:v>
                  </c:pt>
                  <c:pt idx="9">
                    <c:v>analytics</c:v>
                  </c:pt>
                </c:lvl>
              </c:multiLvlStrCache>
            </c:multiLvlStrRef>
          </c:cat>
          <c:val>
            <c:numRef>
              <c:f>Sheet1!$B$2:$B$11</c:f>
              <c:numCache>
                <c:formatCode>General</c:formatCode>
                <c:ptCount val="10"/>
                <c:pt idx="0">
                  <c:v>88</c:v>
                </c:pt>
                <c:pt idx="1">
                  <c:v>86</c:v>
                </c:pt>
                <c:pt idx="2">
                  <c:v>81</c:v>
                </c:pt>
                <c:pt idx="3">
                  <c:v>91</c:v>
                </c:pt>
                <c:pt idx="4">
                  <c:v>97</c:v>
                </c:pt>
                <c:pt idx="5">
                  <c:v>97</c:v>
                </c:pt>
                <c:pt idx="6">
                  <c:v>98</c:v>
                </c:pt>
                <c:pt idx="7">
                  <c:v>98</c:v>
                </c:pt>
                <c:pt idx="8">
                  <c:v>100</c:v>
                </c:pt>
                <c:pt idx="9">
                  <c:v>100</c:v>
                </c:pt>
              </c:numCache>
            </c:numRef>
          </c:val>
        </c:ser>
        <c:dLbls>
          <c:numFmt formatCode="0&quot;%&quot;" sourceLinked="0"/>
          <c:txPr>
            <a:bodyPr/>
            <a:lstStyle/>
            <a:p>
              <a:pPr>
                <a:defRPr b="0" i="0" strike="noStrike" sz="1000" u="none">
                  <a:solidFill>
                    <a:srgbClr val="FFFFFF"/>
                  </a:solidFill>
                  <a:latin typeface="Arial"/>
                </a:defRPr>
              </a:pPr>
            </a:p>
          </c:txPr>
          <c:dLblPos val="inEnd"/>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937"/>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EventHub, a website where a college runs all its events: students find events, book and pay, enter with a QR ticket and get a certificate. I built it with React for the screens, Spring Boot for the server and MySQL for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colleges manage events with WhatsApp and Google Forms. That causes four problems: two people get the same last seat, ticket screenshots are shared, certificates come late and can be faked, and organizers have no numbers. EventHub solves all four in one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set six objectives: easy discovery, fair booking that never oversells, a smart waitlist, fast and safe entry with QR codes, certificates only for people who really came, and useful numbers for organizers.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five kinds of users. A visitor only browses. A student books and gets tickets and certificates. An organizer runs events for one club. A volunteer scans tickets at the gate. The admin approves events and sees everything. The page hides buttons, but the server is what really protects each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numbers: 29 pages, 50 API endpoints, 17 database tables, 146 automated tests with 91 percent coverage of the business logic, and more than 60 commits on GitHub. About 6,600 lines of Java, 6,000 lines of React and 3,400 lines of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React with Tailwind for styling and Redux for shared state. The backend is Spring Boot on Java 25 with Spring Security. Data is in MySQL, running in Docker. For quality I used JUnit, Mockito, Testcontainers and Vitest, and GitHub Actions runs every test on every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runs the React app. It sends JSON requests to the Spring Boot server. Each request first passes the security filters, which read the login cookie and check the CSRF token. Then a controller receives it, a service applies the business rules inside a database transaction, and a repository reads or writes MySQL. The server also talks to Stripe for payments and to a mail server for emails.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is split into packages by business area, not by technical layer. So everything about bookings is in the booking package: the entity, repository, service and controller. This makes the code easy to find and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17 tables in four groups. The tables are never changed by hand: every change is a numbered Flyway migration file, V1 to V9, so every laptop and server has exactly the same database. Constraints in the database itself stop wrong data, for example a rating of 6 stars or the same ticket rated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event starts as a draft. The organizer submits it, and while it waits for approval it cannot be edited. The admin either approves it, and it becomes public, or sends it back with a reason. The server refuses any other move, and every step is recorded in the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student journey: find an event, hold the seats for ten minutes, pay, get a QR ticket, get scanned at the gate, receive a certificate after the event, and rate it. The bottom box shows the unhappy paths: a waitlist when it is sold out, automatic release when someone does not pay, and refunds for payments that arrive too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real booking. Ravi sees the live seat count, the seats are held for ten minutes while he pays, and after payment he gets a QR ticket. The key point is optimistic locking: the database refuses a save made with old data, so we can never sell the last seat twice. My test with 100 parallel threads proves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gate, the volunteer scans the QR code. The first scan says LET IN in green. The same ticket again says ALREADY USED in red, with the time and the volunteer name. The trick is one SQL update that only marks the ticket if it is not used yet, so even twenty gates at once cannot let the same ticket in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event, students who were really scanned at the gate can download a PDF certificate made by the server. Each certificate has a random number and a QR code. Anyone, for example a company reading a resume, can open the public verify page and see that it is genuine.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Organizers get a dashboard with tickets and money per day, the percentage of ticket holders who actually came, and the average rating. The database does the counting with GROUP BY, and the result is cached for sixty seconds, so opening the dashboard many times does not load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was built in from Phase 5. Passwords are hashed with BCrypt. The login token is a JWT inside an httpOnly cookie, which scripts cannot read. CSRF tokens stop other websites from acting as you. Every request is checked for the right role, and after five wrong passwords the account is locked for fifteen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is a big part of the project. There are 133 backend tests: unit tests with Mockito, and integration tests that start a real MySQL in Docker with Testcontainers. There are 13 React tests with Vitest. Coverage of the business logic is 91 percent. The tests also found real bugs, like a scanner crash and a test that failed one time in sixteen.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hardest problems I met. Each one is a real bug that I found with a test or a demo, understood, and fixed. For example, a MySQL deadlock between two bookings was solved by always updating the event row first, and emails are now sent only after the database change is committed.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EventHub in ten phases, from Java basics to launch. Each phase had a checklist and "done when" tests, and I only moved on when they passed. Phases zero to eight are finished; the last phase is putting it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future I would deploy it, add password reset by email, an installable app for the gate that works offline, UPI payments, Redis so it can run on several servers, and support for many colleges.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light moment before the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EventHub is a complete product, it stays correct when many people use it at once, and it follows professional practice with security, tests and CI. Thank you. I am happy to take questions, and the code is on my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slideLayout" Target="../slideLayouts/slideLayout1.xml"/><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slideLayout" Target="../slideLayouts/slideLayout1.xml"/><Relationship Id="rId8"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B4B"/>
        </a:solidFill>
      </p:bgPr>
    </p:bg>
    <p:spTree>
      <p:nvGrpSpPr>
        <p:cNvPr id="1" name=""/>
        <p:cNvGrpSpPr/>
        <p:nvPr/>
      </p:nvGrpSpPr>
      <p:grpSpPr>
        <a:xfrm>
          <a:off x="0" y="0"/>
          <a:ext cx="0" cy="0"/>
          <a:chOff x="0" y="0"/>
          <a:chExt cx="0" cy="0"/>
        </a:xfrm>
      </p:grpSpPr>
      <p:sp>
        <p:nvSpPr>
          <p:cNvPr id="2" name="Shape 0"/>
          <p:cNvSpPr/>
          <p:nvPr/>
        </p:nvSpPr>
        <p:spPr>
          <a:xfrm>
            <a:off x="640080" y="731520"/>
            <a:ext cx="822960" cy="822960"/>
          </a:xfrm>
          <a:prstGeom prst="ellipse">
            <a:avLst/>
          </a:prstGeom>
          <a:solidFill>
            <a:srgbClr val="F59E0B"/>
          </a:solidFill>
          <a:ln w="12700">
            <a:solidFill>
              <a:srgbClr val="F59E0B"/>
            </a:solidFill>
            <a:prstDash val="solid"/>
          </a:ln>
        </p:spPr>
      </p:sp>
      <p:pic>
        <p:nvPicPr>
          <p:cNvPr id="3" name="Image 0" descr="preencoded.png">    </p:cNvPr>
          <p:cNvPicPr>
            <a:picLocks noChangeAspect="1"/>
          </p:cNvPicPr>
          <p:nvPr/>
        </p:nvPicPr>
        <p:blipFill>
          <a:blip r:embed="rId1"/>
          <a:stretch>
            <a:fillRect/>
          </a:stretch>
        </p:blipFill>
        <p:spPr>
          <a:xfrm>
            <a:off x="837590" y="929030"/>
            <a:ext cx="427939" cy="427939"/>
          </a:xfrm>
          <a:prstGeom prst="rect">
            <a:avLst/>
          </a:prstGeom>
        </p:spPr>
      </p:pic>
      <p:sp>
        <p:nvSpPr>
          <p:cNvPr id="4" name="Text 1"/>
          <p:cNvSpPr txBox="1"/>
          <p:nvPr/>
        </p:nvSpPr>
        <p:spPr>
          <a:xfrm>
            <a:off x="640080" y="1783080"/>
            <a:ext cx="5486400" cy="1005840"/>
          </a:xfrm>
          <a:prstGeom prst="rect">
            <a:avLst/>
          </a:prstGeom>
          <a:noFill/>
          <a:ln/>
        </p:spPr>
        <p:txBody>
          <a:bodyPr wrap="square" lIns="0" tIns="0" rIns="0" bIns="0" rtlCol="0" anchor="ctr"/>
          <a:lstStyle/>
          <a:p>
            <a:pPr indent="0" marL="0">
              <a:buNone/>
            </a:pPr>
            <a:r>
              <a:rPr lang="en-US" sz="5800" b="1" dirty="0">
                <a:solidFill>
                  <a:srgbClr val="FFFFFF"/>
                </a:solidFill>
                <a:latin typeface="Arial" pitchFamily="34" charset="0"/>
                <a:ea typeface="Arial" pitchFamily="34" charset="-122"/>
                <a:cs typeface="Arial" pitchFamily="34" charset="-120"/>
              </a:rPr>
              <a:t>EventHub</a:t>
            </a:r>
            <a:endParaRPr lang="en-US" sz="5800" dirty="0"/>
          </a:p>
        </p:txBody>
      </p:sp>
      <p:sp>
        <p:nvSpPr>
          <p:cNvPr id="5" name="Text 2"/>
          <p:cNvSpPr txBox="1"/>
          <p:nvPr/>
        </p:nvSpPr>
        <p:spPr>
          <a:xfrm>
            <a:off x="640080" y="2788920"/>
            <a:ext cx="5486400" cy="548640"/>
          </a:xfrm>
          <a:prstGeom prst="rect">
            <a:avLst/>
          </a:prstGeom>
          <a:noFill/>
          <a:ln/>
        </p:spPr>
        <p:txBody>
          <a:bodyPr wrap="square" lIns="0" tIns="0" rIns="0" bIns="0" rtlCol="0" anchor="ctr"/>
          <a:lstStyle/>
          <a:p>
            <a:pPr indent="0" marL="0">
              <a:buNone/>
            </a:pPr>
            <a:r>
              <a:rPr lang="en-US" sz="2400" dirty="0">
                <a:solidFill>
                  <a:srgbClr val="C7D2FE"/>
                </a:solidFill>
                <a:latin typeface="Arial" pitchFamily="34" charset="0"/>
                <a:ea typeface="Arial" pitchFamily="34" charset="-122"/>
                <a:cs typeface="Arial" pitchFamily="34" charset="-120"/>
              </a:rPr>
              <a:t>College Event Management Platform</a:t>
            </a:r>
            <a:endParaRPr lang="en-US" sz="2400" dirty="0"/>
          </a:p>
        </p:txBody>
      </p:sp>
      <p:sp>
        <p:nvSpPr>
          <p:cNvPr id="6" name="Text 3"/>
          <p:cNvSpPr txBox="1"/>
          <p:nvPr/>
        </p:nvSpPr>
        <p:spPr>
          <a:xfrm>
            <a:off x="640080" y="3474720"/>
            <a:ext cx="5120640" cy="73152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Find, book, pay, enter with a QR ticket, get a certificate - all in one place.</a:t>
            </a:r>
            <a:endParaRPr lang="en-US" sz="1600" dirty="0"/>
          </a:p>
        </p:txBody>
      </p:sp>
      <p:sp>
        <p:nvSpPr>
          <p:cNvPr id="7" name="Text 4"/>
          <p:cNvSpPr txBox="1"/>
          <p:nvPr/>
        </p:nvSpPr>
        <p:spPr>
          <a:xfrm>
            <a:off x="640080" y="5120640"/>
            <a:ext cx="5486400" cy="731520"/>
          </a:xfrm>
          <a:prstGeom prst="rect">
            <a:avLst/>
          </a:prstGeom>
          <a:noFill/>
          <a:ln/>
        </p:spPr>
        <p:txBody>
          <a:bodyPr wrap="square" lIns="0" tIns="0" rIns="0" bIns="0" rtlCol="0" anchor="ctr"/>
          <a:lstStyle/>
          <a:p>
            <a:pPr indent="0" marL="0">
              <a:buNone/>
            </a:pPr>
            <a:r>
              <a:rPr lang="en-US" sz="1400" dirty="0">
                <a:solidFill>
                  <a:srgbClr val="C7D2FE"/>
                </a:solidFill>
                <a:latin typeface="Calibri" pitchFamily="34" charset="0"/>
                <a:ea typeface="Calibri" pitchFamily="34" charset="-122"/>
                <a:cs typeface="Calibri" pitchFamily="34" charset="-120"/>
              </a:rPr>
              <a:t>Java Full Stack project  ·  React + Spring Boot + MySQL</a:t>
            </a:r>
            <a:endParaRPr lang="en-US" sz="1400" dirty="0"/>
          </a:p>
          <a:p>
            <a:pPr indent="0" marL="0">
              <a:buNone/>
            </a:pPr>
            <a:r>
              <a:rPr lang="en-US" sz="1400" dirty="0">
                <a:solidFill>
                  <a:srgbClr val="C7D2FE"/>
                </a:solidFill>
                <a:latin typeface="Calibri" pitchFamily="34" charset="0"/>
                <a:ea typeface="Calibri" pitchFamily="34" charset="-122"/>
                <a:cs typeface="Calibri" pitchFamily="34" charset="-120"/>
              </a:rPr>
              <a:t>Madhavan Suresh  ·  September 2026</a:t>
            </a:r>
            <a:endParaRPr lang="en-US" sz="1400" dirty="0"/>
          </a:p>
        </p:txBody>
      </p:sp>
      <p:sp>
        <p:nvSpPr>
          <p:cNvPr id="8" name="Shape 5"/>
          <p:cNvSpPr/>
          <p:nvPr/>
        </p:nvSpPr>
        <p:spPr>
          <a:xfrm>
            <a:off x="6254496" y="1956816"/>
            <a:ext cx="5413248" cy="2184753"/>
          </a:xfrm>
          <a:prstGeom prst="roundRect">
            <a:avLst>
              <a:gd name="adj" fmla="val 5022"/>
            </a:avLst>
          </a:prstGeom>
          <a:solidFill>
            <a:srgbClr val="1E1B4B"/>
          </a:solidFill>
          <a:ln w="12700">
            <a:solidFill>
              <a:srgbClr val="1E1B4B"/>
            </a:solidFill>
            <a:prstDash val="solid"/>
          </a:ln>
          <a:effectLst>
            <a:outerShdw sx="100000" sy="100000" kx="0" ky="0" algn="bl" rotWithShape="0" blurRad="101600" dist="38100" dir="5400000">
              <a:srgbClr val="000000">
                <a:alpha val="25000"/>
              </a:srgbClr>
            </a:outerShdw>
          </a:effectLst>
        </p:spPr>
      </p:sp>
      <p:pic>
        <p:nvPicPr>
          <p:cNvPr id="9" name="Image 1" descr="D:/Java_FullStack_Journey/02_EventHub_Practice_Project/Showcase/screenshots/01-home.png">    </p:cNvPr>
          <p:cNvPicPr>
            <a:picLocks noChangeAspect="1"/>
          </p:cNvPicPr>
          <p:nvPr/>
        </p:nvPicPr>
        <p:blipFill>
          <a:blip r:embed="rId2"/>
          <a:stretch>
            <a:fillRect/>
          </a:stretch>
        </p:blipFill>
        <p:spPr>
          <a:xfrm>
            <a:off x="6309360" y="2011680"/>
            <a:ext cx="5303520" cy="2075025"/>
          </a:xfrm>
          <a:prstGeom prst="rect">
            <a:avLst/>
          </a:prstGeom>
        </p:spPr>
      </p:pic>
      <p:sp>
        <p:nvSpPr>
          <p:cNvPr id="10" name="Text 6"/>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C7D2FE"/>
                </a:solidFill>
                <a:latin typeface="Calibri" pitchFamily="34" charset="0"/>
                <a:ea typeface="Calibri" pitchFamily="34" charset="-122"/>
                <a:cs typeface="Calibri" pitchFamily="34" charset="-120"/>
              </a:rPr>
              <a:t>EventHub  ·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The problem</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Today most college events run on WhatsApp groups and Google Forms</a:t>
            </a:r>
            <a:endParaRPr lang="en-US" sz="1600" dirty="0"/>
          </a:p>
        </p:txBody>
      </p:sp>
      <p:sp>
        <p:nvSpPr>
          <p:cNvPr id="4" name="Shape 2"/>
          <p:cNvSpPr/>
          <p:nvPr/>
        </p:nvSpPr>
        <p:spPr>
          <a:xfrm>
            <a:off x="548640" y="1691640"/>
            <a:ext cx="640080" cy="640080"/>
          </a:xfrm>
          <a:prstGeom prst="ellipse">
            <a:avLst/>
          </a:prstGeom>
          <a:solidFill>
            <a:srgbClr val="FEF3C7"/>
          </a:solidFill>
          <a:ln w="12700">
            <a:solidFill>
              <a:srgbClr val="FEF3C7"/>
            </a:solidFill>
            <a:prstDash val="solid"/>
          </a:ln>
        </p:spPr>
      </p:sp>
      <p:pic>
        <p:nvPicPr>
          <p:cNvPr id="5" name="Image 0" descr="preencoded.png">    </p:cNvPr>
          <p:cNvPicPr>
            <a:picLocks noChangeAspect="1"/>
          </p:cNvPicPr>
          <p:nvPr/>
        </p:nvPicPr>
        <p:blipFill>
          <a:blip r:embed="rId1"/>
          <a:stretch>
            <a:fillRect/>
          </a:stretch>
        </p:blipFill>
        <p:spPr>
          <a:xfrm>
            <a:off x="702259" y="1845259"/>
            <a:ext cx="332842" cy="332842"/>
          </a:xfrm>
          <a:prstGeom prst="rect">
            <a:avLst/>
          </a:prstGeom>
        </p:spPr>
      </p:pic>
      <p:sp>
        <p:nvSpPr>
          <p:cNvPr id="6" name="Text 3"/>
          <p:cNvSpPr txBox="1"/>
          <p:nvPr/>
        </p:nvSpPr>
        <p:spPr>
          <a:xfrm>
            <a:off x="1417320" y="1673352"/>
            <a:ext cx="4846320" cy="365760"/>
          </a:xfrm>
          <a:prstGeom prst="rect">
            <a:avLst/>
          </a:prstGeom>
          <a:noFill/>
          <a:ln/>
        </p:spPr>
        <p:txBody>
          <a:bodyPr wrap="square" lIns="0" tIns="0" rIns="0" bIns="0" rtlCol="0" anchor="ctr"/>
          <a:lstStyle/>
          <a:p>
            <a:pPr indent="0" marL="0">
              <a:buNone/>
            </a:pPr>
            <a:r>
              <a:rPr lang="en-US" sz="1800" b="1" dirty="0">
                <a:solidFill>
                  <a:srgbClr val="1E1B4B"/>
                </a:solidFill>
                <a:latin typeface="Arial" pitchFamily="34" charset="0"/>
                <a:ea typeface="Arial" pitchFamily="34" charset="-122"/>
                <a:cs typeface="Arial" pitchFamily="34" charset="-120"/>
              </a:rPr>
              <a:t>Overbooking</a:t>
            </a:r>
            <a:endParaRPr lang="en-US" sz="1800" dirty="0"/>
          </a:p>
        </p:txBody>
      </p:sp>
      <p:sp>
        <p:nvSpPr>
          <p:cNvPr id="7" name="Text 4"/>
          <p:cNvSpPr txBox="1"/>
          <p:nvPr/>
        </p:nvSpPr>
        <p:spPr>
          <a:xfrm>
            <a:off x="1417320" y="2039112"/>
            <a:ext cx="4846320" cy="4572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Two students fill the form for the last seat - both think they are in.</a:t>
            </a:r>
            <a:endParaRPr lang="en-US" sz="1400" dirty="0"/>
          </a:p>
        </p:txBody>
      </p:sp>
      <p:sp>
        <p:nvSpPr>
          <p:cNvPr id="8" name="Shape 5"/>
          <p:cNvSpPr/>
          <p:nvPr/>
        </p:nvSpPr>
        <p:spPr>
          <a:xfrm>
            <a:off x="548640" y="2788920"/>
            <a:ext cx="640080" cy="640080"/>
          </a:xfrm>
          <a:prstGeom prst="ellipse">
            <a:avLst/>
          </a:prstGeom>
          <a:solidFill>
            <a:srgbClr val="FEF3C7"/>
          </a:solidFill>
          <a:ln w="12700">
            <a:solidFill>
              <a:srgbClr val="FEF3C7"/>
            </a:solidFill>
            <a:prstDash val="solid"/>
          </a:ln>
        </p:spPr>
      </p:sp>
      <p:pic>
        <p:nvPicPr>
          <p:cNvPr id="9" name="Image 1" descr="preencoded.png">    </p:cNvPr>
          <p:cNvPicPr>
            <a:picLocks noChangeAspect="1"/>
          </p:cNvPicPr>
          <p:nvPr/>
        </p:nvPicPr>
        <p:blipFill>
          <a:blip r:embed="rId2"/>
          <a:stretch>
            <a:fillRect/>
          </a:stretch>
        </p:blipFill>
        <p:spPr>
          <a:xfrm>
            <a:off x="702259" y="2942539"/>
            <a:ext cx="332842" cy="332842"/>
          </a:xfrm>
          <a:prstGeom prst="rect">
            <a:avLst/>
          </a:prstGeom>
        </p:spPr>
      </p:pic>
      <p:sp>
        <p:nvSpPr>
          <p:cNvPr id="10" name="Text 6"/>
          <p:cNvSpPr txBox="1"/>
          <p:nvPr/>
        </p:nvSpPr>
        <p:spPr>
          <a:xfrm>
            <a:off x="1417320" y="2770632"/>
            <a:ext cx="4846320" cy="365760"/>
          </a:xfrm>
          <a:prstGeom prst="rect">
            <a:avLst/>
          </a:prstGeom>
          <a:noFill/>
          <a:ln/>
        </p:spPr>
        <p:txBody>
          <a:bodyPr wrap="square" lIns="0" tIns="0" rIns="0" bIns="0" rtlCol="0" anchor="ctr"/>
          <a:lstStyle/>
          <a:p>
            <a:pPr indent="0" marL="0">
              <a:buNone/>
            </a:pPr>
            <a:r>
              <a:rPr lang="en-US" sz="1800" b="1" dirty="0">
                <a:solidFill>
                  <a:srgbClr val="1E1B4B"/>
                </a:solidFill>
                <a:latin typeface="Arial" pitchFamily="34" charset="0"/>
                <a:ea typeface="Arial" pitchFamily="34" charset="-122"/>
                <a:cs typeface="Arial" pitchFamily="34" charset="-120"/>
              </a:rPr>
              <a:t>Fake entries</a:t>
            </a:r>
            <a:endParaRPr lang="en-US" sz="1800" dirty="0"/>
          </a:p>
        </p:txBody>
      </p:sp>
      <p:sp>
        <p:nvSpPr>
          <p:cNvPr id="11" name="Text 7"/>
          <p:cNvSpPr txBox="1"/>
          <p:nvPr/>
        </p:nvSpPr>
        <p:spPr>
          <a:xfrm>
            <a:off x="1417320" y="3136392"/>
            <a:ext cx="4846320" cy="4572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A screenshot of a ticket is shared; nobody can tell who already entered.</a:t>
            </a:r>
            <a:endParaRPr lang="en-US" sz="1400" dirty="0"/>
          </a:p>
        </p:txBody>
      </p:sp>
      <p:sp>
        <p:nvSpPr>
          <p:cNvPr id="12" name="Shape 8"/>
          <p:cNvSpPr/>
          <p:nvPr/>
        </p:nvSpPr>
        <p:spPr>
          <a:xfrm>
            <a:off x="548640" y="3886200"/>
            <a:ext cx="640080" cy="640080"/>
          </a:xfrm>
          <a:prstGeom prst="ellipse">
            <a:avLst/>
          </a:prstGeom>
          <a:solidFill>
            <a:srgbClr val="FEF3C7"/>
          </a:solidFill>
          <a:ln w="12700">
            <a:solidFill>
              <a:srgbClr val="FEF3C7"/>
            </a:solidFill>
            <a:prstDash val="solid"/>
          </a:ln>
        </p:spPr>
      </p:sp>
      <p:pic>
        <p:nvPicPr>
          <p:cNvPr id="13" name="Image 2" descr="preencoded.png">    </p:cNvPr>
          <p:cNvPicPr>
            <a:picLocks noChangeAspect="1"/>
          </p:cNvPicPr>
          <p:nvPr/>
        </p:nvPicPr>
        <p:blipFill>
          <a:blip r:embed="rId3"/>
          <a:stretch>
            <a:fillRect/>
          </a:stretch>
        </p:blipFill>
        <p:spPr>
          <a:xfrm>
            <a:off x="702259" y="4039819"/>
            <a:ext cx="332842" cy="332842"/>
          </a:xfrm>
          <a:prstGeom prst="rect">
            <a:avLst/>
          </a:prstGeom>
        </p:spPr>
      </p:pic>
      <p:sp>
        <p:nvSpPr>
          <p:cNvPr id="14" name="Text 9"/>
          <p:cNvSpPr txBox="1"/>
          <p:nvPr/>
        </p:nvSpPr>
        <p:spPr>
          <a:xfrm>
            <a:off x="1417320" y="3867912"/>
            <a:ext cx="4846320" cy="365760"/>
          </a:xfrm>
          <a:prstGeom prst="rect">
            <a:avLst/>
          </a:prstGeom>
          <a:noFill/>
          <a:ln/>
        </p:spPr>
        <p:txBody>
          <a:bodyPr wrap="square" lIns="0" tIns="0" rIns="0" bIns="0" rtlCol="0" anchor="ctr"/>
          <a:lstStyle/>
          <a:p>
            <a:pPr indent="0" marL="0">
              <a:buNone/>
            </a:pPr>
            <a:r>
              <a:rPr lang="en-US" sz="1800" b="1" dirty="0">
                <a:solidFill>
                  <a:srgbClr val="1E1B4B"/>
                </a:solidFill>
                <a:latin typeface="Arial" pitchFamily="34" charset="0"/>
                <a:ea typeface="Arial" pitchFamily="34" charset="-122"/>
                <a:cs typeface="Arial" pitchFamily="34" charset="-120"/>
              </a:rPr>
              <a:t>Late certificates</a:t>
            </a:r>
            <a:endParaRPr lang="en-US" sz="1800" dirty="0"/>
          </a:p>
        </p:txBody>
      </p:sp>
      <p:sp>
        <p:nvSpPr>
          <p:cNvPr id="15" name="Text 10"/>
          <p:cNvSpPr txBox="1"/>
          <p:nvPr/>
        </p:nvSpPr>
        <p:spPr>
          <a:xfrm>
            <a:off x="1417320" y="4233672"/>
            <a:ext cx="4846320" cy="4572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Made by hand weeks later, and easy to fake on a resume.</a:t>
            </a:r>
            <a:endParaRPr lang="en-US" sz="1400" dirty="0"/>
          </a:p>
        </p:txBody>
      </p:sp>
      <p:sp>
        <p:nvSpPr>
          <p:cNvPr id="16" name="Shape 11"/>
          <p:cNvSpPr/>
          <p:nvPr/>
        </p:nvSpPr>
        <p:spPr>
          <a:xfrm>
            <a:off x="548640" y="4983480"/>
            <a:ext cx="640080" cy="640080"/>
          </a:xfrm>
          <a:prstGeom prst="ellipse">
            <a:avLst/>
          </a:prstGeom>
          <a:solidFill>
            <a:srgbClr val="FEF3C7"/>
          </a:solidFill>
          <a:ln w="12700">
            <a:solidFill>
              <a:srgbClr val="FEF3C7"/>
            </a:solidFill>
            <a:prstDash val="solid"/>
          </a:ln>
        </p:spPr>
      </p:sp>
      <p:pic>
        <p:nvPicPr>
          <p:cNvPr id="17" name="Image 3" descr="preencoded.png">    </p:cNvPr>
          <p:cNvPicPr>
            <a:picLocks noChangeAspect="1"/>
          </p:cNvPicPr>
          <p:nvPr/>
        </p:nvPicPr>
        <p:blipFill>
          <a:blip r:embed="rId4"/>
          <a:stretch>
            <a:fillRect/>
          </a:stretch>
        </p:blipFill>
        <p:spPr>
          <a:xfrm>
            <a:off x="702259" y="5137099"/>
            <a:ext cx="332842" cy="332842"/>
          </a:xfrm>
          <a:prstGeom prst="rect">
            <a:avLst/>
          </a:prstGeom>
        </p:spPr>
      </p:pic>
      <p:sp>
        <p:nvSpPr>
          <p:cNvPr id="18" name="Text 12"/>
          <p:cNvSpPr txBox="1"/>
          <p:nvPr/>
        </p:nvSpPr>
        <p:spPr>
          <a:xfrm>
            <a:off x="1417320" y="4965192"/>
            <a:ext cx="4846320" cy="365760"/>
          </a:xfrm>
          <a:prstGeom prst="rect">
            <a:avLst/>
          </a:prstGeom>
          <a:noFill/>
          <a:ln/>
        </p:spPr>
        <p:txBody>
          <a:bodyPr wrap="square" lIns="0" tIns="0" rIns="0" bIns="0" rtlCol="0" anchor="ctr"/>
          <a:lstStyle/>
          <a:p>
            <a:pPr indent="0" marL="0">
              <a:buNone/>
            </a:pPr>
            <a:r>
              <a:rPr lang="en-US" sz="1800" b="1" dirty="0">
                <a:solidFill>
                  <a:srgbClr val="1E1B4B"/>
                </a:solidFill>
                <a:latin typeface="Arial" pitchFamily="34" charset="0"/>
                <a:ea typeface="Arial" pitchFamily="34" charset="-122"/>
                <a:cs typeface="Arial" pitchFamily="34" charset="-120"/>
              </a:rPr>
              <a:t>No insight</a:t>
            </a:r>
            <a:endParaRPr lang="en-US" sz="1800" dirty="0"/>
          </a:p>
        </p:txBody>
      </p:sp>
      <p:sp>
        <p:nvSpPr>
          <p:cNvPr id="19" name="Text 13"/>
          <p:cNvSpPr txBox="1"/>
          <p:nvPr/>
        </p:nvSpPr>
        <p:spPr>
          <a:xfrm>
            <a:off x="1417320" y="5330952"/>
            <a:ext cx="4846320" cy="4572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Organizers cannot see sales, attendance or what students thought.</a:t>
            </a:r>
            <a:endParaRPr lang="en-US" sz="1400" dirty="0"/>
          </a:p>
        </p:txBody>
      </p:sp>
      <p:sp>
        <p:nvSpPr>
          <p:cNvPr id="20" name="Shape 14"/>
          <p:cNvSpPr/>
          <p:nvPr/>
        </p:nvSpPr>
        <p:spPr>
          <a:xfrm>
            <a:off x="6766560" y="1691640"/>
            <a:ext cx="4846320" cy="4114800"/>
          </a:xfrm>
          <a:prstGeom prst="roundRect">
            <a:avLst>
              <a:gd name="adj" fmla="val 2667"/>
            </a:avLst>
          </a:prstGeom>
          <a:solidFill>
            <a:srgbClr val="1E1B4B"/>
          </a:solidFill>
          <a:ln w="12700">
            <a:solidFill>
              <a:srgbClr val="1E1B4B"/>
            </a:solidFill>
            <a:prstDash val="solid"/>
          </a:ln>
        </p:spPr>
      </p:sp>
      <p:sp>
        <p:nvSpPr>
          <p:cNvPr id="21" name="Text 15"/>
          <p:cNvSpPr txBox="1"/>
          <p:nvPr/>
        </p:nvSpPr>
        <p:spPr>
          <a:xfrm>
            <a:off x="7132320" y="1965960"/>
            <a:ext cx="4206240" cy="365760"/>
          </a:xfrm>
          <a:prstGeom prst="rect">
            <a:avLst/>
          </a:prstGeom>
          <a:noFill/>
          <a:ln/>
        </p:spPr>
        <p:txBody>
          <a:bodyPr wrap="square" lIns="0" tIns="0" rIns="0" bIns="0" rtlCol="0" anchor="ctr"/>
          <a:lstStyle/>
          <a:p>
            <a:pPr indent="0" marL="0">
              <a:buNone/>
            </a:pPr>
            <a:r>
              <a:rPr lang="en-US" sz="1600" b="1" dirty="0">
                <a:solidFill>
                  <a:srgbClr val="F59E0B"/>
                </a:solidFill>
                <a:latin typeface="Arial" pitchFamily="34" charset="0"/>
                <a:ea typeface="Arial" pitchFamily="34" charset="-122"/>
                <a:cs typeface="Arial" pitchFamily="34" charset="-120"/>
              </a:rPr>
              <a:t>The solution</a:t>
            </a:r>
            <a:endParaRPr lang="en-US" sz="1600" dirty="0"/>
          </a:p>
        </p:txBody>
      </p:sp>
      <p:sp>
        <p:nvSpPr>
          <p:cNvPr id="22" name="Text 16"/>
          <p:cNvSpPr txBox="1"/>
          <p:nvPr/>
        </p:nvSpPr>
        <p:spPr>
          <a:xfrm>
            <a:off x="7132320" y="2377440"/>
            <a:ext cx="4206240" cy="82296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EventHub puts the whole journey in one place</a:t>
            </a:r>
            <a:endParaRPr lang="en-US" sz="2200" dirty="0"/>
          </a:p>
        </p:txBody>
      </p:sp>
      <p:sp>
        <p:nvSpPr>
          <p:cNvPr id="23" name="Text 17"/>
          <p:cNvSpPr txBox="1"/>
          <p:nvPr/>
        </p:nvSpPr>
        <p:spPr>
          <a:xfrm>
            <a:off x="7132320" y="3291840"/>
            <a:ext cx="4206240" cy="2286000"/>
          </a:xfrm>
          <a:prstGeom prst="rect">
            <a:avLst/>
          </a:prstGeom>
          <a:noFill/>
          <a:ln/>
        </p:spPr>
        <p:txBody>
          <a:bodyPr wrap="square" lIns="0" tIns="0" rIns="0" bIns="0" rtlCol="0" anchor="ctr"/>
          <a:lstStyle/>
          <a:p>
            <a:pPr marL="342900" indent="-342900">
              <a:spcAft>
                <a:spcPts val="600"/>
              </a:spcAft>
              <a:buSzPct val="100000"/>
              <a:buChar char="•"/>
            </a:pPr>
            <a:r>
              <a:rPr lang="en-US" sz="1500" dirty="0">
                <a:solidFill>
                  <a:srgbClr val="C7D2FE"/>
                </a:solidFill>
                <a:latin typeface="Calibri" pitchFamily="34" charset="0"/>
                <a:ea typeface="Calibri" pitchFamily="34" charset="-122"/>
                <a:cs typeface="Calibri" pitchFamily="34" charset="-120"/>
              </a:rPr>
              <a:t>Find</a:t>
            </a:r>
            <a:endParaRPr lang="en-US" sz="1500" dirty="0"/>
          </a:p>
          <a:p>
            <a:pPr marL="342900" indent="-342900">
              <a:spcAft>
                <a:spcPts val="600"/>
              </a:spcAft>
              <a:buSzPct val="100000"/>
              <a:buChar char="•"/>
            </a:pPr>
            <a:r>
              <a:rPr lang="en-US" sz="1500" dirty="0">
                <a:solidFill>
                  <a:srgbClr val="C7D2FE"/>
                </a:solidFill>
                <a:latin typeface="Calibri" pitchFamily="34" charset="0"/>
                <a:ea typeface="Calibri" pitchFamily="34" charset="-122"/>
                <a:cs typeface="Calibri" pitchFamily="34" charset="-120"/>
              </a:rPr>
              <a:t>Book and pay (seat held 10 minutes)</a:t>
            </a:r>
            <a:endParaRPr lang="en-US" sz="1500" dirty="0"/>
          </a:p>
          <a:p>
            <a:pPr marL="342900" indent="-342900">
              <a:spcAft>
                <a:spcPts val="600"/>
              </a:spcAft>
              <a:buSzPct val="100000"/>
              <a:buChar char="•"/>
            </a:pPr>
            <a:r>
              <a:rPr lang="en-US" sz="1500" dirty="0">
                <a:solidFill>
                  <a:srgbClr val="C7D2FE"/>
                </a:solidFill>
                <a:latin typeface="Calibri" pitchFamily="34" charset="0"/>
                <a:ea typeface="Calibri" pitchFamily="34" charset="-122"/>
                <a:cs typeface="Calibri" pitchFamily="34" charset="-120"/>
              </a:rPr>
              <a:t>Enter with a one-time QR ticket</a:t>
            </a:r>
            <a:endParaRPr lang="en-US" sz="1500" dirty="0"/>
          </a:p>
          <a:p>
            <a:pPr marL="342900" indent="-342900">
              <a:spcAft>
                <a:spcPts val="600"/>
              </a:spcAft>
              <a:buSzPct val="100000"/>
              <a:buChar char="•"/>
            </a:pPr>
            <a:r>
              <a:rPr lang="en-US" sz="1500" dirty="0">
                <a:solidFill>
                  <a:srgbClr val="C7D2FE"/>
                </a:solidFill>
                <a:latin typeface="Calibri" pitchFamily="34" charset="0"/>
                <a:ea typeface="Calibri" pitchFamily="34" charset="-122"/>
                <a:cs typeface="Calibri" pitchFamily="34" charset="-120"/>
              </a:rPr>
              <a:t>Get a verifiable PDF certificate</a:t>
            </a:r>
            <a:endParaRPr lang="en-US" sz="1500" dirty="0"/>
          </a:p>
          <a:p>
            <a:pPr marL="342900" indent="-342900">
              <a:spcAft>
                <a:spcPts val="600"/>
              </a:spcAft>
              <a:buSzPct val="100000"/>
              <a:buChar char="•"/>
            </a:pPr>
            <a:r>
              <a:rPr lang="en-US" sz="1500" dirty="0">
                <a:solidFill>
                  <a:srgbClr val="C7D2FE"/>
                </a:solidFill>
                <a:latin typeface="Calibri" pitchFamily="34" charset="0"/>
                <a:ea typeface="Calibri" pitchFamily="34" charset="-122"/>
                <a:cs typeface="Calibri" pitchFamily="34" charset="-120"/>
              </a:rPr>
              <a:t>Give feedback - organizers see analytics</a:t>
            </a:r>
            <a:endParaRPr lang="en-US" sz="1500" dirty="0"/>
          </a:p>
        </p:txBody>
      </p:sp>
      <p:sp>
        <p:nvSpPr>
          <p:cNvPr id="24" name="Text 18"/>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Objectives</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What the project had to achieve</a:t>
            </a:r>
            <a:endParaRPr lang="en-US" sz="1600" dirty="0"/>
          </a:p>
        </p:txBody>
      </p:sp>
      <p:sp>
        <p:nvSpPr>
          <p:cNvPr id="4" name="Shape 2"/>
          <p:cNvSpPr/>
          <p:nvPr/>
        </p:nvSpPr>
        <p:spPr>
          <a:xfrm>
            <a:off x="548640" y="1645920"/>
            <a:ext cx="3474720" cy="2011680"/>
          </a:xfrm>
          <a:prstGeom prst="roundRect">
            <a:avLst>
              <a:gd name="adj" fmla="val 5455"/>
            </a:avLst>
          </a:prstGeom>
          <a:solidFill>
            <a:srgbClr val="EEF2FF"/>
          </a:solidFill>
          <a:ln w="12700">
            <a:solidFill>
              <a:srgbClr val="EEF2FF"/>
            </a:solidFill>
            <a:prstDash val="solid"/>
          </a:ln>
        </p:spPr>
      </p:sp>
      <p:sp>
        <p:nvSpPr>
          <p:cNvPr id="5" name="Shape 3"/>
          <p:cNvSpPr/>
          <p:nvPr/>
        </p:nvSpPr>
        <p:spPr>
          <a:xfrm>
            <a:off x="822960" y="1920240"/>
            <a:ext cx="566928" cy="566928"/>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959023" y="2056303"/>
            <a:ext cx="294803" cy="294803"/>
          </a:xfrm>
          <a:prstGeom prst="rect">
            <a:avLst/>
          </a:prstGeom>
        </p:spPr>
      </p:pic>
      <p:sp>
        <p:nvSpPr>
          <p:cNvPr id="7" name="Text 4"/>
          <p:cNvSpPr txBox="1"/>
          <p:nvPr/>
        </p:nvSpPr>
        <p:spPr>
          <a:xfrm>
            <a:off x="1554480" y="1965960"/>
            <a:ext cx="2286000" cy="502920"/>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Easy discovery</a:t>
            </a:r>
            <a:endParaRPr lang="en-US" sz="1700" dirty="0"/>
          </a:p>
        </p:txBody>
      </p:sp>
      <p:sp>
        <p:nvSpPr>
          <p:cNvPr id="8" name="Text 5"/>
          <p:cNvSpPr txBox="1"/>
          <p:nvPr/>
        </p:nvSpPr>
        <p:spPr>
          <a:xfrm>
            <a:off x="822960" y="2651760"/>
            <a:ext cx="2971800" cy="8686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Search and filter events by text, tag, club and date - on the server, with paging.</a:t>
            </a:r>
            <a:endParaRPr lang="en-US" sz="1400" dirty="0"/>
          </a:p>
        </p:txBody>
      </p:sp>
      <p:sp>
        <p:nvSpPr>
          <p:cNvPr id="9" name="Shape 6"/>
          <p:cNvSpPr/>
          <p:nvPr/>
        </p:nvSpPr>
        <p:spPr>
          <a:xfrm>
            <a:off x="4297680" y="1645920"/>
            <a:ext cx="3474720" cy="2011680"/>
          </a:xfrm>
          <a:prstGeom prst="roundRect">
            <a:avLst>
              <a:gd name="adj" fmla="val 5455"/>
            </a:avLst>
          </a:prstGeom>
          <a:solidFill>
            <a:srgbClr val="EEF2FF"/>
          </a:solidFill>
          <a:ln w="12700">
            <a:solidFill>
              <a:srgbClr val="EEF2FF"/>
            </a:solidFill>
            <a:prstDash val="solid"/>
          </a:ln>
        </p:spPr>
      </p:sp>
      <p:sp>
        <p:nvSpPr>
          <p:cNvPr id="10" name="Shape 7"/>
          <p:cNvSpPr/>
          <p:nvPr/>
        </p:nvSpPr>
        <p:spPr>
          <a:xfrm>
            <a:off x="4572000" y="1920240"/>
            <a:ext cx="566928" cy="566928"/>
          </a:xfrm>
          <a:prstGeom prst="ellipse">
            <a:avLst/>
          </a:prstGeom>
          <a:solidFill>
            <a:srgbClr val="4F46E5"/>
          </a:solidFill>
          <a:ln w="12700">
            <a:solidFill>
              <a:srgbClr val="4F46E5"/>
            </a:solidFill>
            <a:prstDash val="solid"/>
          </a:ln>
        </p:spPr>
      </p:sp>
      <p:pic>
        <p:nvPicPr>
          <p:cNvPr id="11" name="Image 1" descr="preencoded.png">    </p:cNvPr>
          <p:cNvPicPr>
            <a:picLocks noChangeAspect="1"/>
          </p:cNvPicPr>
          <p:nvPr/>
        </p:nvPicPr>
        <p:blipFill>
          <a:blip r:embed="rId2"/>
          <a:stretch>
            <a:fillRect/>
          </a:stretch>
        </p:blipFill>
        <p:spPr>
          <a:xfrm>
            <a:off x="4708063" y="2056303"/>
            <a:ext cx="294803" cy="294803"/>
          </a:xfrm>
          <a:prstGeom prst="rect">
            <a:avLst/>
          </a:prstGeom>
        </p:spPr>
      </p:pic>
      <p:sp>
        <p:nvSpPr>
          <p:cNvPr id="12" name="Text 8"/>
          <p:cNvSpPr txBox="1"/>
          <p:nvPr/>
        </p:nvSpPr>
        <p:spPr>
          <a:xfrm>
            <a:off x="5303520" y="1965960"/>
            <a:ext cx="2286000" cy="502920"/>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Fair booking</a:t>
            </a:r>
            <a:endParaRPr lang="en-US" sz="1700" dirty="0"/>
          </a:p>
        </p:txBody>
      </p:sp>
      <p:sp>
        <p:nvSpPr>
          <p:cNvPr id="13" name="Text 9"/>
          <p:cNvSpPr txBox="1"/>
          <p:nvPr/>
        </p:nvSpPr>
        <p:spPr>
          <a:xfrm>
            <a:off x="4572000" y="2651760"/>
            <a:ext cx="2971800" cy="8686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Never sell more seats than exist, even when 100 students click at the same second.</a:t>
            </a:r>
            <a:endParaRPr lang="en-US" sz="1400" dirty="0"/>
          </a:p>
        </p:txBody>
      </p:sp>
      <p:sp>
        <p:nvSpPr>
          <p:cNvPr id="14" name="Shape 10"/>
          <p:cNvSpPr/>
          <p:nvPr/>
        </p:nvSpPr>
        <p:spPr>
          <a:xfrm>
            <a:off x="8046720" y="1645920"/>
            <a:ext cx="3474720" cy="2011680"/>
          </a:xfrm>
          <a:prstGeom prst="roundRect">
            <a:avLst>
              <a:gd name="adj" fmla="val 5455"/>
            </a:avLst>
          </a:prstGeom>
          <a:solidFill>
            <a:srgbClr val="EEF2FF"/>
          </a:solidFill>
          <a:ln w="12700">
            <a:solidFill>
              <a:srgbClr val="EEF2FF"/>
            </a:solidFill>
            <a:prstDash val="solid"/>
          </a:ln>
        </p:spPr>
      </p:sp>
      <p:sp>
        <p:nvSpPr>
          <p:cNvPr id="15" name="Shape 11"/>
          <p:cNvSpPr/>
          <p:nvPr/>
        </p:nvSpPr>
        <p:spPr>
          <a:xfrm>
            <a:off x="8321040" y="1920240"/>
            <a:ext cx="566928" cy="566928"/>
          </a:xfrm>
          <a:prstGeom prst="ellipse">
            <a:avLst/>
          </a:prstGeom>
          <a:solidFill>
            <a:srgbClr val="4F46E5"/>
          </a:solidFill>
          <a:ln w="12700">
            <a:solidFill>
              <a:srgbClr val="4F46E5"/>
            </a:solidFill>
            <a:prstDash val="solid"/>
          </a:ln>
        </p:spPr>
      </p:sp>
      <p:pic>
        <p:nvPicPr>
          <p:cNvPr id="16" name="Image 2" descr="preencoded.png">    </p:cNvPr>
          <p:cNvPicPr>
            <a:picLocks noChangeAspect="1"/>
          </p:cNvPicPr>
          <p:nvPr/>
        </p:nvPicPr>
        <p:blipFill>
          <a:blip r:embed="rId3"/>
          <a:stretch>
            <a:fillRect/>
          </a:stretch>
        </p:blipFill>
        <p:spPr>
          <a:xfrm>
            <a:off x="8457103" y="2056303"/>
            <a:ext cx="294803" cy="294803"/>
          </a:xfrm>
          <a:prstGeom prst="rect">
            <a:avLst/>
          </a:prstGeom>
        </p:spPr>
      </p:pic>
      <p:sp>
        <p:nvSpPr>
          <p:cNvPr id="17" name="Text 12"/>
          <p:cNvSpPr txBox="1"/>
          <p:nvPr/>
        </p:nvSpPr>
        <p:spPr>
          <a:xfrm>
            <a:off x="9052560" y="1965960"/>
            <a:ext cx="2286000" cy="502920"/>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Smart waitlist</a:t>
            </a:r>
            <a:endParaRPr lang="en-US" sz="1700" dirty="0"/>
          </a:p>
        </p:txBody>
      </p:sp>
      <p:sp>
        <p:nvSpPr>
          <p:cNvPr id="18" name="Text 13"/>
          <p:cNvSpPr txBox="1"/>
          <p:nvPr/>
        </p:nvSpPr>
        <p:spPr>
          <a:xfrm>
            <a:off x="8321040" y="2651760"/>
            <a:ext cx="2971800" cy="8686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Freed seats are offered automatically to the next student in the queue.</a:t>
            </a:r>
            <a:endParaRPr lang="en-US" sz="1400" dirty="0"/>
          </a:p>
        </p:txBody>
      </p:sp>
      <p:sp>
        <p:nvSpPr>
          <p:cNvPr id="19" name="Shape 14"/>
          <p:cNvSpPr/>
          <p:nvPr/>
        </p:nvSpPr>
        <p:spPr>
          <a:xfrm>
            <a:off x="548640" y="3931920"/>
            <a:ext cx="3474720" cy="2011680"/>
          </a:xfrm>
          <a:prstGeom prst="roundRect">
            <a:avLst>
              <a:gd name="adj" fmla="val 5455"/>
            </a:avLst>
          </a:prstGeom>
          <a:solidFill>
            <a:srgbClr val="EEF2FF"/>
          </a:solidFill>
          <a:ln w="12700">
            <a:solidFill>
              <a:srgbClr val="EEF2FF"/>
            </a:solidFill>
            <a:prstDash val="solid"/>
          </a:ln>
        </p:spPr>
      </p:sp>
      <p:sp>
        <p:nvSpPr>
          <p:cNvPr id="20" name="Shape 15"/>
          <p:cNvSpPr/>
          <p:nvPr/>
        </p:nvSpPr>
        <p:spPr>
          <a:xfrm>
            <a:off x="822960" y="4206240"/>
            <a:ext cx="566928" cy="566928"/>
          </a:xfrm>
          <a:prstGeom prst="ellipse">
            <a:avLst/>
          </a:prstGeom>
          <a:solidFill>
            <a:srgbClr val="4F46E5"/>
          </a:solidFill>
          <a:ln w="12700">
            <a:solidFill>
              <a:srgbClr val="4F46E5"/>
            </a:solidFill>
            <a:prstDash val="solid"/>
          </a:ln>
        </p:spPr>
      </p:sp>
      <p:pic>
        <p:nvPicPr>
          <p:cNvPr id="21" name="Image 3" descr="preencoded.png">    </p:cNvPr>
          <p:cNvPicPr>
            <a:picLocks noChangeAspect="1"/>
          </p:cNvPicPr>
          <p:nvPr/>
        </p:nvPicPr>
        <p:blipFill>
          <a:blip r:embed="rId4"/>
          <a:stretch>
            <a:fillRect/>
          </a:stretch>
        </p:blipFill>
        <p:spPr>
          <a:xfrm>
            <a:off x="959023" y="4342303"/>
            <a:ext cx="294803" cy="294803"/>
          </a:xfrm>
          <a:prstGeom prst="rect">
            <a:avLst/>
          </a:prstGeom>
        </p:spPr>
      </p:pic>
      <p:sp>
        <p:nvSpPr>
          <p:cNvPr id="22" name="Text 16"/>
          <p:cNvSpPr txBox="1"/>
          <p:nvPr/>
        </p:nvSpPr>
        <p:spPr>
          <a:xfrm>
            <a:off x="1554480" y="4251960"/>
            <a:ext cx="2286000" cy="502920"/>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Fast, safe entry</a:t>
            </a:r>
            <a:endParaRPr lang="en-US" sz="1700" dirty="0"/>
          </a:p>
        </p:txBody>
      </p:sp>
      <p:sp>
        <p:nvSpPr>
          <p:cNvPr id="23" name="Text 17"/>
          <p:cNvSpPr txBox="1"/>
          <p:nvPr/>
        </p:nvSpPr>
        <p:spPr>
          <a:xfrm>
            <a:off x="822960" y="4937760"/>
            <a:ext cx="2971800" cy="8686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QR tickets checked at the gate; each ticket works exactly once.</a:t>
            </a:r>
            <a:endParaRPr lang="en-US" sz="1400" dirty="0"/>
          </a:p>
        </p:txBody>
      </p:sp>
      <p:sp>
        <p:nvSpPr>
          <p:cNvPr id="24" name="Shape 18"/>
          <p:cNvSpPr/>
          <p:nvPr/>
        </p:nvSpPr>
        <p:spPr>
          <a:xfrm>
            <a:off x="4297680" y="3931920"/>
            <a:ext cx="3474720" cy="2011680"/>
          </a:xfrm>
          <a:prstGeom prst="roundRect">
            <a:avLst>
              <a:gd name="adj" fmla="val 5455"/>
            </a:avLst>
          </a:prstGeom>
          <a:solidFill>
            <a:srgbClr val="EEF2FF"/>
          </a:solidFill>
          <a:ln w="12700">
            <a:solidFill>
              <a:srgbClr val="EEF2FF"/>
            </a:solidFill>
            <a:prstDash val="solid"/>
          </a:ln>
        </p:spPr>
      </p:sp>
      <p:sp>
        <p:nvSpPr>
          <p:cNvPr id="25" name="Shape 19"/>
          <p:cNvSpPr/>
          <p:nvPr/>
        </p:nvSpPr>
        <p:spPr>
          <a:xfrm>
            <a:off x="4572000" y="4206240"/>
            <a:ext cx="566928" cy="566928"/>
          </a:xfrm>
          <a:prstGeom prst="ellipse">
            <a:avLst/>
          </a:prstGeom>
          <a:solidFill>
            <a:srgbClr val="4F46E5"/>
          </a:solidFill>
          <a:ln w="12700">
            <a:solidFill>
              <a:srgbClr val="4F46E5"/>
            </a:solidFill>
            <a:prstDash val="solid"/>
          </a:ln>
        </p:spPr>
      </p:sp>
      <p:pic>
        <p:nvPicPr>
          <p:cNvPr id="26" name="Image 4" descr="preencoded.png">    </p:cNvPr>
          <p:cNvPicPr>
            <a:picLocks noChangeAspect="1"/>
          </p:cNvPicPr>
          <p:nvPr/>
        </p:nvPicPr>
        <p:blipFill>
          <a:blip r:embed="rId5"/>
          <a:stretch>
            <a:fillRect/>
          </a:stretch>
        </p:blipFill>
        <p:spPr>
          <a:xfrm>
            <a:off x="4708063" y="4342303"/>
            <a:ext cx="294803" cy="294803"/>
          </a:xfrm>
          <a:prstGeom prst="rect">
            <a:avLst/>
          </a:prstGeom>
        </p:spPr>
      </p:pic>
      <p:sp>
        <p:nvSpPr>
          <p:cNvPr id="27" name="Text 20"/>
          <p:cNvSpPr txBox="1"/>
          <p:nvPr/>
        </p:nvSpPr>
        <p:spPr>
          <a:xfrm>
            <a:off x="5303520" y="4251960"/>
            <a:ext cx="2286000" cy="502920"/>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Proof of attendance</a:t>
            </a:r>
            <a:endParaRPr lang="en-US" sz="1700" dirty="0"/>
          </a:p>
        </p:txBody>
      </p:sp>
      <p:sp>
        <p:nvSpPr>
          <p:cNvPr id="28" name="Text 21"/>
          <p:cNvSpPr txBox="1"/>
          <p:nvPr/>
        </p:nvSpPr>
        <p:spPr>
          <a:xfrm>
            <a:off x="4572000" y="4937760"/>
            <a:ext cx="2971800" cy="8686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PDF certificates only for students who came, verifiable by anyone.</a:t>
            </a:r>
            <a:endParaRPr lang="en-US" sz="1400" dirty="0"/>
          </a:p>
        </p:txBody>
      </p:sp>
      <p:sp>
        <p:nvSpPr>
          <p:cNvPr id="29" name="Shape 22"/>
          <p:cNvSpPr/>
          <p:nvPr/>
        </p:nvSpPr>
        <p:spPr>
          <a:xfrm>
            <a:off x="8046720" y="3931920"/>
            <a:ext cx="3474720" cy="2011680"/>
          </a:xfrm>
          <a:prstGeom prst="roundRect">
            <a:avLst>
              <a:gd name="adj" fmla="val 5455"/>
            </a:avLst>
          </a:prstGeom>
          <a:solidFill>
            <a:srgbClr val="EEF2FF"/>
          </a:solidFill>
          <a:ln w="12700">
            <a:solidFill>
              <a:srgbClr val="EEF2FF"/>
            </a:solidFill>
            <a:prstDash val="solid"/>
          </a:ln>
        </p:spPr>
      </p:sp>
      <p:sp>
        <p:nvSpPr>
          <p:cNvPr id="30" name="Shape 23"/>
          <p:cNvSpPr/>
          <p:nvPr/>
        </p:nvSpPr>
        <p:spPr>
          <a:xfrm>
            <a:off x="8321040" y="4206240"/>
            <a:ext cx="566928" cy="566928"/>
          </a:xfrm>
          <a:prstGeom prst="ellipse">
            <a:avLst/>
          </a:prstGeom>
          <a:solidFill>
            <a:srgbClr val="4F46E5"/>
          </a:solidFill>
          <a:ln w="12700">
            <a:solidFill>
              <a:srgbClr val="4F46E5"/>
            </a:solidFill>
            <a:prstDash val="solid"/>
          </a:ln>
        </p:spPr>
      </p:sp>
      <p:pic>
        <p:nvPicPr>
          <p:cNvPr id="31" name="Image 5" descr="preencoded.png">    </p:cNvPr>
          <p:cNvPicPr>
            <a:picLocks noChangeAspect="1"/>
          </p:cNvPicPr>
          <p:nvPr/>
        </p:nvPicPr>
        <p:blipFill>
          <a:blip r:embed="rId6"/>
          <a:stretch>
            <a:fillRect/>
          </a:stretch>
        </p:blipFill>
        <p:spPr>
          <a:xfrm>
            <a:off x="8457103" y="4342303"/>
            <a:ext cx="294803" cy="294803"/>
          </a:xfrm>
          <a:prstGeom prst="rect">
            <a:avLst/>
          </a:prstGeom>
        </p:spPr>
      </p:pic>
      <p:sp>
        <p:nvSpPr>
          <p:cNvPr id="32" name="Text 24"/>
          <p:cNvSpPr txBox="1"/>
          <p:nvPr/>
        </p:nvSpPr>
        <p:spPr>
          <a:xfrm>
            <a:off x="9052560" y="4251960"/>
            <a:ext cx="2286000" cy="502920"/>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Insight</a:t>
            </a:r>
            <a:endParaRPr lang="en-US" sz="1700" dirty="0"/>
          </a:p>
        </p:txBody>
      </p:sp>
      <p:sp>
        <p:nvSpPr>
          <p:cNvPr id="33" name="Text 25"/>
          <p:cNvSpPr txBox="1"/>
          <p:nvPr/>
        </p:nvSpPr>
        <p:spPr>
          <a:xfrm>
            <a:off x="8321040" y="4937760"/>
            <a:ext cx="2971800" cy="8686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Ratings, check-in rate and sales charts for organizers and the admin.</a:t>
            </a:r>
            <a:endParaRPr lang="en-US" sz="1400" dirty="0"/>
          </a:p>
        </p:txBody>
      </p:sp>
      <p:sp>
        <p:nvSpPr>
          <p:cNvPr id="34" name="Text 26"/>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Who uses EventHub</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Five kinds of users - the server checks the role on every request</a:t>
            </a:r>
            <a:endParaRPr lang="en-US" sz="1600" dirty="0"/>
          </a:p>
        </p:txBody>
      </p:sp>
      <p:sp>
        <p:nvSpPr>
          <p:cNvPr id="4" name="Shape 2"/>
          <p:cNvSpPr/>
          <p:nvPr/>
        </p:nvSpPr>
        <p:spPr>
          <a:xfrm>
            <a:off x="548640" y="1691640"/>
            <a:ext cx="2057400" cy="3657600"/>
          </a:xfrm>
          <a:prstGeom prst="roundRect">
            <a:avLst>
              <a:gd name="adj" fmla="val 5333"/>
            </a:avLst>
          </a:prstGeom>
          <a:solidFill>
            <a:srgbClr val="EEF2FF"/>
          </a:solidFill>
          <a:ln w="12700">
            <a:solidFill>
              <a:srgbClr val="EEF2FF"/>
            </a:solidFill>
            <a:prstDash val="solid"/>
          </a:ln>
        </p:spPr>
      </p:sp>
      <p:sp>
        <p:nvSpPr>
          <p:cNvPr id="5" name="Shape 3"/>
          <p:cNvSpPr/>
          <p:nvPr/>
        </p:nvSpPr>
        <p:spPr>
          <a:xfrm>
            <a:off x="1234440" y="1965960"/>
            <a:ext cx="685800" cy="685800"/>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1399032" y="2130552"/>
            <a:ext cx="356616" cy="356616"/>
          </a:xfrm>
          <a:prstGeom prst="rect">
            <a:avLst/>
          </a:prstGeom>
        </p:spPr>
      </p:pic>
      <p:sp>
        <p:nvSpPr>
          <p:cNvPr id="7" name="Text 4"/>
          <p:cNvSpPr txBox="1"/>
          <p:nvPr/>
        </p:nvSpPr>
        <p:spPr>
          <a:xfrm>
            <a:off x="685800" y="2788920"/>
            <a:ext cx="1783080" cy="411480"/>
          </a:xfrm>
          <a:prstGeom prst="rect">
            <a:avLst/>
          </a:prstGeom>
          <a:noFill/>
          <a:ln/>
        </p:spPr>
        <p:txBody>
          <a:bodyPr wrap="square" lIns="0" tIns="0" rIns="0" bIns="0" rtlCol="0" anchor="ctr"/>
          <a:lstStyle/>
          <a:p>
            <a:pPr algn="ctr" indent="0" marL="0">
              <a:buNone/>
            </a:pPr>
            <a:r>
              <a:rPr lang="en-US" sz="1800" b="1" dirty="0">
                <a:solidFill>
                  <a:srgbClr val="1E1B4B"/>
                </a:solidFill>
                <a:latin typeface="Arial" pitchFamily="34" charset="0"/>
                <a:ea typeface="Arial" pitchFamily="34" charset="-122"/>
                <a:cs typeface="Arial" pitchFamily="34" charset="-120"/>
              </a:rPr>
              <a:t>Visitor</a:t>
            </a:r>
            <a:endParaRPr lang="en-US" sz="1800" dirty="0"/>
          </a:p>
        </p:txBody>
      </p:sp>
      <p:sp>
        <p:nvSpPr>
          <p:cNvPr id="8" name="Text 5"/>
          <p:cNvSpPr txBox="1"/>
          <p:nvPr/>
        </p:nvSpPr>
        <p:spPr>
          <a:xfrm>
            <a:off x="685800" y="3337560"/>
            <a:ext cx="1810512" cy="228600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Browse and search events</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Verify a certificate</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Register</a:t>
            </a:r>
            <a:endParaRPr lang="en-US" sz="1350" dirty="0"/>
          </a:p>
        </p:txBody>
      </p:sp>
      <p:sp>
        <p:nvSpPr>
          <p:cNvPr id="9" name="Shape 6"/>
          <p:cNvSpPr/>
          <p:nvPr/>
        </p:nvSpPr>
        <p:spPr>
          <a:xfrm>
            <a:off x="2807208" y="1691640"/>
            <a:ext cx="2057400" cy="3657600"/>
          </a:xfrm>
          <a:prstGeom prst="roundRect">
            <a:avLst>
              <a:gd name="adj" fmla="val 5333"/>
            </a:avLst>
          </a:prstGeom>
          <a:solidFill>
            <a:srgbClr val="EEF2FF"/>
          </a:solidFill>
          <a:ln w="12700">
            <a:solidFill>
              <a:srgbClr val="EEF2FF"/>
            </a:solidFill>
            <a:prstDash val="solid"/>
          </a:ln>
        </p:spPr>
      </p:sp>
      <p:sp>
        <p:nvSpPr>
          <p:cNvPr id="10" name="Shape 7"/>
          <p:cNvSpPr/>
          <p:nvPr/>
        </p:nvSpPr>
        <p:spPr>
          <a:xfrm>
            <a:off x="3493008" y="1965960"/>
            <a:ext cx="685800" cy="685800"/>
          </a:xfrm>
          <a:prstGeom prst="ellipse">
            <a:avLst/>
          </a:prstGeom>
          <a:solidFill>
            <a:srgbClr val="4F46E5"/>
          </a:solidFill>
          <a:ln w="12700">
            <a:solidFill>
              <a:srgbClr val="4F46E5"/>
            </a:solidFill>
            <a:prstDash val="solid"/>
          </a:ln>
        </p:spPr>
      </p:sp>
      <p:pic>
        <p:nvPicPr>
          <p:cNvPr id="11" name="Image 1" descr="preencoded.png">    </p:cNvPr>
          <p:cNvPicPr>
            <a:picLocks noChangeAspect="1"/>
          </p:cNvPicPr>
          <p:nvPr/>
        </p:nvPicPr>
        <p:blipFill>
          <a:blip r:embed="rId2"/>
          <a:stretch>
            <a:fillRect/>
          </a:stretch>
        </p:blipFill>
        <p:spPr>
          <a:xfrm>
            <a:off x="3657600" y="2130552"/>
            <a:ext cx="356616" cy="356616"/>
          </a:xfrm>
          <a:prstGeom prst="rect">
            <a:avLst/>
          </a:prstGeom>
        </p:spPr>
      </p:pic>
      <p:sp>
        <p:nvSpPr>
          <p:cNvPr id="12" name="Text 8"/>
          <p:cNvSpPr txBox="1"/>
          <p:nvPr/>
        </p:nvSpPr>
        <p:spPr>
          <a:xfrm>
            <a:off x="2944368" y="2788920"/>
            <a:ext cx="1783080" cy="411480"/>
          </a:xfrm>
          <a:prstGeom prst="rect">
            <a:avLst/>
          </a:prstGeom>
          <a:noFill/>
          <a:ln/>
        </p:spPr>
        <p:txBody>
          <a:bodyPr wrap="square" lIns="0" tIns="0" rIns="0" bIns="0" rtlCol="0" anchor="ctr"/>
          <a:lstStyle/>
          <a:p>
            <a:pPr algn="ctr" indent="0" marL="0">
              <a:buNone/>
            </a:pPr>
            <a:r>
              <a:rPr lang="en-US" sz="1800" b="1" dirty="0">
                <a:solidFill>
                  <a:srgbClr val="1E1B4B"/>
                </a:solidFill>
                <a:latin typeface="Arial" pitchFamily="34" charset="0"/>
                <a:ea typeface="Arial" pitchFamily="34" charset="-122"/>
                <a:cs typeface="Arial" pitchFamily="34" charset="-120"/>
              </a:rPr>
              <a:t>Student</a:t>
            </a:r>
            <a:endParaRPr lang="en-US" sz="1800" dirty="0"/>
          </a:p>
        </p:txBody>
      </p:sp>
      <p:sp>
        <p:nvSpPr>
          <p:cNvPr id="13" name="Text 9"/>
          <p:cNvSpPr txBox="1"/>
          <p:nvPr/>
        </p:nvSpPr>
        <p:spPr>
          <a:xfrm>
            <a:off x="2944368" y="3337560"/>
            <a:ext cx="1810512" cy="228600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Book and pay</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QR tickets, waitlist</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Certificates, feedback</a:t>
            </a:r>
            <a:endParaRPr lang="en-US" sz="1350" dirty="0"/>
          </a:p>
        </p:txBody>
      </p:sp>
      <p:sp>
        <p:nvSpPr>
          <p:cNvPr id="14" name="Shape 10"/>
          <p:cNvSpPr/>
          <p:nvPr/>
        </p:nvSpPr>
        <p:spPr>
          <a:xfrm>
            <a:off x="5065776" y="1691640"/>
            <a:ext cx="2057400" cy="3657600"/>
          </a:xfrm>
          <a:prstGeom prst="roundRect">
            <a:avLst>
              <a:gd name="adj" fmla="val 5333"/>
            </a:avLst>
          </a:prstGeom>
          <a:solidFill>
            <a:srgbClr val="EEF2FF"/>
          </a:solidFill>
          <a:ln w="12700">
            <a:solidFill>
              <a:srgbClr val="EEF2FF"/>
            </a:solidFill>
            <a:prstDash val="solid"/>
          </a:ln>
        </p:spPr>
      </p:sp>
      <p:sp>
        <p:nvSpPr>
          <p:cNvPr id="15" name="Shape 11"/>
          <p:cNvSpPr/>
          <p:nvPr/>
        </p:nvSpPr>
        <p:spPr>
          <a:xfrm>
            <a:off x="5751576" y="1965960"/>
            <a:ext cx="685800" cy="685800"/>
          </a:xfrm>
          <a:prstGeom prst="ellipse">
            <a:avLst/>
          </a:prstGeom>
          <a:solidFill>
            <a:srgbClr val="4F46E5"/>
          </a:solidFill>
          <a:ln w="12700">
            <a:solidFill>
              <a:srgbClr val="4F46E5"/>
            </a:solidFill>
            <a:prstDash val="solid"/>
          </a:ln>
        </p:spPr>
      </p:sp>
      <p:pic>
        <p:nvPicPr>
          <p:cNvPr id="16" name="Image 2" descr="preencoded.png">    </p:cNvPr>
          <p:cNvPicPr>
            <a:picLocks noChangeAspect="1"/>
          </p:cNvPicPr>
          <p:nvPr/>
        </p:nvPicPr>
        <p:blipFill>
          <a:blip r:embed="rId3"/>
          <a:stretch>
            <a:fillRect/>
          </a:stretch>
        </p:blipFill>
        <p:spPr>
          <a:xfrm>
            <a:off x="5916168" y="2130552"/>
            <a:ext cx="356616" cy="356616"/>
          </a:xfrm>
          <a:prstGeom prst="rect">
            <a:avLst/>
          </a:prstGeom>
        </p:spPr>
      </p:pic>
      <p:sp>
        <p:nvSpPr>
          <p:cNvPr id="17" name="Text 12"/>
          <p:cNvSpPr txBox="1"/>
          <p:nvPr/>
        </p:nvSpPr>
        <p:spPr>
          <a:xfrm>
            <a:off x="5202936" y="2788920"/>
            <a:ext cx="1783080" cy="411480"/>
          </a:xfrm>
          <a:prstGeom prst="rect">
            <a:avLst/>
          </a:prstGeom>
          <a:noFill/>
          <a:ln/>
        </p:spPr>
        <p:txBody>
          <a:bodyPr wrap="square" lIns="0" tIns="0" rIns="0" bIns="0" rtlCol="0" anchor="ctr"/>
          <a:lstStyle/>
          <a:p>
            <a:pPr algn="ctr" indent="0" marL="0">
              <a:buNone/>
            </a:pPr>
            <a:r>
              <a:rPr lang="en-US" sz="1800" b="1" dirty="0">
                <a:solidFill>
                  <a:srgbClr val="1E1B4B"/>
                </a:solidFill>
                <a:latin typeface="Arial" pitchFamily="34" charset="0"/>
                <a:ea typeface="Arial" pitchFamily="34" charset="-122"/>
                <a:cs typeface="Arial" pitchFamily="34" charset="-120"/>
              </a:rPr>
              <a:t>Organizer</a:t>
            </a:r>
            <a:endParaRPr lang="en-US" sz="1800" dirty="0"/>
          </a:p>
        </p:txBody>
      </p:sp>
      <p:sp>
        <p:nvSpPr>
          <p:cNvPr id="18" name="Text 13"/>
          <p:cNvSpPr txBox="1"/>
          <p:nvPr/>
        </p:nvSpPr>
        <p:spPr>
          <a:xfrm>
            <a:off x="5202936" y="3337560"/>
            <a:ext cx="1810512" cy="228600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Create events for their club</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Submit for approval</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Analytics, feedback</a:t>
            </a:r>
            <a:endParaRPr lang="en-US" sz="1350" dirty="0"/>
          </a:p>
        </p:txBody>
      </p:sp>
      <p:sp>
        <p:nvSpPr>
          <p:cNvPr id="19" name="Shape 14"/>
          <p:cNvSpPr/>
          <p:nvPr/>
        </p:nvSpPr>
        <p:spPr>
          <a:xfrm>
            <a:off x="7324344" y="1691640"/>
            <a:ext cx="2057400" cy="3657600"/>
          </a:xfrm>
          <a:prstGeom prst="roundRect">
            <a:avLst>
              <a:gd name="adj" fmla="val 5333"/>
            </a:avLst>
          </a:prstGeom>
          <a:solidFill>
            <a:srgbClr val="EEF2FF"/>
          </a:solidFill>
          <a:ln w="12700">
            <a:solidFill>
              <a:srgbClr val="EEF2FF"/>
            </a:solidFill>
            <a:prstDash val="solid"/>
          </a:ln>
        </p:spPr>
      </p:sp>
      <p:sp>
        <p:nvSpPr>
          <p:cNvPr id="20" name="Shape 15"/>
          <p:cNvSpPr/>
          <p:nvPr/>
        </p:nvSpPr>
        <p:spPr>
          <a:xfrm>
            <a:off x="8010144" y="1965960"/>
            <a:ext cx="685800" cy="685800"/>
          </a:xfrm>
          <a:prstGeom prst="ellipse">
            <a:avLst/>
          </a:prstGeom>
          <a:solidFill>
            <a:srgbClr val="4F46E5"/>
          </a:solidFill>
          <a:ln w="12700">
            <a:solidFill>
              <a:srgbClr val="4F46E5"/>
            </a:solidFill>
            <a:prstDash val="solid"/>
          </a:ln>
        </p:spPr>
      </p:sp>
      <p:pic>
        <p:nvPicPr>
          <p:cNvPr id="21" name="Image 3" descr="preencoded.png">    </p:cNvPr>
          <p:cNvPicPr>
            <a:picLocks noChangeAspect="1"/>
          </p:cNvPicPr>
          <p:nvPr/>
        </p:nvPicPr>
        <p:blipFill>
          <a:blip r:embed="rId4"/>
          <a:stretch>
            <a:fillRect/>
          </a:stretch>
        </p:blipFill>
        <p:spPr>
          <a:xfrm>
            <a:off x="8174736" y="2130552"/>
            <a:ext cx="356616" cy="356616"/>
          </a:xfrm>
          <a:prstGeom prst="rect">
            <a:avLst/>
          </a:prstGeom>
        </p:spPr>
      </p:pic>
      <p:sp>
        <p:nvSpPr>
          <p:cNvPr id="22" name="Text 16"/>
          <p:cNvSpPr txBox="1"/>
          <p:nvPr/>
        </p:nvSpPr>
        <p:spPr>
          <a:xfrm>
            <a:off x="7461504" y="2788920"/>
            <a:ext cx="1783080" cy="411480"/>
          </a:xfrm>
          <a:prstGeom prst="rect">
            <a:avLst/>
          </a:prstGeom>
          <a:noFill/>
          <a:ln/>
        </p:spPr>
        <p:txBody>
          <a:bodyPr wrap="square" lIns="0" tIns="0" rIns="0" bIns="0" rtlCol="0" anchor="ctr"/>
          <a:lstStyle/>
          <a:p>
            <a:pPr algn="ctr" indent="0" marL="0">
              <a:buNone/>
            </a:pPr>
            <a:r>
              <a:rPr lang="en-US" sz="1800" b="1" dirty="0">
                <a:solidFill>
                  <a:srgbClr val="1E1B4B"/>
                </a:solidFill>
                <a:latin typeface="Arial" pitchFamily="34" charset="0"/>
                <a:ea typeface="Arial" pitchFamily="34" charset="-122"/>
                <a:cs typeface="Arial" pitchFamily="34" charset="-120"/>
              </a:rPr>
              <a:t>Volunteer</a:t>
            </a:r>
            <a:endParaRPr lang="en-US" sz="1800" dirty="0"/>
          </a:p>
        </p:txBody>
      </p:sp>
      <p:sp>
        <p:nvSpPr>
          <p:cNvPr id="23" name="Text 17"/>
          <p:cNvSpPr txBox="1"/>
          <p:nvPr/>
        </p:nvSpPr>
        <p:spPr>
          <a:xfrm>
            <a:off x="7461504" y="3337560"/>
            <a:ext cx="1810512" cy="228600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Gate duty for their club</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Scan QR tickets</a:t>
            </a:r>
            <a:endParaRPr lang="en-US" sz="1350" dirty="0"/>
          </a:p>
          <a:p>
            <a:pPr marL="342900" indent="-342900">
              <a:spcAft>
                <a:spcPts val="800"/>
              </a:spcAft>
              <a:buSzPct val="100000"/>
              <a:buChar char="•"/>
            </a:pPr>
            <a:r>
              <a:rPr lang="en-US" sz="1350" dirty="0">
                <a:solidFill>
                  <a:srgbClr val="1F2937"/>
                </a:solidFill>
                <a:latin typeface="Calibri" pitchFamily="34" charset="0"/>
                <a:ea typeface="Calibri" pitchFamily="34" charset="-122"/>
                <a:cs typeface="Calibri" pitchFamily="34" charset="-120"/>
              </a:rPr>
              <a:t>Live check-in counter</a:t>
            </a:r>
            <a:endParaRPr lang="en-US" sz="1350" dirty="0"/>
          </a:p>
        </p:txBody>
      </p:sp>
      <p:sp>
        <p:nvSpPr>
          <p:cNvPr id="24" name="Shape 18"/>
          <p:cNvSpPr/>
          <p:nvPr/>
        </p:nvSpPr>
        <p:spPr>
          <a:xfrm>
            <a:off x="9582912" y="1691640"/>
            <a:ext cx="2057400" cy="3657600"/>
          </a:xfrm>
          <a:prstGeom prst="roundRect">
            <a:avLst>
              <a:gd name="adj" fmla="val 5333"/>
            </a:avLst>
          </a:prstGeom>
          <a:solidFill>
            <a:srgbClr val="1E1B4B"/>
          </a:solidFill>
          <a:ln w="12700">
            <a:solidFill>
              <a:srgbClr val="1E1B4B"/>
            </a:solidFill>
            <a:prstDash val="solid"/>
          </a:ln>
        </p:spPr>
      </p:sp>
      <p:sp>
        <p:nvSpPr>
          <p:cNvPr id="25" name="Shape 19"/>
          <p:cNvSpPr/>
          <p:nvPr/>
        </p:nvSpPr>
        <p:spPr>
          <a:xfrm>
            <a:off x="10268712" y="1965960"/>
            <a:ext cx="685800" cy="685800"/>
          </a:xfrm>
          <a:prstGeom prst="ellipse">
            <a:avLst/>
          </a:prstGeom>
          <a:solidFill>
            <a:srgbClr val="F59E0B"/>
          </a:solidFill>
          <a:ln w="12700">
            <a:solidFill>
              <a:srgbClr val="F59E0B"/>
            </a:solidFill>
            <a:prstDash val="solid"/>
          </a:ln>
        </p:spPr>
      </p:sp>
      <p:pic>
        <p:nvPicPr>
          <p:cNvPr id="26" name="Image 4" descr="preencoded.png">    </p:cNvPr>
          <p:cNvPicPr>
            <a:picLocks noChangeAspect="1"/>
          </p:cNvPicPr>
          <p:nvPr/>
        </p:nvPicPr>
        <p:blipFill>
          <a:blip r:embed="rId5"/>
          <a:stretch>
            <a:fillRect/>
          </a:stretch>
        </p:blipFill>
        <p:spPr>
          <a:xfrm>
            <a:off x="10433304" y="2130552"/>
            <a:ext cx="356616" cy="356616"/>
          </a:xfrm>
          <a:prstGeom prst="rect">
            <a:avLst/>
          </a:prstGeom>
        </p:spPr>
      </p:pic>
      <p:sp>
        <p:nvSpPr>
          <p:cNvPr id="27" name="Text 20"/>
          <p:cNvSpPr txBox="1"/>
          <p:nvPr/>
        </p:nvSpPr>
        <p:spPr>
          <a:xfrm>
            <a:off x="9720072" y="2788920"/>
            <a:ext cx="1783080" cy="41148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Admin</a:t>
            </a:r>
            <a:endParaRPr lang="en-US" sz="1800" dirty="0"/>
          </a:p>
        </p:txBody>
      </p:sp>
      <p:sp>
        <p:nvSpPr>
          <p:cNvPr id="28" name="Text 21"/>
          <p:cNvSpPr txBox="1"/>
          <p:nvPr/>
        </p:nvSpPr>
        <p:spPr>
          <a:xfrm>
            <a:off x="9720072" y="3337560"/>
            <a:ext cx="1810512" cy="228600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C7D2FE"/>
                </a:solidFill>
                <a:latin typeface="Calibri" pitchFamily="34" charset="0"/>
                <a:ea typeface="Calibri" pitchFamily="34" charset="-122"/>
                <a:cs typeface="Calibri" pitchFamily="34" charset="-120"/>
              </a:rPr>
              <a:t>Approve or send back events</a:t>
            </a:r>
            <a:endParaRPr lang="en-US" sz="1350" dirty="0"/>
          </a:p>
          <a:p>
            <a:pPr marL="342900" indent="-342900">
              <a:spcAft>
                <a:spcPts val="800"/>
              </a:spcAft>
              <a:buSzPct val="100000"/>
              <a:buChar char="•"/>
            </a:pPr>
            <a:r>
              <a:rPr lang="en-US" sz="1350" dirty="0">
                <a:solidFill>
                  <a:srgbClr val="C7D2FE"/>
                </a:solidFill>
                <a:latin typeface="Calibri" pitchFamily="34" charset="0"/>
                <a:ea typeface="Calibri" pitchFamily="34" charset="-122"/>
                <a:cs typeface="Calibri" pitchFamily="34" charset="-120"/>
              </a:rPr>
              <a:t>All-club analytics</a:t>
            </a:r>
            <a:endParaRPr lang="en-US" sz="1350" dirty="0"/>
          </a:p>
          <a:p>
            <a:pPr marL="342900" indent="-342900">
              <a:spcAft>
                <a:spcPts val="800"/>
              </a:spcAft>
              <a:buSzPct val="100000"/>
              <a:buChar char="•"/>
            </a:pPr>
            <a:r>
              <a:rPr lang="en-US" sz="1350" dirty="0">
                <a:solidFill>
                  <a:srgbClr val="C7D2FE"/>
                </a:solidFill>
                <a:latin typeface="Calibri" pitchFamily="34" charset="0"/>
                <a:ea typeface="Calibri" pitchFamily="34" charset="-122"/>
                <a:cs typeface="Calibri" pitchFamily="34" charset="-120"/>
              </a:rPr>
              <a:t>Activity (audit) log</a:t>
            </a:r>
            <a:endParaRPr lang="en-US" sz="1350" dirty="0"/>
          </a:p>
        </p:txBody>
      </p:sp>
      <p:sp>
        <p:nvSpPr>
          <p:cNvPr id="29" name="Text 22"/>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The project at a glance</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Built step by step in 10 phases, with every change tested on GitHub</a:t>
            </a:r>
            <a:endParaRPr lang="en-US" sz="1600" dirty="0"/>
          </a:p>
        </p:txBody>
      </p:sp>
      <p:sp>
        <p:nvSpPr>
          <p:cNvPr id="4" name="Shape 2"/>
          <p:cNvSpPr/>
          <p:nvPr/>
        </p:nvSpPr>
        <p:spPr>
          <a:xfrm>
            <a:off x="548640" y="1691640"/>
            <a:ext cx="3474720" cy="1965960"/>
          </a:xfrm>
          <a:prstGeom prst="roundRect">
            <a:avLst>
              <a:gd name="adj" fmla="val 5581"/>
            </a:avLst>
          </a:prstGeom>
          <a:solidFill>
            <a:srgbClr val="EEF2FF"/>
          </a:solidFill>
          <a:ln w="12700">
            <a:solidFill>
              <a:srgbClr val="EEF2FF"/>
            </a:solidFill>
            <a:prstDash val="solid"/>
          </a:ln>
        </p:spPr>
      </p:sp>
      <p:sp>
        <p:nvSpPr>
          <p:cNvPr id="5" name="Text 3"/>
          <p:cNvSpPr txBox="1"/>
          <p:nvPr/>
        </p:nvSpPr>
        <p:spPr>
          <a:xfrm>
            <a:off x="822960" y="1965960"/>
            <a:ext cx="2926080" cy="914400"/>
          </a:xfrm>
          <a:prstGeom prst="rect">
            <a:avLst/>
          </a:prstGeom>
          <a:noFill/>
          <a:ln/>
        </p:spPr>
        <p:txBody>
          <a:bodyPr wrap="square" lIns="0" tIns="0" rIns="0" bIns="0" rtlCol="0" anchor="ctr"/>
          <a:lstStyle/>
          <a:p>
            <a:pPr indent="0" marL="0">
              <a:buNone/>
            </a:pPr>
            <a:r>
              <a:rPr lang="en-US" sz="6000" b="1" dirty="0">
                <a:solidFill>
                  <a:srgbClr val="4F46E5"/>
                </a:solidFill>
                <a:latin typeface="Arial" pitchFamily="34" charset="0"/>
                <a:ea typeface="Arial" pitchFamily="34" charset="-122"/>
                <a:cs typeface="Arial" pitchFamily="34" charset="-120"/>
              </a:rPr>
              <a:t>29</a:t>
            </a:r>
            <a:endParaRPr lang="en-US" sz="6000" dirty="0"/>
          </a:p>
        </p:txBody>
      </p:sp>
      <p:sp>
        <p:nvSpPr>
          <p:cNvPr id="6" name="Text 4"/>
          <p:cNvSpPr txBox="1"/>
          <p:nvPr/>
        </p:nvSpPr>
        <p:spPr>
          <a:xfrm>
            <a:off x="822960" y="2971800"/>
            <a:ext cx="2926080" cy="457200"/>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pages (routes)</a:t>
            </a:r>
            <a:endParaRPr lang="en-US" sz="1600" dirty="0"/>
          </a:p>
        </p:txBody>
      </p:sp>
      <p:sp>
        <p:nvSpPr>
          <p:cNvPr id="7" name="Shape 5"/>
          <p:cNvSpPr/>
          <p:nvPr/>
        </p:nvSpPr>
        <p:spPr>
          <a:xfrm>
            <a:off x="4297680" y="1691640"/>
            <a:ext cx="3474720" cy="1965960"/>
          </a:xfrm>
          <a:prstGeom prst="roundRect">
            <a:avLst>
              <a:gd name="adj" fmla="val 5581"/>
            </a:avLst>
          </a:prstGeom>
          <a:solidFill>
            <a:srgbClr val="EEF2FF"/>
          </a:solidFill>
          <a:ln w="12700">
            <a:solidFill>
              <a:srgbClr val="EEF2FF"/>
            </a:solidFill>
            <a:prstDash val="solid"/>
          </a:ln>
        </p:spPr>
      </p:sp>
      <p:sp>
        <p:nvSpPr>
          <p:cNvPr id="8" name="Text 6"/>
          <p:cNvSpPr txBox="1"/>
          <p:nvPr/>
        </p:nvSpPr>
        <p:spPr>
          <a:xfrm>
            <a:off x="4572000" y="1965960"/>
            <a:ext cx="2926080" cy="914400"/>
          </a:xfrm>
          <a:prstGeom prst="rect">
            <a:avLst/>
          </a:prstGeom>
          <a:noFill/>
          <a:ln/>
        </p:spPr>
        <p:txBody>
          <a:bodyPr wrap="square" lIns="0" tIns="0" rIns="0" bIns="0" rtlCol="0" anchor="ctr"/>
          <a:lstStyle/>
          <a:p>
            <a:pPr indent="0" marL="0">
              <a:buNone/>
            </a:pPr>
            <a:r>
              <a:rPr lang="en-US" sz="6000" b="1" dirty="0">
                <a:solidFill>
                  <a:srgbClr val="4F46E5"/>
                </a:solidFill>
                <a:latin typeface="Arial" pitchFamily="34" charset="0"/>
                <a:ea typeface="Arial" pitchFamily="34" charset="-122"/>
                <a:cs typeface="Arial" pitchFamily="34" charset="-120"/>
              </a:rPr>
              <a:t>50</a:t>
            </a:r>
            <a:endParaRPr lang="en-US" sz="6000" dirty="0"/>
          </a:p>
        </p:txBody>
      </p:sp>
      <p:sp>
        <p:nvSpPr>
          <p:cNvPr id="9" name="Text 7"/>
          <p:cNvSpPr txBox="1"/>
          <p:nvPr/>
        </p:nvSpPr>
        <p:spPr>
          <a:xfrm>
            <a:off x="4572000" y="2971800"/>
            <a:ext cx="2926080" cy="457200"/>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REST API endpoints</a:t>
            </a:r>
            <a:endParaRPr lang="en-US" sz="1600" dirty="0"/>
          </a:p>
        </p:txBody>
      </p:sp>
      <p:sp>
        <p:nvSpPr>
          <p:cNvPr id="10" name="Shape 8"/>
          <p:cNvSpPr/>
          <p:nvPr/>
        </p:nvSpPr>
        <p:spPr>
          <a:xfrm>
            <a:off x="8046720" y="1691640"/>
            <a:ext cx="3474720" cy="1965960"/>
          </a:xfrm>
          <a:prstGeom prst="roundRect">
            <a:avLst>
              <a:gd name="adj" fmla="val 5581"/>
            </a:avLst>
          </a:prstGeom>
          <a:solidFill>
            <a:srgbClr val="EEF2FF"/>
          </a:solidFill>
          <a:ln w="12700">
            <a:solidFill>
              <a:srgbClr val="EEF2FF"/>
            </a:solidFill>
            <a:prstDash val="solid"/>
          </a:ln>
        </p:spPr>
      </p:sp>
      <p:sp>
        <p:nvSpPr>
          <p:cNvPr id="11" name="Text 9"/>
          <p:cNvSpPr txBox="1"/>
          <p:nvPr/>
        </p:nvSpPr>
        <p:spPr>
          <a:xfrm>
            <a:off x="8321040" y="1965960"/>
            <a:ext cx="2926080" cy="914400"/>
          </a:xfrm>
          <a:prstGeom prst="rect">
            <a:avLst/>
          </a:prstGeom>
          <a:noFill/>
          <a:ln/>
        </p:spPr>
        <p:txBody>
          <a:bodyPr wrap="square" lIns="0" tIns="0" rIns="0" bIns="0" rtlCol="0" anchor="ctr"/>
          <a:lstStyle/>
          <a:p>
            <a:pPr indent="0" marL="0">
              <a:buNone/>
            </a:pPr>
            <a:r>
              <a:rPr lang="en-US" sz="6000" b="1" dirty="0">
                <a:solidFill>
                  <a:srgbClr val="4F46E5"/>
                </a:solidFill>
                <a:latin typeface="Arial" pitchFamily="34" charset="0"/>
                <a:ea typeface="Arial" pitchFamily="34" charset="-122"/>
                <a:cs typeface="Arial" pitchFamily="34" charset="-120"/>
              </a:rPr>
              <a:t>17</a:t>
            </a:r>
            <a:endParaRPr lang="en-US" sz="6000" dirty="0"/>
          </a:p>
        </p:txBody>
      </p:sp>
      <p:sp>
        <p:nvSpPr>
          <p:cNvPr id="12" name="Text 10"/>
          <p:cNvSpPr txBox="1"/>
          <p:nvPr/>
        </p:nvSpPr>
        <p:spPr>
          <a:xfrm>
            <a:off x="8321040" y="2971800"/>
            <a:ext cx="2926080" cy="457200"/>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database tables</a:t>
            </a:r>
            <a:endParaRPr lang="en-US" sz="1600" dirty="0"/>
          </a:p>
        </p:txBody>
      </p:sp>
      <p:sp>
        <p:nvSpPr>
          <p:cNvPr id="13" name="Shape 11"/>
          <p:cNvSpPr/>
          <p:nvPr/>
        </p:nvSpPr>
        <p:spPr>
          <a:xfrm>
            <a:off x="548640" y="3931920"/>
            <a:ext cx="3474720" cy="1965960"/>
          </a:xfrm>
          <a:prstGeom prst="roundRect">
            <a:avLst>
              <a:gd name="adj" fmla="val 5581"/>
            </a:avLst>
          </a:prstGeom>
          <a:solidFill>
            <a:srgbClr val="FEF3C7"/>
          </a:solidFill>
          <a:ln w="12700">
            <a:solidFill>
              <a:srgbClr val="FEF3C7"/>
            </a:solidFill>
            <a:prstDash val="solid"/>
          </a:ln>
        </p:spPr>
      </p:sp>
      <p:sp>
        <p:nvSpPr>
          <p:cNvPr id="14" name="Text 12"/>
          <p:cNvSpPr txBox="1"/>
          <p:nvPr/>
        </p:nvSpPr>
        <p:spPr>
          <a:xfrm>
            <a:off x="822960" y="4206240"/>
            <a:ext cx="2926080" cy="914400"/>
          </a:xfrm>
          <a:prstGeom prst="rect">
            <a:avLst/>
          </a:prstGeom>
          <a:noFill/>
          <a:ln/>
        </p:spPr>
        <p:txBody>
          <a:bodyPr wrap="square" lIns="0" tIns="0" rIns="0" bIns="0" rtlCol="0" anchor="ctr"/>
          <a:lstStyle/>
          <a:p>
            <a:pPr indent="0" marL="0">
              <a:buNone/>
            </a:pPr>
            <a:r>
              <a:rPr lang="en-US" sz="6000" b="1" dirty="0">
                <a:solidFill>
                  <a:srgbClr val="1E1B4B"/>
                </a:solidFill>
                <a:latin typeface="Arial" pitchFamily="34" charset="0"/>
                <a:ea typeface="Arial" pitchFamily="34" charset="-122"/>
                <a:cs typeface="Arial" pitchFamily="34" charset="-120"/>
              </a:rPr>
              <a:t>146</a:t>
            </a:r>
            <a:endParaRPr lang="en-US" sz="6000" dirty="0"/>
          </a:p>
        </p:txBody>
      </p:sp>
      <p:sp>
        <p:nvSpPr>
          <p:cNvPr id="15" name="Text 13"/>
          <p:cNvSpPr txBox="1"/>
          <p:nvPr/>
        </p:nvSpPr>
        <p:spPr>
          <a:xfrm>
            <a:off x="822960" y="5212080"/>
            <a:ext cx="2926080" cy="457200"/>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automated tests</a:t>
            </a:r>
            <a:endParaRPr lang="en-US" sz="1600" dirty="0"/>
          </a:p>
        </p:txBody>
      </p:sp>
      <p:sp>
        <p:nvSpPr>
          <p:cNvPr id="16" name="Shape 14"/>
          <p:cNvSpPr/>
          <p:nvPr/>
        </p:nvSpPr>
        <p:spPr>
          <a:xfrm>
            <a:off x="4297680" y="3931920"/>
            <a:ext cx="3474720" cy="1965960"/>
          </a:xfrm>
          <a:prstGeom prst="roundRect">
            <a:avLst>
              <a:gd name="adj" fmla="val 5581"/>
            </a:avLst>
          </a:prstGeom>
          <a:solidFill>
            <a:srgbClr val="FEF3C7"/>
          </a:solidFill>
          <a:ln w="12700">
            <a:solidFill>
              <a:srgbClr val="FEF3C7"/>
            </a:solidFill>
            <a:prstDash val="solid"/>
          </a:ln>
        </p:spPr>
      </p:sp>
      <p:sp>
        <p:nvSpPr>
          <p:cNvPr id="17" name="Text 15"/>
          <p:cNvSpPr txBox="1"/>
          <p:nvPr/>
        </p:nvSpPr>
        <p:spPr>
          <a:xfrm>
            <a:off x="4572000" y="4206240"/>
            <a:ext cx="2926080" cy="914400"/>
          </a:xfrm>
          <a:prstGeom prst="rect">
            <a:avLst/>
          </a:prstGeom>
          <a:noFill/>
          <a:ln/>
        </p:spPr>
        <p:txBody>
          <a:bodyPr wrap="square" lIns="0" tIns="0" rIns="0" bIns="0" rtlCol="0" anchor="ctr"/>
          <a:lstStyle/>
          <a:p>
            <a:pPr indent="0" marL="0">
              <a:buNone/>
            </a:pPr>
            <a:r>
              <a:rPr lang="en-US" sz="6000" b="1" dirty="0">
                <a:solidFill>
                  <a:srgbClr val="1E1B4B"/>
                </a:solidFill>
                <a:latin typeface="Arial" pitchFamily="34" charset="0"/>
                <a:ea typeface="Arial" pitchFamily="34" charset="-122"/>
                <a:cs typeface="Arial" pitchFamily="34" charset="-120"/>
              </a:rPr>
              <a:t>91%</a:t>
            </a:r>
            <a:endParaRPr lang="en-US" sz="6000" dirty="0"/>
          </a:p>
        </p:txBody>
      </p:sp>
      <p:sp>
        <p:nvSpPr>
          <p:cNvPr id="18" name="Text 16"/>
          <p:cNvSpPr txBox="1"/>
          <p:nvPr/>
        </p:nvSpPr>
        <p:spPr>
          <a:xfrm>
            <a:off x="4572000" y="5212080"/>
            <a:ext cx="2926080" cy="457200"/>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service test coverage</a:t>
            </a:r>
            <a:endParaRPr lang="en-US" sz="1600" dirty="0"/>
          </a:p>
        </p:txBody>
      </p:sp>
      <p:sp>
        <p:nvSpPr>
          <p:cNvPr id="19" name="Shape 17"/>
          <p:cNvSpPr/>
          <p:nvPr/>
        </p:nvSpPr>
        <p:spPr>
          <a:xfrm>
            <a:off x="8046720" y="3931920"/>
            <a:ext cx="3474720" cy="1965960"/>
          </a:xfrm>
          <a:prstGeom prst="roundRect">
            <a:avLst>
              <a:gd name="adj" fmla="val 5581"/>
            </a:avLst>
          </a:prstGeom>
          <a:solidFill>
            <a:srgbClr val="FEF3C7"/>
          </a:solidFill>
          <a:ln w="12700">
            <a:solidFill>
              <a:srgbClr val="FEF3C7"/>
            </a:solidFill>
            <a:prstDash val="solid"/>
          </a:ln>
        </p:spPr>
      </p:sp>
      <p:sp>
        <p:nvSpPr>
          <p:cNvPr id="20" name="Text 18"/>
          <p:cNvSpPr txBox="1"/>
          <p:nvPr/>
        </p:nvSpPr>
        <p:spPr>
          <a:xfrm>
            <a:off x="8321040" y="4206240"/>
            <a:ext cx="2926080" cy="914400"/>
          </a:xfrm>
          <a:prstGeom prst="rect">
            <a:avLst/>
          </a:prstGeom>
          <a:noFill/>
          <a:ln/>
        </p:spPr>
        <p:txBody>
          <a:bodyPr wrap="square" lIns="0" tIns="0" rIns="0" bIns="0" rtlCol="0" anchor="ctr"/>
          <a:lstStyle/>
          <a:p>
            <a:pPr indent="0" marL="0">
              <a:buNone/>
            </a:pPr>
            <a:r>
              <a:rPr lang="en-US" sz="6000" b="1" dirty="0">
                <a:solidFill>
                  <a:srgbClr val="1E1B4B"/>
                </a:solidFill>
                <a:latin typeface="Arial" pitchFamily="34" charset="0"/>
                <a:ea typeface="Arial" pitchFamily="34" charset="-122"/>
                <a:cs typeface="Arial" pitchFamily="34" charset="-120"/>
              </a:rPr>
              <a:t>60+</a:t>
            </a:r>
            <a:endParaRPr lang="en-US" sz="6000" dirty="0"/>
          </a:p>
        </p:txBody>
      </p:sp>
      <p:sp>
        <p:nvSpPr>
          <p:cNvPr id="21" name="Text 19"/>
          <p:cNvSpPr txBox="1"/>
          <p:nvPr/>
        </p:nvSpPr>
        <p:spPr>
          <a:xfrm>
            <a:off x="8321040" y="5212080"/>
            <a:ext cx="2926080" cy="457200"/>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Git commits</a:t>
            </a:r>
            <a:endParaRPr lang="en-US" sz="1600" dirty="0"/>
          </a:p>
        </p:txBody>
      </p:sp>
      <p:sp>
        <p:nvSpPr>
          <p:cNvPr id="22" name="Text 20"/>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Technologies used</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Current, industry-standard tools</a:t>
            </a:r>
            <a:endParaRPr lang="en-US" sz="1600" dirty="0"/>
          </a:p>
        </p:txBody>
      </p:sp>
      <p:sp>
        <p:nvSpPr>
          <p:cNvPr id="4" name="Shape 2"/>
          <p:cNvSpPr/>
          <p:nvPr/>
        </p:nvSpPr>
        <p:spPr>
          <a:xfrm>
            <a:off x="548640" y="1645920"/>
            <a:ext cx="2606040" cy="3977640"/>
          </a:xfrm>
          <a:prstGeom prst="roundRect">
            <a:avLst>
              <a:gd name="adj" fmla="val 4211"/>
            </a:avLst>
          </a:prstGeom>
          <a:solidFill>
            <a:srgbClr val="EEF2FF"/>
          </a:solidFill>
          <a:ln w="12700">
            <a:solidFill>
              <a:srgbClr val="EEF2FF"/>
            </a:solidFill>
            <a:prstDash val="solid"/>
          </a:ln>
        </p:spPr>
      </p:sp>
      <p:sp>
        <p:nvSpPr>
          <p:cNvPr id="5" name="Shape 3"/>
          <p:cNvSpPr/>
          <p:nvPr/>
        </p:nvSpPr>
        <p:spPr>
          <a:xfrm>
            <a:off x="777240" y="1874520"/>
            <a:ext cx="566928" cy="566928"/>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913303" y="2010583"/>
            <a:ext cx="294803" cy="294803"/>
          </a:xfrm>
          <a:prstGeom prst="rect">
            <a:avLst/>
          </a:prstGeom>
        </p:spPr>
      </p:pic>
      <p:sp>
        <p:nvSpPr>
          <p:cNvPr id="7" name="Text 4"/>
          <p:cNvSpPr txBox="1"/>
          <p:nvPr/>
        </p:nvSpPr>
        <p:spPr>
          <a:xfrm>
            <a:off x="1463040" y="1920240"/>
            <a:ext cx="1600200" cy="475488"/>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Frontend</a:t>
            </a:r>
            <a:endParaRPr lang="en-US" sz="1700" dirty="0"/>
          </a:p>
        </p:txBody>
      </p:sp>
      <p:sp>
        <p:nvSpPr>
          <p:cNvPr id="8" name="Text 5"/>
          <p:cNvSpPr txBox="1"/>
          <p:nvPr/>
        </p:nvSpPr>
        <p:spPr>
          <a:xfrm>
            <a:off x="777240" y="2651760"/>
            <a:ext cx="2240280" cy="32004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React 19 + Vite 8</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Tailwind CSS 4 (dark mode)</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Redux Toolkit</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React Router 7</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Recharts (charts)</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html5-qrcode (camera)</a:t>
            </a:r>
            <a:endParaRPr lang="en-US" sz="1400" dirty="0"/>
          </a:p>
        </p:txBody>
      </p:sp>
      <p:sp>
        <p:nvSpPr>
          <p:cNvPr id="9" name="Shape 6"/>
          <p:cNvSpPr/>
          <p:nvPr/>
        </p:nvSpPr>
        <p:spPr>
          <a:xfrm>
            <a:off x="3383280" y="1645920"/>
            <a:ext cx="2606040" cy="3977640"/>
          </a:xfrm>
          <a:prstGeom prst="roundRect">
            <a:avLst>
              <a:gd name="adj" fmla="val 4211"/>
            </a:avLst>
          </a:prstGeom>
          <a:solidFill>
            <a:srgbClr val="EEF2FF"/>
          </a:solidFill>
          <a:ln w="12700">
            <a:solidFill>
              <a:srgbClr val="EEF2FF"/>
            </a:solidFill>
            <a:prstDash val="solid"/>
          </a:ln>
        </p:spPr>
      </p:sp>
      <p:sp>
        <p:nvSpPr>
          <p:cNvPr id="10" name="Shape 7"/>
          <p:cNvSpPr/>
          <p:nvPr/>
        </p:nvSpPr>
        <p:spPr>
          <a:xfrm>
            <a:off x="3611880" y="1874520"/>
            <a:ext cx="566928" cy="566928"/>
          </a:xfrm>
          <a:prstGeom prst="ellipse">
            <a:avLst/>
          </a:prstGeom>
          <a:solidFill>
            <a:srgbClr val="4F46E5"/>
          </a:solidFill>
          <a:ln w="12700">
            <a:solidFill>
              <a:srgbClr val="4F46E5"/>
            </a:solidFill>
            <a:prstDash val="solid"/>
          </a:ln>
        </p:spPr>
      </p:sp>
      <p:pic>
        <p:nvPicPr>
          <p:cNvPr id="11" name="Image 1" descr="preencoded.png">    </p:cNvPr>
          <p:cNvPicPr>
            <a:picLocks noChangeAspect="1"/>
          </p:cNvPicPr>
          <p:nvPr/>
        </p:nvPicPr>
        <p:blipFill>
          <a:blip r:embed="rId2"/>
          <a:stretch>
            <a:fillRect/>
          </a:stretch>
        </p:blipFill>
        <p:spPr>
          <a:xfrm>
            <a:off x="3747943" y="2010583"/>
            <a:ext cx="294803" cy="294803"/>
          </a:xfrm>
          <a:prstGeom prst="rect">
            <a:avLst/>
          </a:prstGeom>
        </p:spPr>
      </p:pic>
      <p:sp>
        <p:nvSpPr>
          <p:cNvPr id="12" name="Text 8"/>
          <p:cNvSpPr txBox="1"/>
          <p:nvPr/>
        </p:nvSpPr>
        <p:spPr>
          <a:xfrm>
            <a:off x="4297680" y="1920240"/>
            <a:ext cx="1600200" cy="475488"/>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Backend</a:t>
            </a:r>
            <a:endParaRPr lang="en-US" sz="1700" dirty="0"/>
          </a:p>
        </p:txBody>
      </p:sp>
      <p:sp>
        <p:nvSpPr>
          <p:cNvPr id="13" name="Text 9"/>
          <p:cNvSpPr txBox="1"/>
          <p:nvPr/>
        </p:nvSpPr>
        <p:spPr>
          <a:xfrm>
            <a:off x="3611880" y="2651760"/>
            <a:ext cx="2240280" cy="32004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Java 25, Spring Boot 4.1</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Spring Security + JWT</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Spring Data JPA / Hibernate</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Flyway migrations</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ZXing (QR), OpenPDF</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Caffeine cache, Spring Mail</a:t>
            </a:r>
            <a:endParaRPr lang="en-US" sz="1400" dirty="0"/>
          </a:p>
        </p:txBody>
      </p:sp>
      <p:sp>
        <p:nvSpPr>
          <p:cNvPr id="14" name="Shape 10"/>
          <p:cNvSpPr/>
          <p:nvPr/>
        </p:nvSpPr>
        <p:spPr>
          <a:xfrm>
            <a:off x="6217920" y="1645920"/>
            <a:ext cx="2606040" cy="3977640"/>
          </a:xfrm>
          <a:prstGeom prst="roundRect">
            <a:avLst>
              <a:gd name="adj" fmla="val 4211"/>
            </a:avLst>
          </a:prstGeom>
          <a:solidFill>
            <a:srgbClr val="EEF2FF"/>
          </a:solidFill>
          <a:ln w="12700">
            <a:solidFill>
              <a:srgbClr val="EEF2FF"/>
            </a:solidFill>
            <a:prstDash val="solid"/>
          </a:ln>
        </p:spPr>
      </p:sp>
      <p:sp>
        <p:nvSpPr>
          <p:cNvPr id="15" name="Shape 11"/>
          <p:cNvSpPr/>
          <p:nvPr/>
        </p:nvSpPr>
        <p:spPr>
          <a:xfrm>
            <a:off x="6446520" y="1874520"/>
            <a:ext cx="566928" cy="566928"/>
          </a:xfrm>
          <a:prstGeom prst="ellipse">
            <a:avLst/>
          </a:prstGeom>
          <a:solidFill>
            <a:srgbClr val="4F46E5"/>
          </a:solidFill>
          <a:ln w="12700">
            <a:solidFill>
              <a:srgbClr val="4F46E5"/>
            </a:solidFill>
            <a:prstDash val="solid"/>
          </a:ln>
        </p:spPr>
      </p:sp>
      <p:pic>
        <p:nvPicPr>
          <p:cNvPr id="16" name="Image 2" descr="preencoded.png">    </p:cNvPr>
          <p:cNvPicPr>
            <a:picLocks noChangeAspect="1"/>
          </p:cNvPicPr>
          <p:nvPr/>
        </p:nvPicPr>
        <p:blipFill>
          <a:blip r:embed="rId3"/>
          <a:stretch>
            <a:fillRect/>
          </a:stretch>
        </p:blipFill>
        <p:spPr>
          <a:xfrm>
            <a:off x="6582583" y="2010583"/>
            <a:ext cx="294803" cy="294803"/>
          </a:xfrm>
          <a:prstGeom prst="rect">
            <a:avLst/>
          </a:prstGeom>
        </p:spPr>
      </p:pic>
      <p:sp>
        <p:nvSpPr>
          <p:cNvPr id="17" name="Text 12"/>
          <p:cNvSpPr txBox="1"/>
          <p:nvPr/>
        </p:nvSpPr>
        <p:spPr>
          <a:xfrm>
            <a:off x="7132320" y="1920240"/>
            <a:ext cx="1600200" cy="475488"/>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Data &amp; services</a:t>
            </a:r>
            <a:endParaRPr lang="en-US" sz="1700" dirty="0"/>
          </a:p>
        </p:txBody>
      </p:sp>
      <p:sp>
        <p:nvSpPr>
          <p:cNvPr id="18" name="Text 13"/>
          <p:cNvSpPr txBox="1"/>
          <p:nvPr/>
        </p:nvSpPr>
        <p:spPr>
          <a:xfrm>
            <a:off x="6446520" y="2651760"/>
            <a:ext cx="2240280" cy="32004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MySQL 8.4</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Docker Compose</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Mailpit (test email)</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Stripe Checkout (test mode)</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Swagger / OpenAPI docs</a:t>
            </a:r>
            <a:endParaRPr lang="en-US" sz="1400" dirty="0"/>
          </a:p>
        </p:txBody>
      </p:sp>
      <p:sp>
        <p:nvSpPr>
          <p:cNvPr id="19" name="Shape 14"/>
          <p:cNvSpPr/>
          <p:nvPr/>
        </p:nvSpPr>
        <p:spPr>
          <a:xfrm>
            <a:off x="9052560" y="1645920"/>
            <a:ext cx="2606040" cy="3977640"/>
          </a:xfrm>
          <a:prstGeom prst="roundRect">
            <a:avLst>
              <a:gd name="adj" fmla="val 4211"/>
            </a:avLst>
          </a:prstGeom>
          <a:solidFill>
            <a:srgbClr val="EEF2FF"/>
          </a:solidFill>
          <a:ln w="12700">
            <a:solidFill>
              <a:srgbClr val="EEF2FF"/>
            </a:solidFill>
            <a:prstDash val="solid"/>
          </a:ln>
        </p:spPr>
      </p:sp>
      <p:sp>
        <p:nvSpPr>
          <p:cNvPr id="20" name="Shape 15"/>
          <p:cNvSpPr/>
          <p:nvPr/>
        </p:nvSpPr>
        <p:spPr>
          <a:xfrm>
            <a:off x="9281160" y="1874520"/>
            <a:ext cx="566928" cy="566928"/>
          </a:xfrm>
          <a:prstGeom prst="ellipse">
            <a:avLst/>
          </a:prstGeom>
          <a:solidFill>
            <a:srgbClr val="4F46E5"/>
          </a:solidFill>
          <a:ln w="12700">
            <a:solidFill>
              <a:srgbClr val="4F46E5"/>
            </a:solidFill>
            <a:prstDash val="solid"/>
          </a:ln>
        </p:spPr>
      </p:sp>
      <p:pic>
        <p:nvPicPr>
          <p:cNvPr id="21" name="Image 3" descr="preencoded.png">    </p:cNvPr>
          <p:cNvPicPr>
            <a:picLocks noChangeAspect="1"/>
          </p:cNvPicPr>
          <p:nvPr/>
        </p:nvPicPr>
        <p:blipFill>
          <a:blip r:embed="rId4"/>
          <a:stretch>
            <a:fillRect/>
          </a:stretch>
        </p:blipFill>
        <p:spPr>
          <a:xfrm>
            <a:off x="9417223" y="2010583"/>
            <a:ext cx="294803" cy="294803"/>
          </a:xfrm>
          <a:prstGeom prst="rect">
            <a:avLst/>
          </a:prstGeom>
        </p:spPr>
      </p:pic>
      <p:sp>
        <p:nvSpPr>
          <p:cNvPr id="22" name="Text 16"/>
          <p:cNvSpPr txBox="1"/>
          <p:nvPr/>
        </p:nvSpPr>
        <p:spPr>
          <a:xfrm>
            <a:off x="9966960" y="1920240"/>
            <a:ext cx="1600200" cy="475488"/>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Quality &amp; tools</a:t>
            </a:r>
            <a:endParaRPr lang="en-US" sz="1700" dirty="0"/>
          </a:p>
        </p:txBody>
      </p:sp>
      <p:sp>
        <p:nvSpPr>
          <p:cNvPr id="23" name="Text 17"/>
          <p:cNvSpPr txBox="1"/>
          <p:nvPr/>
        </p:nvSpPr>
        <p:spPr>
          <a:xfrm>
            <a:off x="9281160" y="2651760"/>
            <a:ext cx="2240280" cy="32004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JUnit 5 + Mockito</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Testcontainers (real MySQL)</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JaCoCo coverage</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Vitest + Testing Library</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GitHub Actions CI</a:t>
            </a:r>
            <a:endParaRPr lang="en-US" sz="1400" dirty="0"/>
          </a:p>
          <a:p>
            <a:pPr marL="342900" indent="-342900">
              <a:spcAft>
                <a:spcPts val="700"/>
              </a:spcAft>
              <a:buSzPct val="100000"/>
              <a:buChar char="•"/>
            </a:pPr>
            <a:r>
              <a:rPr lang="en-US" sz="1400" dirty="0">
                <a:solidFill>
                  <a:srgbClr val="1F2937"/>
                </a:solidFill>
                <a:latin typeface="Calibri" pitchFamily="34" charset="0"/>
                <a:ea typeface="Calibri" pitchFamily="34" charset="-122"/>
                <a:cs typeface="Calibri" pitchFamily="34" charset="-120"/>
              </a:rPr>
              <a:t>Postman, IntelliJ, Git</a:t>
            </a:r>
            <a:endParaRPr lang="en-US" sz="1400" dirty="0"/>
          </a:p>
        </p:txBody>
      </p:sp>
      <p:sp>
        <p:nvSpPr>
          <p:cNvPr id="24" name="Text 18"/>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Architecture</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A single-page React app talks to a layered Spring Boot API</a:t>
            </a:r>
            <a:endParaRPr lang="en-US" sz="1600" dirty="0"/>
          </a:p>
        </p:txBody>
      </p:sp>
      <p:sp>
        <p:nvSpPr>
          <p:cNvPr id="4" name="Shape 2"/>
          <p:cNvSpPr/>
          <p:nvPr/>
        </p:nvSpPr>
        <p:spPr>
          <a:xfrm>
            <a:off x="548640" y="2743200"/>
            <a:ext cx="2377440" cy="1463040"/>
          </a:xfrm>
          <a:prstGeom prst="roundRect">
            <a:avLst>
              <a:gd name="adj" fmla="val 6250"/>
            </a:avLst>
          </a:prstGeom>
          <a:solidFill>
            <a:srgbClr val="EEF2FF"/>
          </a:solidFill>
          <a:ln w="12700">
            <a:solidFill>
              <a:srgbClr val="4F46E5"/>
            </a:solidFill>
            <a:prstDash val="solid"/>
          </a:ln>
        </p:spPr>
      </p:sp>
      <p:sp>
        <p:nvSpPr>
          <p:cNvPr id="5" name="Text 3"/>
          <p:cNvSpPr txBox="1"/>
          <p:nvPr/>
        </p:nvSpPr>
        <p:spPr>
          <a:xfrm>
            <a:off x="548640" y="2743200"/>
            <a:ext cx="2377440" cy="1463040"/>
          </a:xfrm>
          <a:prstGeom prst="rect">
            <a:avLst/>
          </a:prstGeom>
          <a:noFill/>
          <a:ln/>
        </p:spPr>
        <p:txBody>
          <a:bodyPr wrap="square" lIns="50800" tIns="50800" rIns="50800" bIns="50800" rtlCol="0" anchor="ctr"/>
          <a:lstStyle/>
          <a:p>
            <a:pPr algn="ctr" indent="0" marL="0">
              <a:buNone/>
            </a:pPr>
            <a:r>
              <a:rPr lang="en-US" sz="1500" b="1" dirty="0">
                <a:solidFill>
                  <a:srgbClr val="1E1B4B"/>
                </a:solidFill>
                <a:latin typeface="Calibri" pitchFamily="34" charset="0"/>
                <a:ea typeface="Calibri" pitchFamily="34" charset="-122"/>
                <a:cs typeface="Calibri" pitchFamily="34" charset="-120"/>
              </a:rPr>
              <a:t>Browser</a:t>
            </a:r>
            <a:endParaRPr lang="en-US" sz="1500" dirty="0"/>
          </a:p>
          <a:p>
            <a:pPr algn="ctr" indent="0" marL="0">
              <a:buNone/>
            </a:pPr>
            <a:r>
              <a:rPr lang="en-US" sz="1150" dirty="0">
                <a:solidFill>
                  <a:srgbClr val="1E1B4B"/>
                </a:solidFill>
                <a:latin typeface="Calibri" pitchFamily="34" charset="0"/>
                <a:ea typeface="Calibri" pitchFamily="34" charset="-122"/>
                <a:cs typeface="Calibri" pitchFamily="34" charset="-120"/>
              </a:rPr>
              <a:t>React 19 app</a:t>
            </a:r>
            <a:endParaRPr lang="en-US" sz="1500" dirty="0"/>
          </a:p>
          <a:p>
            <a:pPr algn="ctr" indent="0" marL="0">
              <a:buNone/>
            </a:pPr>
            <a:r>
              <a:rPr lang="en-US" sz="1150" dirty="0">
                <a:solidFill>
                  <a:srgbClr val="1E1B4B"/>
                </a:solidFill>
                <a:latin typeface="Calibri" pitchFamily="34" charset="0"/>
                <a:ea typeface="Calibri" pitchFamily="34" charset="-122"/>
                <a:cs typeface="Calibri" pitchFamily="34" charset="-120"/>
              </a:rPr>
              <a:t>Redux store · Axios</a:t>
            </a:r>
            <a:endParaRPr lang="en-US" sz="1500" dirty="0"/>
          </a:p>
        </p:txBody>
      </p:sp>
      <p:sp>
        <p:nvSpPr>
          <p:cNvPr id="6" name="Shape 4"/>
          <p:cNvSpPr/>
          <p:nvPr/>
        </p:nvSpPr>
        <p:spPr>
          <a:xfrm>
            <a:off x="2971800" y="3474720"/>
            <a:ext cx="868680" cy="0"/>
          </a:xfrm>
          <a:prstGeom prst="line">
            <a:avLst/>
          </a:prstGeom>
          <a:noFill/>
          <a:ln w="19050">
            <a:solidFill>
              <a:srgbClr val="6B7280"/>
            </a:solidFill>
            <a:prstDash val="solid"/>
            <a:tailEnd type="triangle"/>
          </a:ln>
        </p:spPr>
      </p:sp>
      <p:sp>
        <p:nvSpPr>
          <p:cNvPr id="7" name="Text 5"/>
          <p:cNvSpPr txBox="1"/>
          <p:nvPr/>
        </p:nvSpPr>
        <p:spPr>
          <a:xfrm>
            <a:off x="548640" y="4297680"/>
            <a:ext cx="2377440" cy="457200"/>
          </a:xfrm>
          <a:prstGeom prst="rect">
            <a:avLst/>
          </a:prstGeom>
          <a:noFill/>
          <a:ln/>
        </p:spPr>
        <p:txBody>
          <a:bodyPr wrap="square" lIns="0" tIns="0" rIns="0" bIns="0" rtlCol="0" anchor="ctr"/>
          <a:lstStyle/>
          <a:p>
            <a:pPr algn="ctr" indent="0" marL="0">
              <a:buNone/>
            </a:pPr>
            <a:r>
              <a:rPr lang="en-US" sz="1050" dirty="0">
                <a:solidFill>
                  <a:srgbClr val="6B7280"/>
                </a:solidFill>
                <a:latin typeface="Calibri" pitchFamily="34" charset="0"/>
                <a:ea typeface="Calibri" pitchFamily="34" charset="-122"/>
                <a:cs typeface="Calibri" pitchFamily="34" charset="-120"/>
              </a:rPr>
              <a:t>JSON over HTTP · JWT cookie + CSRF token</a:t>
            </a:r>
            <a:endParaRPr lang="en-US" sz="1050" dirty="0"/>
          </a:p>
        </p:txBody>
      </p:sp>
      <p:sp>
        <p:nvSpPr>
          <p:cNvPr id="8" name="Shape 6"/>
          <p:cNvSpPr/>
          <p:nvPr/>
        </p:nvSpPr>
        <p:spPr>
          <a:xfrm>
            <a:off x="3886200" y="1600200"/>
            <a:ext cx="4480560" cy="4434840"/>
          </a:xfrm>
          <a:prstGeom prst="roundRect">
            <a:avLst>
              <a:gd name="adj" fmla="val 2474"/>
            </a:avLst>
          </a:prstGeom>
          <a:solidFill>
            <a:srgbClr val="FFFFFF"/>
          </a:solidFill>
          <a:ln w="19050">
            <a:solidFill>
              <a:srgbClr val="1E1B4B"/>
            </a:solidFill>
            <a:prstDash val="dash"/>
          </a:ln>
        </p:spPr>
      </p:sp>
      <p:sp>
        <p:nvSpPr>
          <p:cNvPr id="9" name="Text 7"/>
          <p:cNvSpPr txBox="1"/>
          <p:nvPr/>
        </p:nvSpPr>
        <p:spPr>
          <a:xfrm>
            <a:off x="3886200" y="1664208"/>
            <a:ext cx="4480560" cy="365760"/>
          </a:xfrm>
          <a:prstGeom prst="rect">
            <a:avLst/>
          </a:prstGeom>
          <a:noFill/>
          <a:ln/>
        </p:spPr>
        <p:txBody>
          <a:bodyPr wrap="square" lIns="0" tIns="0" rIns="0" bIns="0" rtlCol="0" anchor="ctr"/>
          <a:lstStyle/>
          <a:p>
            <a:pPr algn="ctr" indent="0" marL="0">
              <a:buNone/>
            </a:pPr>
            <a:r>
              <a:rPr lang="en-US" sz="1400" b="1" dirty="0">
                <a:solidFill>
                  <a:srgbClr val="1E1B4B"/>
                </a:solidFill>
                <a:latin typeface="Arial" pitchFamily="34" charset="0"/>
                <a:ea typeface="Arial" pitchFamily="34" charset="-122"/>
                <a:cs typeface="Arial" pitchFamily="34" charset="-120"/>
              </a:rPr>
              <a:t>Spring Boot API (port 8080)</a:t>
            </a:r>
            <a:endParaRPr lang="en-US" sz="1400" dirty="0"/>
          </a:p>
        </p:txBody>
      </p:sp>
      <p:sp>
        <p:nvSpPr>
          <p:cNvPr id="10" name="Shape 8"/>
          <p:cNvSpPr/>
          <p:nvPr/>
        </p:nvSpPr>
        <p:spPr>
          <a:xfrm>
            <a:off x="4160520" y="2103120"/>
            <a:ext cx="3931920" cy="685800"/>
          </a:xfrm>
          <a:prstGeom prst="roundRect">
            <a:avLst>
              <a:gd name="adj" fmla="val 13333"/>
            </a:avLst>
          </a:prstGeom>
          <a:solidFill>
            <a:srgbClr val="FEF3C7"/>
          </a:solidFill>
          <a:ln w="12700">
            <a:solidFill>
              <a:srgbClr val="F59E0B"/>
            </a:solidFill>
            <a:prstDash val="solid"/>
          </a:ln>
        </p:spPr>
      </p:sp>
      <p:sp>
        <p:nvSpPr>
          <p:cNvPr id="11" name="Text 9"/>
          <p:cNvSpPr txBox="1"/>
          <p:nvPr/>
        </p:nvSpPr>
        <p:spPr>
          <a:xfrm>
            <a:off x="4160520" y="2103120"/>
            <a:ext cx="3931920" cy="685800"/>
          </a:xfrm>
          <a:prstGeom prst="rect">
            <a:avLst/>
          </a:prstGeom>
          <a:noFill/>
          <a:ln/>
        </p:spPr>
        <p:txBody>
          <a:bodyPr wrap="square" lIns="50800" tIns="50800" rIns="50800" bIns="50800" rtlCol="0" anchor="ctr"/>
          <a:lstStyle/>
          <a:p>
            <a:pPr algn="ctr" indent="0" marL="0">
              <a:buNone/>
            </a:pPr>
            <a:r>
              <a:rPr lang="en-US" sz="1500" b="1" dirty="0">
                <a:solidFill>
                  <a:srgbClr val="1E1B4B"/>
                </a:solidFill>
                <a:latin typeface="Calibri" pitchFamily="34" charset="0"/>
                <a:ea typeface="Calibri" pitchFamily="34" charset="-122"/>
                <a:cs typeface="Calibri" pitchFamily="34" charset="-120"/>
              </a:rPr>
              <a:t>Security filters</a:t>
            </a:r>
            <a:endParaRPr lang="en-US" sz="1500" dirty="0"/>
          </a:p>
          <a:p>
            <a:pPr algn="ctr" indent="0" marL="0">
              <a:buNone/>
            </a:pPr>
            <a:r>
              <a:rPr lang="en-US" sz="1150" dirty="0">
                <a:solidFill>
                  <a:srgbClr val="1E1B4B"/>
                </a:solidFill>
                <a:latin typeface="Calibri" pitchFamily="34" charset="0"/>
                <a:ea typeface="Calibri" pitchFamily="34" charset="-122"/>
                <a:cs typeface="Calibri" pitchFamily="34" charset="-120"/>
              </a:rPr>
              <a:t>JWT cookie reader · CSRF · role rules</a:t>
            </a:r>
            <a:endParaRPr lang="en-US" sz="1500" dirty="0"/>
          </a:p>
        </p:txBody>
      </p:sp>
      <p:sp>
        <p:nvSpPr>
          <p:cNvPr id="12" name="Shape 10"/>
          <p:cNvSpPr/>
          <p:nvPr/>
        </p:nvSpPr>
        <p:spPr>
          <a:xfrm>
            <a:off x="4160520" y="2971800"/>
            <a:ext cx="3931920" cy="685800"/>
          </a:xfrm>
          <a:prstGeom prst="roundRect">
            <a:avLst>
              <a:gd name="adj" fmla="val 13333"/>
            </a:avLst>
          </a:prstGeom>
          <a:solidFill>
            <a:srgbClr val="EEF2FF"/>
          </a:solidFill>
          <a:ln w="12700">
            <a:solidFill>
              <a:srgbClr val="4F46E5"/>
            </a:solidFill>
            <a:prstDash val="solid"/>
          </a:ln>
        </p:spPr>
      </p:sp>
      <p:sp>
        <p:nvSpPr>
          <p:cNvPr id="13" name="Text 11"/>
          <p:cNvSpPr txBox="1"/>
          <p:nvPr/>
        </p:nvSpPr>
        <p:spPr>
          <a:xfrm>
            <a:off x="4160520" y="2971800"/>
            <a:ext cx="3931920" cy="685800"/>
          </a:xfrm>
          <a:prstGeom prst="rect">
            <a:avLst/>
          </a:prstGeom>
          <a:noFill/>
          <a:ln/>
        </p:spPr>
        <p:txBody>
          <a:bodyPr wrap="square" lIns="50800" tIns="50800" rIns="50800" bIns="50800" rtlCol="0" anchor="ctr"/>
          <a:lstStyle/>
          <a:p>
            <a:pPr algn="ctr" indent="0" marL="0">
              <a:buNone/>
            </a:pPr>
            <a:r>
              <a:rPr lang="en-US" sz="1500" b="1" dirty="0">
                <a:solidFill>
                  <a:srgbClr val="1E1B4B"/>
                </a:solidFill>
                <a:latin typeface="Calibri" pitchFamily="34" charset="0"/>
                <a:ea typeface="Calibri" pitchFamily="34" charset="-122"/>
                <a:cs typeface="Calibri" pitchFamily="34" charset="-120"/>
              </a:rPr>
              <a:t>Controllers</a:t>
            </a:r>
            <a:endParaRPr lang="en-US" sz="1500" dirty="0"/>
          </a:p>
          <a:p>
            <a:pPr algn="ctr" indent="0" marL="0">
              <a:buNone/>
            </a:pPr>
            <a:r>
              <a:rPr lang="en-US" sz="1150" dirty="0">
                <a:solidFill>
                  <a:srgbClr val="1E1B4B"/>
                </a:solidFill>
                <a:latin typeface="Calibri" pitchFamily="34" charset="0"/>
                <a:ea typeface="Calibri" pitchFamily="34" charset="-122"/>
                <a:cs typeface="Calibri" pitchFamily="34" charset="-120"/>
              </a:rPr>
              <a:t>50 REST endpoints · validation</a:t>
            </a:r>
            <a:endParaRPr lang="en-US" sz="1500" dirty="0"/>
          </a:p>
        </p:txBody>
      </p:sp>
      <p:sp>
        <p:nvSpPr>
          <p:cNvPr id="14" name="Shape 12"/>
          <p:cNvSpPr/>
          <p:nvPr/>
        </p:nvSpPr>
        <p:spPr>
          <a:xfrm>
            <a:off x="4160520" y="3840480"/>
            <a:ext cx="3931920" cy="685800"/>
          </a:xfrm>
          <a:prstGeom prst="roundRect">
            <a:avLst>
              <a:gd name="adj" fmla="val 13333"/>
            </a:avLst>
          </a:prstGeom>
          <a:solidFill>
            <a:srgbClr val="EEF2FF"/>
          </a:solidFill>
          <a:ln w="12700">
            <a:solidFill>
              <a:srgbClr val="4F46E5"/>
            </a:solidFill>
            <a:prstDash val="solid"/>
          </a:ln>
        </p:spPr>
      </p:sp>
      <p:sp>
        <p:nvSpPr>
          <p:cNvPr id="15" name="Text 13"/>
          <p:cNvSpPr txBox="1"/>
          <p:nvPr/>
        </p:nvSpPr>
        <p:spPr>
          <a:xfrm>
            <a:off x="4160520" y="3840480"/>
            <a:ext cx="3931920" cy="685800"/>
          </a:xfrm>
          <a:prstGeom prst="rect">
            <a:avLst/>
          </a:prstGeom>
          <a:noFill/>
          <a:ln/>
        </p:spPr>
        <p:txBody>
          <a:bodyPr wrap="square" lIns="50800" tIns="50800" rIns="50800" bIns="50800" rtlCol="0" anchor="ctr"/>
          <a:lstStyle/>
          <a:p>
            <a:pPr algn="ctr" indent="0" marL="0">
              <a:buNone/>
            </a:pPr>
            <a:r>
              <a:rPr lang="en-US" sz="1500" b="1" dirty="0">
                <a:solidFill>
                  <a:srgbClr val="1E1B4B"/>
                </a:solidFill>
                <a:latin typeface="Calibri" pitchFamily="34" charset="0"/>
                <a:ea typeface="Calibri" pitchFamily="34" charset="-122"/>
                <a:cs typeface="Calibri" pitchFamily="34" charset="-120"/>
              </a:rPr>
              <a:t>Services</a:t>
            </a:r>
            <a:endParaRPr lang="en-US" sz="1500" dirty="0"/>
          </a:p>
          <a:p>
            <a:pPr algn="ctr" indent="0" marL="0">
              <a:buNone/>
            </a:pPr>
            <a:r>
              <a:rPr lang="en-US" sz="1150" dirty="0">
                <a:solidFill>
                  <a:srgbClr val="1E1B4B"/>
                </a:solidFill>
                <a:latin typeface="Calibri" pitchFamily="34" charset="0"/>
                <a:ea typeface="Calibri" pitchFamily="34" charset="-122"/>
                <a:cs typeface="Calibri" pitchFamily="34" charset="-120"/>
              </a:rPr>
              <a:t>business rules · transactions · events</a:t>
            </a:r>
            <a:endParaRPr lang="en-US" sz="1500" dirty="0"/>
          </a:p>
        </p:txBody>
      </p:sp>
      <p:sp>
        <p:nvSpPr>
          <p:cNvPr id="16" name="Shape 14"/>
          <p:cNvSpPr/>
          <p:nvPr/>
        </p:nvSpPr>
        <p:spPr>
          <a:xfrm>
            <a:off x="4160520" y="4709160"/>
            <a:ext cx="3931920" cy="685800"/>
          </a:xfrm>
          <a:prstGeom prst="roundRect">
            <a:avLst>
              <a:gd name="adj" fmla="val 13333"/>
            </a:avLst>
          </a:prstGeom>
          <a:solidFill>
            <a:srgbClr val="EEF2FF"/>
          </a:solidFill>
          <a:ln w="12700">
            <a:solidFill>
              <a:srgbClr val="4F46E5"/>
            </a:solidFill>
            <a:prstDash val="solid"/>
          </a:ln>
        </p:spPr>
      </p:sp>
      <p:sp>
        <p:nvSpPr>
          <p:cNvPr id="17" name="Text 15"/>
          <p:cNvSpPr txBox="1"/>
          <p:nvPr/>
        </p:nvSpPr>
        <p:spPr>
          <a:xfrm>
            <a:off x="4160520" y="4709160"/>
            <a:ext cx="3931920" cy="685800"/>
          </a:xfrm>
          <a:prstGeom prst="rect">
            <a:avLst/>
          </a:prstGeom>
          <a:noFill/>
          <a:ln/>
        </p:spPr>
        <p:txBody>
          <a:bodyPr wrap="square" lIns="50800" tIns="50800" rIns="50800" bIns="50800" rtlCol="0" anchor="ctr"/>
          <a:lstStyle/>
          <a:p>
            <a:pPr algn="ctr" indent="0" marL="0">
              <a:buNone/>
            </a:pPr>
            <a:r>
              <a:rPr lang="en-US" sz="1500" b="1" dirty="0">
                <a:solidFill>
                  <a:srgbClr val="1E1B4B"/>
                </a:solidFill>
                <a:latin typeface="Calibri" pitchFamily="34" charset="0"/>
                <a:ea typeface="Calibri" pitchFamily="34" charset="-122"/>
                <a:cs typeface="Calibri" pitchFamily="34" charset="-120"/>
              </a:rPr>
              <a:t>Repositories</a:t>
            </a:r>
            <a:endParaRPr lang="en-US" sz="1500" dirty="0"/>
          </a:p>
          <a:p>
            <a:pPr algn="ctr" indent="0" marL="0">
              <a:buNone/>
            </a:pPr>
            <a:r>
              <a:rPr lang="en-US" sz="1150" dirty="0">
                <a:solidFill>
                  <a:srgbClr val="1E1B4B"/>
                </a:solidFill>
                <a:latin typeface="Calibri" pitchFamily="34" charset="0"/>
                <a:ea typeface="Calibri" pitchFamily="34" charset="-122"/>
                <a:cs typeface="Calibri" pitchFamily="34" charset="-120"/>
              </a:rPr>
              <a:t>Spring Data JPA · Hibernate</a:t>
            </a:r>
            <a:endParaRPr lang="en-US" sz="1500" dirty="0"/>
          </a:p>
        </p:txBody>
      </p:sp>
      <p:sp>
        <p:nvSpPr>
          <p:cNvPr id="18" name="Shape 16"/>
          <p:cNvSpPr/>
          <p:nvPr/>
        </p:nvSpPr>
        <p:spPr>
          <a:xfrm>
            <a:off x="6126480" y="2788920"/>
            <a:ext cx="0" cy="182880"/>
          </a:xfrm>
          <a:prstGeom prst="line">
            <a:avLst/>
          </a:prstGeom>
          <a:noFill/>
          <a:ln w="19050">
            <a:solidFill>
              <a:srgbClr val="6B7280"/>
            </a:solidFill>
            <a:prstDash val="solid"/>
            <a:tailEnd type="triangle"/>
          </a:ln>
        </p:spPr>
      </p:sp>
      <p:sp>
        <p:nvSpPr>
          <p:cNvPr id="19" name="Shape 17"/>
          <p:cNvSpPr/>
          <p:nvPr/>
        </p:nvSpPr>
        <p:spPr>
          <a:xfrm>
            <a:off x="6126480" y="3657600"/>
            <a:ext cx="0" cy="182880"/>
          </a:xfrm>
          <a:prstGeom prst="line">
            <a:avLst/>
          </a:prstGeom>
          <a:noFill/>
          <a:ln w="19050">
            <a:solidFill>
              <a:srgbClr val="6B7280"/>
            </a:solidFill>
            <a:prstDash val="solid"/>
            <a:tailEnd type="triangle"/>
          </a:ln>
        </p:spPr>
      </p:sp>
      <p:sp>
        <p:nvSpPr>
          <p:cNvPr id="20" name="Shape 18"/>
          <p:cNvSpPr/>
          <p:nvPr/>
        </p:nvSpPr>
        <p:spPr>
          <a:xfrm>
            <a:off x="6126480" y="4526280"/>
            <a:ext cx="0" cy="182880"/>
          </a:xfrm>
          <a:prstGeom prst="line">
            <a:avLst/>
          </a:prstGeom>
          <a:noFill/>
          <a:ln w="19050">
            <a:solidFill>
              <a:srgbClr val="6B7280"/>
            </a:solidFill>
            <a:prstDash val="solid"/>
            <a:tailEnd type="triangle"/>
          </a:ln>
        </p:spPr>
      </p:sp>
      <p:sp>
        <p:nvSpPr>
          <p:cNvPr id="21" name="Shape 19"/>
          <p:cNvSpPr/>
          <p:nvPr/>
        </p:nvSpPr>
        <p:spPr>
          <a:xfrm>
            <a:off x="9235440" y="4526280"/>
            <a:ext cx="2377440" cy="1051560"/>
          </a:xfrm>
          <a:prstGeom prst="roundRect">
            <a:avLst>
              <a:gd name="adj" fmla="val 8696"/>
            </a:avLst>
          </a:prstGeom>
          <a:solidFill>
            <a:srgbClr val="1E1B4B"/>
          </a:solidFill>
          <a:ln w="12700">
            <a:solidFill>
              <a:srgbClr val="1E1B4B"/>
            </a:solidFill>
            <a:prstDash val="solid"/>
          </a:ln>
        </p:spPr>
      </p:sp>
      <p:sp>
        <p:nvSpPr>
          <p:cNvPr id="22" name="Text 20"/>
          <p:cNvSpPr txBox="1"/>
          <p:nvPr/>
        </p:nvSpPr>
        <p:spPr>
          <a:xfrm>
            <a:off x="9235440" y="4526280"/>
            <a:ext cx="2377440" cy="1051560"/>
          </a:xfrm>
          <a:prstGeom prst="rect">
            <a:avLst/>
          </a:prstGeom>
          <a:noFill/>
          <a:ln/>
        </p:spPr>
        <p:txBody>
          <a:bodyPr wrap="square" lIns="50800" tIns="50800" rIns="50800" bIns="508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MySQL 8.4</a:t>
            </a:r>
            <a:endParaRPr lang="en-US" sz="1500" dirty="0"/>
          </a:p>
          <a:p>
            <a:pPr algn="ctr" indent="0" marL="0">
              <a:buNone/>
            </a:pPr>
            <a:r>
              <a:rPr lang="en-US" sz="1150" dirty="0">
                <a:solidFill>
                  <a:srgbClr val="FFFFFF"/>
                </a:solidFill>
                <a:latin typeface="Calibri" pitchFamily="34" charset="0"/>
                <a:ea typeface="Calibri" pitchFamily="34" charset="-122"/>
                <a:cs typeface="Calibri" pitchFamily="34" charset="-120"/>
              </a:rPr>
              <a:t>17 tables · Flyway V1-V9</a:t>
            </a:r>
            <a:endParaRPr lang="en-US" sz="1500" dirty="0"/>
          </a:p>
        </p:txBody>
      </p:sp>
      <p:sp>
        <p:nvSpPr>
          <p:cNvPr id="23" name="Shape 21"/>
          <p:cNvSpPr/>
          <p:nvPr/>
        </p:nvSpPr>
        <p:spPr>
          <a:xfrm>
            <a:off x="8092440" y="5029200"/>
            <a:ext cx="1097280" cy="0"/>
          </a:xfrm>
          <a:prstGeom prst="line">
            <a:avLst/>
          </a:prstGeom>
          <a:noFill/>
          <a:ln w="19050">
            <a:solidFill>
              <a:srgbClr val="6B7280"/>
            </a:solidFill>
            <a:prstDash val="solid"/>
            <a:tailEnd type="triangle"/>
          </a:ln>
        </p:spPr>
      </p:sp>
      <p:sp>
        <p:nvSpPr>
          <p:cNvPr id="24" name="Shape 22"/>
          <p:cNvSpPr/>
          <p:nvPr/>
        </p:nvSpPr>
        <p:spPr>
          <a:xfrm>
            <a:off x="9235440" y="1737360"/>
            <a:ext cx="2377440" cy="868680"/>
          </a:xfrm>
          <a:prstGeom prst="roundRect">
            <a:avLst>
              <a:gd name="adj" fmla="val 10526"/>
            </a:avLst>
          </a:prstGeom>
          <a:solidFill>
            <a:srgbClr val="EEF2FF"/>
          </a:solidFill>
          <a:ln w="12700">
            <a:solidFill>
              <a:srgbClr val="4F46E5"/>
            </a:solidFill>
            <a:prstDash val="solid"/>
          </a:ln>
        </p:spPr>
      </p:sp>
      <p:sp>
        <p:nvSpPr>
          <p:cNvPr id="25" name="Text 23"/>
          <p:cNvSpPr txBox="1"/>
          <p:nvPr/>
        </p:nvSpPr>
        <p:spPr>
          <a:xfrm>
            <a:off x="9235440" y="1737360"/>
            <a:ext cx="2377440" cy="868680"/>
          </a:xfrm>
          <a:prstGeom prst="rect">
            <a:avLst/>
          </a:prstGeom>
          <a:noFill/>
          <a:ln/>
        </p:spPr>
        <p:txBody>
          <a:bodyPr wrap="square" lIns="50800" tIns="50800" rIns="50800" bIns="50800" rtlCol="0" anchor="ctr"/>
          <a:lstStyle/>
          <a:p>
            <a:pPr algn="ctr" indent="0" marL="0">
              <a:buNone/>
            </a:pPr>
            <a:r>
              <a:rPr lang="en-US" sz="1500" b="1" dirty="0">
                <a:solidFill>
                  <a:srgbClr val="1E1B4B"/>
                </a:solidFill>
                <a:latin typeface="Calibri" pitchFamily="34" charset="0"/>
                <a:ea typeface="Calibri" pitchFamily="34" charset="-122"/>
                <a:cs typeface="Calibri" pitchFamily="34" charset="-120"/>
              </a:rPr>
              <a:t>Stripe</a:t>
            </a:r>
            <a:endParaRPr lang="en-US" sz="1500" dirty="0"/>
          </a:p>
          <a:p>
            <a:pPr algn="ctr" indent="0" marL="0">
              <a:buNone/>
            </a:pPr>
            <a:r>
              <a:rPr lang="en-US" sz="1150" dirty="0">
                <a:solidFill>
                  <a:srgbClr val="1E1B4B"/>
                </a:solidFill>
                <a:latin typeface="Calibri" pitchFamily="34" charset="0"/>
                <a:ea typeface="Calibri" pitchFamily="34" charset="-122"/>
                <a:cs typeface="Calibri" pitchFamily="34" charset="-120"/>
              </a:rPr>
              <a:t>checkout + webhook</a:t>
            </a:r>
            <a:endParaRPr lang="en-US" sz="1500" dirty="0"/>
          </a:p>
        </p:txBody>
      </p:sp>
      <p:sp>
        <p:nvSpPr>
          <p:cNvPr id="26" name="Shape 24"/>
          <p:cNvSpPr/>
          <p:nvPr/>
        </p:nvSpPr>
        <p:spPr>
          <a:xfrm>
            <a:off x="9235440" y="2834640"/>
            <a:ext cx="2377440" cy="868680"/>
          </a:xfrm>
          <a:prstGeom prst="roundRect">
            <a:avLst>
              <a:gd name="adj" fmla="val 10526"/>
            </a:avLst>
          </a:prstGeom>
          <a:solidFill>
            <a:srgbClr val="EEF2FF"/>
          </a:solidFill>
          <a:ln w="12700">
            <a:solidFill>
              <a:srgbClr val="4F46E5"/>
            </a:solidFill>
            <a:prstDash val="solid"/>
          </a:ln>
        </p:spPr>
      </p:sp>
      <p:sp>
        <p:nvSpPr>
          <p:cNvPr id="27" name="Text 25"/>
          <p:cNvSpPr txBox="1"/>
          <p:nvPr/>
        </p:nvSpPr>
        <p:spPr>
          <a:xfrm>
            <a:off x="9235440" y="2834640"/>
            <a:ext cx="2377440" cy="868680"/>
          </a:xfrm>
          <a:prstGeom prst="rect">
            <a:avLst/>
          </a:prstGeom>
          <a:noFill/>
          <a:ln/>
        </p:spPr>
        <p:txBody>
          <a:bodyPr wrap="square" lIns="50800" tIns="50800" rIns="50800" bIns="50800" rtlCol="0" anchor="ctr"/>
          <a:lstStyle/>
          <a:p>
            <a:pPr algn="ctr" indent="0" marL="0">
              <a:buNone/>
            </a:pPr>
            <a:r>
              <a:rPr lang="en-US" sz="1500" b="1" dirty="0">
                <a:solidFill>
                  <a:srgbClr val="1E1B4B"/>
                </a:solidFill>
                <a:latin typeface="Calibri" pitchFamily="34" charset="0"/>
                <a:ea typeface="Calibri" pitchFamily="34" charset="-122"/>
                <a:cs typeface="Calibri" pitchFamily="34" charset="-120"/>
              </a:rPr>
              <a:t>Mail server</a:t>
            </a:r>
            <a:endParaRPr lang="en-US" sz="1500" dirty="0"/>
          </a:p>
          <a:p>
            <a:pPr algn="ctr" indent="0" marL="0">
              <a:buNone/>
            </a:pPr>
            <a:r>
              <a:rPr lang="en-US" sz="1150" dirty="0">
                <a:solidFill>
                  <a:srgbClr val="1E1B4B"/>
                </a:solidFill>
                <a:latin typeface="Calibri" pitchFamily="34" charset="0"/>
                <a:ea typeface="Calibri" pitchFamily="34" charset="-122"/>
                <a:cs typeface="Calibri" pitchFamily="34" charset="-120"/>
              </a:rPr>
              <a:t>Mailpit in development</a:t>
            </a:r>
            <a:endParaRPr lang="en-US" sz="1500" dirty="0"/>
          </a:p>
        </p:txBody>
      </p:sp>
      <p:sp>
        <p:nvSpPr>
          <p:cNvPr id="28" name="Shape 26"/>
          <p:cNvSpPr/>
          <p:nvPr/>
        </p:nvSpPr>
        <p:spPr>
          <a:xfrm>
            <a:off x="8092440" y="2194560"/>
            <a:ext cx="1097280" cy="0"/>
          </a:xfrm>
          <a:prstGeom prst="line">
            <a:avLst/>
          </a:prstGeom>
          <a:noFill/>
          <a:ln w="19050">
            <a:solidFill>
              <a:srgbClr val="6B7280"/>
            </a:solidFill>
            <a:prstDash val="solid"/>
            <a:tailEnd type="triangle"/>
          </a:ln>
        </p:spPr>
      </p:sp>
      <p:sp>
        <p:nvSpPr>
          <p:cNvPr id="29" name="Shape 27"/>
          <p:cNvSpPr/>
          <p:nvPr/>
        </p:nvSpPr>
        <p:spPr>
          <a:xfrm>
            <a:off x="8092440" y="3246120"/>
            <a:ext cx="1097280" cy="0"/>
          </a:xfrm>
          <a:prstGeom prst="line">
            <a:avLst/>
          </a:prstGeom>
          <a:noFill/>
          <a:ln w="19050">
            <a:solidFill>
              <a:srgbClr val="6B7280"/>
            </a:solidFill>
            <a:prstDash val="solid"/>
            <a:tailEnd type="triangle"/>
          </a:ln>
        </p:spPr>
      </p:sp>
      <p:sp>
        <p:nvSpPr>
          <p:cNvPr id="30" name="Shape 28"/>
          <p:cNvSpPr/>
          <p:nvPr/>
        </p:nvSpPr>
        <p:spPr>
          <a:xfrm>
            <a:off x="548640" y="5074920"/>
            <a:ext cx="2377440" cy="822960"/>
          </a:xfrm>
          <a:prstGeom prst="roundRect">
            <a:avLst>
              <a:gd name="adj" fmla="val 11111"/>
            </a:avLst>
          </a:prstGeom>
          <a:solidFill>
            <a:srgbClr val="FEF3C7"/>
          </a:solidFill>
          <a:ln w="12700">
            <a:solidFill>
              <a:srgbClr val="F59E0B"/>
            </a:solidFill>
            <a:prstDash val="solid"/>
          </a:ln>
        </p:spPr>
      </p:sp>
      <p:sp>
        <p:nvSpPr>
          <p:cNvPr id="31" name="Text 29"/>
          <p:cNvSpPr txBox="1"/>
          <p:nvPr/>
        </p:nvSpPr>
        <p:spPr>
          <a:xfrm>
            <a:off x="548640" y="5074920"/>
            <a:ext cx="2377440" cy="822960"/>
          </a:xfrm>
          <a:prstGeom prst="rect">
            <a:avLst/>
          </a:prstGeom>
          <a:noFill/>
          <a:ln/>
        </p:spPr>
        <p:txBody>
          <a:bodyPr wrap="square" lIns="50800" tIns="50800" rIns="50800" bIns="50800" rtlCol="0" anchor="ctr"/>
          <a:lstStyle/>
          <a:p>
            <a:pPr algn="ctr" indent="0" marL="0">
              <a:buNone/>
            </a:pPr>
            <a:r>
              <a:rPr lang="en-US" sz="1500" b="1" dirty="0">
                <a:solidFill>
                  <a:srgbClr val="1E1B4B"/>
                </a:solidFill>
                <a:latin typeface="Calibri" pitchFamily="34" charset="0"/>
                <a:ea typeface="Calibri" pitchFamily="34" charset="-122"/>
                <a:cs typeface="Calibri" pitchFamily="34" charset="-120"/>
              </a:rPr>
              <a:t>GitHub Actions</a:t>
            </a:r>
            <a:endParaRPr lang="en-US" sz="1500" dirty="0"/>
          </a:p>
          <a:p>
            <a:pPr algn="ctr" indent="0" marL="0">
              <a:buNone/>
            </a:pPr>
            <a:r>
              <a:rPr lang="en-US" sz="1150" dirty="0">
                <a:solidFill>
                  <a:srgbClr val="1E1B4B"/>
                </a:solidFill>
                <a:latin typeface="Calibri" pitchFamily="34" charset="0"/>
                <a:ea typeface="Calibri" pitchFamily="34" charset="-122"/>
                <a:cs typeface="Calibri" pitchFamily="34" charset="-120"/>
              </a:rPr>
              <a:t>tests on every push</a:t>
            </a:r>
            <a:endParaRPr lang="en-US" sz="1500" dirty="0"/>
          </a:p>
        </p:txBody>
      </p:sp>
      <p:sp>
        <p:nvSpPr>
          <p:cNvPr id="32" name="Text 30"/>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Backend modules</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One Java package per business area - easy to find and to test</a:t>
            </a:r>
            <a:endParaRPr lang="en-US" sz="1600" dirty="0"/>
          </a:p>
        </p:txBody>
      </p:sp>
      <p:sp>
        <p:nvSpPr>
          <p:cNvPr id="4" name="Shape 2"/>
          <p:cNvSpPr/>
          <p:nvPr/>
        </p:nvSpPr>
        <p:spPr>
          <a:xfrm>
            <a:off x="548640" y="1645920"/>
            <a:ext cx="3474720" cy="914400"/>
          </a:xfrm>
          <a:prstGeom prst="roundRect">
            <a:avLst>
              <a:gd name="adj" fmla="val 12000"/>
            </a:avLst>
          </a:prstGeom>
          <a:solidFill>
            <a:srgbClr val="EEF2FF"/>
          </a:solidFill>
          <a:ln w="12700">
            <a:solidFill>
              <a:srgbClr val="EEF2FF"/>
            </a:solidFill>
            <a:prstDash val="solid"/>
          </a:ln>
        </p:spPr>
      </p:sp>
      <p:sp>
        <p:nvSpPr>
          <p:cNvPr id="5" name="Text 3"/>
          <p:cNvSpPr txBox="1"/>
          <p:nvPr/>
        </p:nvSpPr>
        <p:spPr>
          <a:xfrm>
            <a:off x="777240" y="1755648"/>
            <a:ext cx="3017520" cy="347472"/>
          </a:xfrm>
          <a:prstGeom prst="rect">
            <a:avLst/>
          </a:prstGeom>
          <a:noFill/>
          <a:ln/>
        </p:spPr>
        <p:txBody>
          <a:bodyPr wrap="square" lIns="0" tIns="0" rIns="0" bIns="0" rtlCol="0" anchor="ctr"/>
          <a:lstStyle/>
          <a:p>
            <a:pPr indent="0" marL="0">
              <a:buNone/>
            </a:pPr>
            <a:r>
              <a:rPr lang="en-US" sz="1500" b="1" dirty="0">
                <a:solidFill>
                  <a:srgbClr val="4F46E5"/>
                </a:solidFill>
                <a:latin typeface="Courier New" pitchFamily="34" charset="0"/>
                <a:ea typeface="Courier New" pitchFamily="34" charset="-122"/>
                <a:cs typeface="Courier New" pitchFamily="34" charset="-120"/>
              </a:rPr>
              <a:t>event</a:t>
            </a:r>
            <a:endParaRPr lang="en-US" sz="1500" dirty="0"/>
          </a:p>
        </p:txBody>
      </p:sp>
      <p:sp>
        <p:nvSpPr>
          <p:cNvPr id="6" name="Text 4"/>
          <p:cNvSpPr txBox="1"/>
          <p:nvPr/>
        </p:nvSpPr>
        <p:spPr>
          <a:xfrm>
            <a:off x="777240" y="2121408"/>
            <a:ext cx="3017520" cy="347472"/>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Create, edit, search, approval workflow</a:t>
            </a:r>
            <a:endParaRPr lang="en-US" sz="1300" dirty="0"/>
          </a:p>
        </p:txBody>
      </p:sp>
      <p:sp>
        <p:nvSpPr>
          <p:cNvPr id="7" name="Shape 5"/>
          <p:cNvSpPr/>
          <p:nvPr/>
        </p:nvSpPr>
        <p:spPr>
          <a:xfrm>
            <a:off x="4297680" y="1645920"/>
            <a:ext cx="3474720" cy="914400"/>
          </a:xfrm>
          <a:prstGeom prst="roundRect">
            <a:avLst>
              <a:gd name="adj" fmla="val 12000"/>
            </a:avLst>
          </a:prstGeom>
          <a:solidFill>
            <a:srgbClr val="EEF2FF"/>
          </a:solidFill>
          <a:ln w="12700">
            <a:solidFill>
              <a:srgbClr val="EEF2FF"/>
            </a:solidFill>
            <a:prstDash val="solid"/>
          </a:ln>
        </p:spPr>
      </p:sp>
      <p:sp>
        <p:nvSpPr>
          <p:cNvPr id="8" name="Text 6"/>
          <p:cNvSpPr txBox="1"/>
          <p:nvPr/>
        </p:nvSpPr>
        <p:spPr>
          <a:xfrm>
            <a:off x="4526280" y="1755648"/>
            <a:ext cx="3017520" cy="347472"/>
          </a:xfrm>
          <a:prstGeom prst="rect">
            <a:avLst/>
          </a:prstGeom>
          <a:noFill/>
          <a:ln/>
        </p:spPr>
        <p:txBody>
          <a:bodyPr wrap="square" lIns="0" tIns="0" rIns="0" bIns="0" rtlCol="0" anchor="ctr"/>
          <a:lstStyle/>
          <a:p>
            <a:pPr indent="0" marL="0">
              <a:buNone/>
            </a:pPr>
            <a:r>
              <a:rPr lang="en-US" sz="1500" b="1" dirty="0">
                <a:solidFill>
                  <a:srgbClr val="4F46E5"/>
                </a:solidFill>
                <a:latin typeface="Courier New" pitchFamily="34" charset="0"/>
                <a:ea typeface="Courier New" pitchFamily="34" charset="-122"/>
                <a:cs typeface="Courier New" pitchFamily="34" charset="-120"/>
              </a:rPr>
              <a:t>booking</a:t>
            </a:r>
            <a:endParaRPr lang="en-US" sz="1500" dirty="0"/>
          </a:p>
        </p:txBody>
      </p:sp>
      <p:sp>
        <p:nvSpPr>
          <p:cNvPr id="9" name="Text 7"/>
          <p:cNvSpPr txBox="1"/>
          <p:nvPr/>
        </p:nvSpPr>
        <p:spPr>
          <a:xfrm>
            <a:off x="4526280" y="2121408"/>
            <a:ext cx="3017520" cy="347472"/>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Seat holds, confirm, cancel, expiry job</a:t>
            </a:r>
            <a:endParaRPr lang="en-US" sz="1300" dirty="0"/>
          </a:p>
        </p:txBody>
      </p:sp>
      <p:sp>
        <p:nvSpPr>
          <p:cNvPr id="10" name="Shape 8"/>
          <p:cNvSpPr/>
          <p:nvPr/>
        </p:nvSpPr>
        <p:spPr>
          <a:xfrm>
            <a:off x="8046720" y="1645920"/>
            <a:ext cx="3474720" cy="914400"/>
          </a:xfrm>
          <a:prstGeom prst="roundRect">
            <a:avLst>
              <a:gd name="adj" fmla="val 12000"/>
            </a:avLst>
          </a:prstGeom>
          <a:solidFill>
            <a:srgbClr val="EEF2FF"/>
          </a:solidFill>
          <a:ln w="12700">
            <a:solidFill>
              <a:srgbClr val="EEF2FF"/>
            </a:solidFill>
            <a:prstDash val="solid"/>
          </a:ln>
        </p:spPr>
      </p:sp>
      <p:sp>
        <p:nvSpPr>
          <p:cNvPr id="11" name="Text 9"/>
          <p:cNvSpPr txBox="1"/>
          <p:nvPr/>
        </p:nvSpPr>
        <p:spPr>
          <a:xfrm>
            <a:off x="8275320" y="1755648"/>
            <a:ext cx="3017520" cy="347472"/>
          </a:xfrm>
          <a:prstGeom prst="rect">
            <a:avLst/>
          </a:prstGeom>
          <a:noFill/>
          <a:ln/>
        </p:spPr>
        <p:txBody>
          <a:bodyPr wrap="square" lIns="0" tIns="0" rIns="0" bIns="0" rtlCol="0" anchor="ctr"/>
          <a:lstStyle/>
          <a:p>
            <a:pPr indent="0" marL="0">
              <a:buNone/>
            </a:pPr>
            <a:r>
              <a:rPr lang="en-US" sz="1500" b="1" dirty="0">
                <a:solidFill>
                  <a:srgbClr val="4F46E5"/>
                </a:solidFill>
                <a:latin typeface="Courier New" pitchFamily="34" charset="0"/>
                <a:ea typeface="Courier New" pitchFamily="34" charset="-122"/>
                <a:cs typeface="Courier New" pitchFamily="34" charset="-120"/>
              </a:rPr>
              <a:t>payment</a:t>
            </a:r>
            <a:endParaRPr lang="en-US" sz="1500" dirty="0"/>
          </a:p>
        </p:txBody>
      </p:sp>
      <p:sp>
        <p:nvSpPr>
          <p:cNvPr id="12" name="Text 10"/>
          <p:cNvSpPr txBox="1"/>
          <p:nvPr/>
        </p:nvSpPr>
        <p:spPr>
          <a:xfrm>
            <a:off x="8275320" y="2121408"/>
            <a:ext cx="3017520" cy="347472"/>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Stripe or test gateway, webhooks, refunds</a:t>
            </a:r>
            <a:endParaRPr lang="en-US" sz="1300" dirty="0"/>
          </a:p>
        </p:txBody>
      </p:sp>
      <p:sp>
        <p:nvSpPr>
          <p:cNvPr id="13" name="Shape 11"/>
          <p:cNvSpPr/>
          <p:nvPr/>
        </p:nvSpPr>
        <p:spPr>
          <a:xfrm>
            <a:off x="548640" y="2743200"/>
            <a:ext cx="3474720" cy="914400"/>
          </a:xfrm>
          <a:prstGeom prst="roundRect">
            <a:avLst>
              <a:gd name="adj" fmla="val 12000"/>
            </a:avLst>
          </a:prstGeom>
          <a:solidFill>
            <a:srgbClr val="FFFFFF"/>
          </a:solidFill>
          <a:ln w="12700">
            <a:solidFill>
              <a:srgbClr val="FFFFFF"/>
            </a:solidFill>
            <a:prstDash val="solid"/>
          </a:ln>
        </p:spPr>
      </p:sp>
      <p:sp>
        <p:nvSpPr>
          <p:cNvPr id="14" name="Shape 12"/>
          <p:cNvSpPr/>
          <p:nvPr/>
        </p:nvSpPr>
        <p:spPr>
          <a:xfrm>
            <a:off x="548640" y="2743200"/>
            <a:ext cx="3474720" cy="914400"/>
          </a:xfrm>
          <a:prstGeom prst="roundRect">
            <a:avLst>
              <a:gd name="adj" fmla="val 12000"/>
            </a:avLst>
          </a:prstGeom>
          <a:solidFill>
            <a:srgbClr val="FFFFFF"/>
          </a:solidFill>
          <a:ln w="12700">
            <a:solidFill>
              <a:srgbClr val="C7D2FE"/>
            </a:solidFill>
            <a:prstDash val="solid"/>
          </a:ln>
        </p:spPr>
      </p:sp>
      <p:sp>
        <p:nvSpPr>
          <p:cNvPr id="15" name="Text 13"/>
          <p:cNvSpPr txBox="1"/>
          <p:nvPr/>
        </p:nvSpPr>
        <p:spPr>
          <a:xfrm>
            <a:off x="777240" y="2852928"/>
            <a:ext cx="3017520" cy="347472"/>
          </a:xfrm>
          <a:prstGeom prst="rect">
            <a:avLst/>
          </a:prstGeom>
          <a:noFill/>
          <a:ln/>
        </p:spPr>
        <p:txBody>
          <a:bodyPr wrap="square" lIns="0" tIns="0" rIns="0" bIns="0" rtlCol="0" anchor="ctr"/>
          <a:lstStyle/>
          <a:p>
            <a:pPr indent="0" marL="0">
              <a:buNone/>
            </a:pPr>
            <a:r>
              <a:rPr lang="en-US" sz="1500" b="1" dirty="0">
                <a:solidFill>
                  <a:srgbClr val="4F46E5"/>
                </a:solidFill>
                <a:latin typeface="Courier New" pitchFamily="34" charset="0"/>
                <a:ea typeface="Courier New" pitchFamily="34" charset="-122"/>
                <a:cs typeface="Courier New" pitchFamily="34" charset="-120"/>
              </a:rPr>
              <a:t>waitlist</a:t>
            </a:r>
            <a:endParaRPr lang="en-US" sz="1500" dirty="0"/>
          </a:p>
        </p:txBody>
      </p:sp>
      <p:sp>
        <p:nvSpPr>
          <p:cNvPr id="16" name="Text 14"/>
          <p:cNvSpPr txBox="1"/>
          <p:nvPr/>
        </p:nvSpPr>
        <p:spPr>
          <a:xfrm>
            <a:off x="777240" y="3218688"/>
            <a:ext cx="3017520" cy="347472"/>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Queue, 30-minute seat offers</a:t>
            </a:r>
            <a:endParaRPr lang="en-US" sz="1300" dirty="0"/>
          </a:p>
        </p:txBody>
      </p:sp>
      <p:sp>
        <p:nvSpPr>
          <p:cNvPr id="17" name="Shape 15"/>
          <p:cNvSpPr/>
          <p:nvPr/>
        </p:nvSpPr>
        <p:spPr>
          <a:xfrm>
            <a:off x="4297680" y="2743200"/>
            <a:ext cx="3474720" cy="914400"/>
          </a:xfrm>
          <a:prstGeom prst="roundRect">
            <a:avLst>
              <a:gd name="adj" fmla="val 12000"/>
            </a:avLst>
          </a:prstGeom>
          <a:solidFill>
            <a:srgbClr val="FFFFFF"/>
          </a:solidFill>
          <a:ln w="12700">
            <a:solidFill>
              <a:srgbClr val="FFFFFF"/>
            </a:solidFill>
            <a:prstDash val="solid"/>
          </a:ln>
        </p:spPr>
      </p:sp>
      <p:sp>
        <p:nvSpPr>
          <p:cNvPr id="18" name="Shape 16"/>
          <p:cNvSpPr/>
          <p:nvPr/>
        </p:nvSpPr>
        <p:spPr>
          <a:xfrm>
            <a:off x="4297680" y="2743200"/>
            <a:ext cx="3474720" cy="914400"/>
          </a:xfrm>
          <a:prstGeom prst="roundRect">
            <a:avLst>
              <a:gd name="adj" fmla="val 12000"/>
            </a:avLst>
          </a:prstGeom>
          <a:solidFill>
            <a:srgbClr val="FFFFFF"/>
          </a:solidFill>
          <a:ln w="12700">
            <a:solidFill>
              <a:srgbClr val="C7D2FE"/>
            </a:solidFill>
            <a:prstDash val="solid"/>
          </a:ln>
        </p:spPr>
      </p:sp>
      <p:sp>
        <p:nvSpPr>
          <p:cNvPr id="19" name="Text 17"/>
          <p:cNvSpPr txBox="1"/>
          <p:nvPr/>
        </p:nvSpPr>
        <p:spPr>
          <a:xfrm>
            <a:off x="4526280" y="2852928"/>
            <a:ext cx="3017520" cy="347472"/>
          </a:xfrm>
          <a:prstGeom prst="rect">
            <a:avLst/>
          </a:prstGeom>
          <a:noFill/>
          <a:ln/>
        </p:spPr>
        <p:txBody>
          <a:bodyPr wrap="square" lIns="0" tIns="0" rIns="0" bIns="0" rtlCol="0" anchor="ctr"/>
          <a:lstStyle/>
          <a:p>
            <a:pPr indent="0" marL="0">
              <a:buNone/>
            </a:pPr>
            <a:r>
              <a:rPr lang="en-US" sz="1500" b="1" dirty="0">
                <a:solidFill>
                  <a:srgbClr val="4F46E5"/>
                </a:solidFill>
                <a:latin typeface="Courier New" pitchFamily="34" charset="0"/>
                <a:ea typeface="Courier New" pitchFamily="34" charset="-122"/>
                <a:cs typeface="Courier New" pitchFamily="34" charset="-120"/>
              </a:rPr>
              <a:t>notification</a:t>
            </a:r>
            <a:endParaRPr lang="en-US" sz="1500" dirty="0"/>
          </a:p>
        </p:txBody>
      </p:sp>
      <p:sp>
        <p:nvSpPr>
          <p:cNvPr id="20" name="Text 18"/>
          <p:cNvSpPr txBox="1"/>
          <p:nvPr/>
        </p:nvSpPr>
        <p:spPr>
          <a:xfrm>
            <a:off x="4526280" y="3218688"/>
            <a:ext cx="3017520" cy="347472"/>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In-app bell, emails, reminders</a:t>
            </a:r>
            <a:endParaRPr lang="en-US" sz="1300" dirty="0"/>
          </a:p>
        </p:txBody>
      </p:sp>
      <p:sp>
        <p:nvSpPr>
          <p:cNvPr id="21" name="Shape 19"/>
          <p:cNvSpPr/>
          <p:nvPr/>
        </p:nvSpPr>
        <p:spPr>
          <a:xfrm>
            <a:off x="8046720" y="2743200"/>
            <a:ext cx="3474720" cy="914400"/>
          </a:xfrm>
          <a:prstGeom prst="roundRect">
            <a:avLst>
              <a:gd name="adj" fmla="val 12000"/>
            </a:avLst>
          </a:prstGeom>
          <a:solidFill>
            <a:srgbClr val="FFFFFF"/>
          </a:solidFill>
          <a:ln w="12700">
            <a:solidFill>
              <a:srgbClr val="FFFFFF"/>
            </a:solidFill>
            <a:prstDash val="solid"/>
          </a:ln>
        </p:spPr>
      </p:sp>
      <p:sp>
        <p:nvSpPr>
          <p:cNvPr id="22" name="Shape 20"/>
          <p:cNvSpPr/>
          <p:nvPr/>
        </p:nvSpPr>
        <p:spPr>
          <a:xfrm>
            <a:off x="8046720" y="2743200"/>
            <a:ext cx="3474720" cy="914400"/>
          </a:xfrm>
          <a:prstGeom prst="roundRect">
            <a:avLst>
              <a:gd name="adj" fmla="val 12000"/>
            </a:avLst>
          </a:prstGeom>
          <a:solidFill>
            <a:srgbClr val="FFFFFF"/>
          </a:solidFill>
          <a:ln w="12700">
            <a:solidFill>
              <a:srgbClr val="C7D2FE"/>
            </a:solidFill>
            <a:prstDash val="solid"/>
          </a:ln>
        </p:spPr>
      </p:sp>
      <p:sp>
        <p:nvSpPr>
          <p:cNvPr id="23" name="Text 21"/>
          <p:cNvSpPr txBox="1"/>
          <p:nvPr/>
        </p:nvSpPr>
        <p:spPr>
          <a:xfrm>
            <a:off x="8275320" y="2852928"/>
            <a:ext cx="3017520" cy="347472"/>
          </a:xfrm>
          <a:prstGeom prst="rect">
            <a:avLst/>
          </a:prstGeom>
          <a:noFill/>
          <a:ln/>
        </p:spPr>
        <p:txBody>
          <a:bodyPr wrap="square" lIns="0" tIns="0" rIns="0" bIns="0" rtlCol="0" anchor="ctr"/>
          <a:lstStyle/>
          <a:p>
            <a:pPr indent="0" marL="0">
              <a:buNone/>
            </a:pPr>
            <a:r>
              <a:rPr lang="en-US" sz="1500" b="1" dirty="0">
                <a:solidFill>
                  <a:srgbClr val="4F46E5"/>
                </a:solidFill>
                <a:latin typeface="Courier New" pitchFamily="34" charset="0"/>
                <a:ea typeface="Courier New" pitchFamily="34" charset="-122"/>
                <a:cs typeface="Courier New" pitchFamily="34" charset="-120"/>
              </a:rPr>
              <a:t>gate</a:t>
            </a:r>
            <a:endParaRPr lang="en-US" sz="1500" dirty="0"/>
          </a:p>
        </p:txBody>
      </p:sp>
      <p:sp>
        <p:nvSpPr>
          <p:cNvPr id="24" name="Text 22"/>
          <p:cNvSpPr txBox="1"/>
          <p:nvPr/>
        </p:nvSpPr>
        <p:spPr>
          <a:xfrm>
            <a:off x="8275320" y="3218688"/>
            <a:ext cx="3017520" cy="347472"/>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QR images, check-in, live counter</a:t>
            </a:r>
            <a:endParaRPr lang="en-US" sz="1300" dirty="0"/>
          </a:p>
        </p:txBody>
      </p:sp>
      <p:sp>
        <p:nvSpPr>
          <p:cNvPr id="25" name="Shape 23"/>
          <p:cNvSpPr/>
          <p:nvPr/>
        </p:nvSpPr>
        <p:spPr>
          <a:xfrm>
            <a:off x="548640" y="3840480"/>
            <a:ext cx="3474720" cy="914400"/>
          </a:xfrm>
          <a:prstGeom prst="roundRect">
            <a:avLst>
              <a:gd name="adj" fmla="val 12000"/>
            </a:avLst>
          </a:prstGeom>
          <a:solidFill>
            <a:srgbClr val="EEF2FF"/>
          </a:solidFill>
          <a:ln w="12700">
            <a:solidFill>
              <a:srgbClr val="EEF2FF"/>
            </a:solidFill>
            <a:prstDash val="solid"/>
          </a:ln>
        </p:spPr>
      </p:sp>
      <p:sp>
        <p:nvSpPr>
          <p:cNvPr id="26" name="Text 24"/>
          <p:cNvSpPr txBox="1"/>
          <p:nvPr/>
        </p:nvSpPr>
        <p:spPr>
          <a:xfrm>
            <a:off x="777240" y="3950208"/>
            <a:ext cx="3017520" cy="347472"/>
          </a:xfrm>
          <a:prstGeom prst="rect">
            <a:avLst/>
          </a:prstGeom>
          <a:noFill/>
          <a:ln/>
        </p:spPr>
        <p:txBody>
          <a:bodyPr wrap="square" lIns="0" tIns="0" rIns="0" bIns="0" rtlCol="0" anchor="ctr"/>
          <a:lstStyle/>
          <a:p>
            <a:pPr indent="0" marL="0">
              <a:buNone/>
            </a:pPr>
            <a:r>
              <a:rPr lang="en-US" sz="1500" b="1" dirty="0">
                <a:solidFill>
                  <a:srgbClr val="4F46E5"/>
                </a:solidFill>
                <a:latin typeface="Courier New" pitchFamily="34" charset="0"/>
                <a:ea typeface="Courier New" pitchFamily="34" charset="-122"/>
                <a:cs typeface="Courier New" pitchFamily="34" charset="-120"/>
              </a:rPr>
              <a:t>certificate</a:t>
            </a:r>
            <a:endParaRPr lang="en-US" sz="1500" dirty="0"/>
          </a:p>
        </p:txBody>
      </p:sp>
      <p:sp>
        <p:nvSpPr>
          <p:cNvPr id="27" name="Text 25"/>
          <p:cNvSpPr txBox="1"/>
          <p:nvPr/>
        </p:nvSpPr>
        <p:spPr>
          <a:xfrm>
            <a:off x="777240" y="4315968"/>
            <a:ext cx="3017520" cy="347472"/>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PDF certificates, public verify</a:t>
            </a:r>
            <a:endParaRPr lang="en-US" sz="1300" dirty="0"/>
          </a:p>
        </p:txBody>
      </p:sp>
      <p:sp>
        <p:nvSpPr>
          <p:cNvPr id="28" name="Shape 26"/>
          <p:cNvSpPr/>
          <p:nvPr/>
        </p:nvSpPr>
        <p:spPr>
          <a:xfrm>
            <a:off x="4297680" y="3840480"/>
            <a:ext cx="3474720" cy="914400"/>
          </a:xfrm>
          <a:prstGeom prst="roundRect">
            <a:avLst>
              <a:gd name="adj" fmla="val 12000"/>
            </a:avLst>
          </a:prstGeom>
          <a:solidFill>
            <a:srgbClr val="EEF2FF"/>
          </a:solidFill>
          <a:ln w="12700">
            <a:solidFill>
              <a:srgbClr val="EEF2FF"/>
            </a:solidFill>
            <a:prstDash val="solid"/>
          </a:ln>
        </p:spPr>
      </p:sp>
      <p:sp>
        <p:nvSpPr>
          <p:cNvPr id="29" name="Text 27"/>
          <p:cNvSpPr txBox="1"/>
          <p:nvPr/>
        </p:nvSpPr>
        <p:spPr>
          <a:xfrm>
            <a:off x="4526280" y="3950208"/>
            <a:ext cx="3017520" cy="347472"/>
          </a:xfrm>
          <a:prstGeom prst="rect">
            <a:avLst/>
          </a:prstGeom>
          <a:noFill/>
          <a:ln/>
        </p:spPr>
        <p:txBody>
          <a:bodyPr wrap="square" lIns="0" tIns="0" rIns="0" bIns="0" rtlCol="0" anchor="ctr"/>
          <a:lstStyle/>
          <a:p>
            <a:pPr indent="0" marL="0">
              <a:buNone/>
            </a:pPr>
            <a:r>
              <a:rPr lang="en-US" sz="1500" b="1" dirty="0">
                <a:solidFill>
                  <a:srgbClr val="4F46E5"/>
                </a:solidFill>
                <a:latin typeface="Courier New" pitchFamily="34" charset="0"/>
                <a:ea typeface="Courier New" pitchFamily="34" charset="-122"/>
                <a:cs typeface="Courier New" pitchFamily="34" charset="-120"/>
              </a:rPr>
              <a:t>feedback</a:t>
            </a:r>
            <a:endParaRPr lang="en-US" sz="1500" dirty="0"/>
          </a:p>
        </p:txBody>
      </p:sp>
      <p:sp>
        <p:nvSpPr>
          <p:cNvPr id="30" name="Text 28"/>
          <p:cNvSpPr txBox="1"/>
          <p:nvPr/>
        </p:nvSpPr>
        <p:spPr>
          <a:xfrm>
            <a:off x="4526280" y="4315968"/>
            <a:ext cx="3017520" cy="347472"/>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Stars and anonymous comments</a:t>
            </a:r>
            <a:endParaRPr lang="en-US" sz="1300" dirty="0"/>
          </a:p>
        </p:txBody>
      </p:sp>
      <p:sp>
        <p:nvSpPr>
          <p:cNvPr id="31" name="Shape 29"/>
          <p:cNvSpPr/>
          <p:nvPr/>
        </p:nvSpPr>
        <p:spPr>
          <a:xfrm>
            <a:off x="8046720" y="3840480"/>
            <a:ext cx="3474720" cy="914400"/>
          </a:xfrm>
          <a:prstGeom prst="roundRect">
            <a:avLst>
              <a:gd name="adj" fmla="val 12000"/>
            </a:avLst>
          </a:prstGeom>
          <a:solidFill>
            <a:srgbClr val="EEF2FF"/>
          </a:solidFill>
          <a:ln w="12700">
            <a:solidFill>
              <a:srgbClr val="EEF2FF"/>
            </a:solidFill>
            <a:prstDash val="solid"/>
          </a:ln>
        </p:spPr>
      </p:sp>
      <p:sp>
        <p:nvSpPr>
          <p:cNvPr id="32" name="Text 30"/>
          <p:cNvSpPr txBox="1"/>
          <p:nvPr/>
        </p:nvSpPr>
        <p:spPr>
          <a:xfrm>
            <a:off x="8275320" y="3950208"/>
            <a:ext cx="3017520" cy="347472"/>
          </a:xfrm>
          <a:prstGeom prst="rect">
            <a:avLst/>
          </a:prstGeom>
          <a:noFill/>
          <a:ln/>
        </p:spPr>
        <p:txBody>
          <a:bodyPr wrap="square" lIns="0" tIns="0" rIns="0" bIns="0" rtlCol="0" anchor="ctr"/>
          <a:lstStyle/>
          <a:p>
            <a:pPr indent="0" marL="0">
              <a:buNone/>
            </a:pPr>
            <a:r>
              <a:rPr lang="en-US" sz="1500" b="1" dirty="0">
                <a:solidFill>
                  <a:srgbClr val="4F46E5"/>
                </a:solidFill>
                <a:latin typeface="Courier New" pitchFamily="34" charset="0"/>
                <a:ea typeface="Courier New" pitchFamily="34" charset="-122"/>
                <a:cs typeface="Courier New" pitchFamily="34" charset="-120"/>
              </a:rPr>
              <a:t>analytics</a:t>
            </a:r>
            <a:endParaRPr lang="en-US" sz="1500" dirty="0"/>
          </a:p>
        </p:txBody>
      </p:sp>
      <p:sp>
        <p:nvSpPr>
          <p:cNvPr id="33" name="Text 31"/>
          <p:cNvSpPr txBox="1"/>
          <p:nvPr/>
        </p:nvSpPr>
        <p:spPr>
          <a:xfrm>
            <a:off x="8275320" y="4315968"/>
            <a:ext cx="3017520" cy="347472"/>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Charts data, 60-second cache</a:t>
            </a:r>
            <a:endParaRPr lang="en-US" sz="1300" dirty="0"/>
          </a:p>
        </p:txBody>
      </p:sp>
      <p:sp>
        <p:nvSpPr>
          <p:cNvPr id="34" name="Shape 32"/>
          <p:cNvSpPr/>
          <p:nvPr/>
        </p:nvSpPr>
        <p:spPr>
          <a:xfrm>
            <a:off x="548640" y="4937760"/>
            <a:ext cx="3474720" cy="914400"/>
          </a:xfrm>
          <a:prstGeom prst="roundRect">
            <a:avLst>
              <a:gd name="adj" fmla="val 12000"/>
            </a:avLst>
          </a:prstGeom>
          <a:solidFill>
            <a:srgbClr val="FFFFFF"/>
          </a:solidFill>
          <a:ln w="12700">
            <a:solidFill>
              <a:srgbClr val="FFFFFF"/>
            </a:solidFill>
            <a:prstDash val="solid"/>
          </a:ln>
        </p:spPr>
      </p:sp>
      <p:sp>
        <p:nvSpPr>
          <p:cNvPr id="35" name="Shape 33"/>
          <p:cNvSpPr/>
          <p:nvPr/>
        </p:nvSpPr>
        <p:spPr>
          <a:xfrm>
            <a:off x="548640" y="4937760"/>
            <a:ext cx="3474720" cy="914400"/>
          </a:xfrm>
          <a:prstGeom prst="roundRect">
            <a:avLst>
              <a:gd name="adj" fmla="val 12000"/>
            </a:avLst>
          </a:prstGeom>
          <a:solidFill>
            <a:srgbClr val="FFFFFF"/>
          </a:solidFill>
          <a:ln w="12700">
            <a:solidFill>
              <a:srgbClr val="C7D2FE"/>
            </a:solidFill>
            <a:prstDash val="solid"/>
          </a:ln>
        </p:spPr>
      </p:sp>
      <p:sp>
        <p:nvSpPr>
          <p:cNvPr id="36" name="Text 34"/>
          <p:cNvSpPr txBox="1"/>
          <p:nvPr/>
        </p:nvSpPr>
        <p:spPr>
          <a:xfrm>
            <a:off x="777240" y="5047488"/>
            <a:ext cx="3017520" cy="347472"/>
          </a:xfrm>
          <a:prstGeom prst="rect">
            <a:avLst/>
          </a:prstGeom>
          <a:noFill/>
          <a:ln/>
        </p:spPr>
        <p:txBody>
          <a:bodyPr wrap="square" lIns="0" tIns="0" rIns="0" bIns="0" rtlCol="0" anchor="ctr"/>
          <a:lstStyle/>
          <a:p>
            <a:pPr indent="0" marL="0">
              <a:buNone/>
            </a:pPr>
            <a:r>
              <a:rPr lang="en-US" sz="1500" b="1" dirty="0">
                <a:solidFill>
                  <a:srgbClr val="4F46E5"/>
                </a:solidFill>
                <a:latin typeface="Courier New" pitchFamily="34" charset="0"/>
                <a:ea typeface="Courier New" pitchFamily="34" charset="-122"/>
                <a:cs typeface="Courier New" pitchFamily="34" charset="-120"/>
              </a:rPr>
              <a:t>auth</a:t>
            </a:r>
            <a:endParaRPr lang="en-US" sz="1500" dirty="0"/>
          </a:p>
        </p:txBody>
      </p:sp>
      <p:sp>
        <p:nvSpPr>
          <p:cNvPr id="37" name="Text 35"/>
          <p:cNvSpPr txBox="1"/>
          <p:nvPr/>
        </p:nvSpPr>
        <p:spPr>
          <a:xfrm>
            <a:off x="777240" y="5413248"/>
            <a:ext cx="3017520" cy="347472"/>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Register, login, JWT, club roles</a:t>
            </a:r>
            <a:endParaRPr lang="en-US" sz="1300" dirty="0"/>
          </a:p>
        </p:txBody>
      </p:sp>
      <p:sp>
        <p:nvSpPr>
          <p:cNvPr id="38" name="Shape 36"/>
          <p:cNvSpPr/>
          <p:nvPr/>
        </p:nvSpPr>
        <p:spPr>
          <a:xfrm>
            <a:off x="4297680" y="4937760"/>
            <a:ext cx="3474720" cy="914400"/>
          </a:xfrm>
          <a:prstGeom prst="roundRect">
            <a:avLst>
              <a:gd name="adj" fmla="val 12000"/>
            </a:avLst>
          </a:prstGeom>
          <a:solidFill>
            <a:srgbClr val="FFFFFF"/>
          </a:solidFill>
          <a:ln w="12700">
            <a:solidFill>
              <a:srgbClr val="FFFFFF"/>
            </a:solidFill>
            <a:prstDash val="solid"/>
          </a:ln>
        </p:spPr>
      </p:sp>
      <p:sp>
        <p:nvSpPr>
          <p:cNvPr id="39" name="Shape 37"/>
          <p:cNvSpPr/>
          <p:nvPr/>
        </p:nvSpPr>
        <p:spPr>
          <a:xfrm>
            <a:off x="4297680" y="4937760"/>
            <a:ext cx="3474720" cy="914400"/>
          </a:xfrm>
          <a:prstGeom prst="roundRect">
            <a:avLst>
              <a:gd name="adj" fmla="val 12000"/>
            </a:avLst>
          </a:prstGeom>
          <a:solidFill>
            <a:srgbClr val="FFFFFF"/>
          </a:solidFill>
          <a:ln w="12700">
            <a:solidFill>
              <a:srgbClr val="C7D2FE"/>
            </a:solidFill>
            <a:prstDash val="solid"/>
          </a:ln>
        </p:spPr>
      </p:sp>
      <p:sp>
        <p:nvSpPr>
          <p:cNvPr id="40" name="Text 38"/>
          <p:cNvSpPr txBox="1"/>
          <p:nvPr/>
        </p:nvSpPr>
        <p:spPr>
          <a:xfrm>
            <a:off x="4526280" y="5047488"/>
            <a:ext cx="3017520" cy="347472"/>
          </a:xfrm>
          <a:prstGeom prst="rect">
            <a:avLst/>
          </a:prstGeom>
          <a:noFill/>
          <a:ln/>
        </p:spPr>
        <p:txBody>
          <a:bodyPr wrap="square" lIns="0" tIns="0" rIns="0" bIns="0" rtlCol="0" anchor="ctr"/>
          <a:lstStyle/>
          <a:p>
            <a:pPr indent="0" marL="0">
              <a:buNone/>
            </a:pPr>
            <a:r>
              <a:rPr lang="en-US" sz="1500" b="1" dirty="0">
                <a:solidFill>
                  <a:srgbClr val="4F46E5"/>
                </a:solidFill>
                <a:latin typeface="Courier New" pitchFamily="34" charset="0"/>
                <a:ea typeface="Courier New" pitchFamily="34" charset="-122"/>
                <a:cs typeface="Courier New" pitchFamily="34" charset="-120"/>
              </a:rPr>
              <a:t>audit</a:t>
            </a:r>
            <a:endParaRPr lang="en-US" sz="1500" dirty="0"/>
          </a:p>
        </p:txBody>
      </p:sp>
      <p:sp>
        <p:nvSpPr>
          <p:cNvPr id="41" name="Text 39"/>
          <p:cNvSpPr txBox="1"/>
          <p:nvPr/>
        </p:nvSpPr>
        <p:spPr>
          <a:xfrm>
            <a:off x="4526280" y="5413248"/>
            <a:ext cx="3017520" cy="347472"/>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Who did what, and when</a:t>
            </a:r>
            <a:endParaRPr lang="en-US" sz="1300" dirty="0"/>
          </a:p>
        </p:txBody>
      </p:sp>
      <p:sp>
        <p:nvSpPr>
          <p:cNvPr id="42" name="Shape 40"/>
          <p:cNvSpPr/>
          <p:nvPr/>
        </p:nvSpPr>
        <p:spPr>
          <a:xfrm>
            <a:off x="8046720" y="4937760"/>
            <a:ext cx="3474720" cy="914400"/>
          </a:xfrm>
          <a:prstGeom prst="roundRect">
            <a:avLst>
              <a:gd name="adj" fmla="val 12000"/>
            </a:avLst>
          </a:prstGeom>
          <a:solidFill>
            <a:srgbClr val="FFFFFF"/>
          </a:solidFill>
          <a:ln w="12700">
            <a:solidFill>
              <a:srgbClr val="FFFFFF"/>
            </a:solidFill>
            <a:prstDash val="solid"/>
          </a:ln>
        </p:spPr>
      </p:sp>
      <p:sp>
        <p:nvSpPr>
          <p:cNvPr id="43" name="Shape 41"/>
          <p:cNvSpPr/>
          <p:nvPr/>
        </p:nvSpPr>
        <p:spPr>
          <a:xfrm>
            <a:off x="8046720" y="4937760"/>
            <a:ext cx="3474720" cy="914400"/>
          </a:xfrm>
          <a:prstGeom prst="roundRect">
            <a:avLst>
              <a:gd name="adj" fmla="val 12000"/>
            </a:avLst>
          </a:prstGeom>
          <a:solidFill>
            <a:srgbClr val="FFFFFF"/>
          </a:solidFill>
          <a:ln w="12700">
            <a:solidFill>
              <a:srgbClr val="C7D2FE"/>
            </a:solidFill>
            <a:prstDash val="solid"/>
          </a:ln>
        </p:spPr>
      </p:sp>
      <p:sp>
        <p:nvSpPr>
          <p:cNvPr id="44" name="Text 42"/>
          <p:cNvSpPr txBox="1"/>
          <p:nvPr/>
        </p:nvSpPr>
        <p:spPr>
          <a:xfrm>
            <a:off x="8275320" y="5047488"/>
            <a:ext cx="3017520" cy="347472"/>
          </a:xfrm>
          <a:prstGeom prst="rect">
            <a:avLst/>
          </a:prstGeom>
          <a:noFill/>
          <a:ln/>
        </p:spPr>
        <p:txBody>
          <a:bodyPr wrap="square" lIns="0" tIns="0" rIns="0" bIns="0" rtlCol="0" anchor="ctr"/>
          <a:lstStyle/>
          <a:p>
            <a:pPr indent="0" marL="0">
              <a:buNone/>
            </a:pPr>
            <a:r>
              <a:rPr lang="en-US" sz="1500" b="1" dirty="0">
                <a:solidFill>
                  <a:srgbClr val="4F46E5"/>
                </a:solidFill>
                <a:latin typeface="Courier New" pitchFamily="34" charset="0"/>
                <a:ea typeface="Courier New" pitchFamily="34" charset="-122"/>
                <a:cs typeface="Courier New" pitchFamily="34" charset="-120"/>
              </a:rPr>
              <a:t>club · tag · user</a:t>
            </a:r>
            <a:endParaRPr lang="en-US" sz="1500" dirty="0"/>
          </a:p>
        </p:txBody>
      </p:sp>
      <p:sp>
        <p:nvSpPr>
          <p:cNvPr id="45" name="Text 43"/>
          <p:cNvSpPr txBox="1"/>
          <p:nvPr/>
        </p:nvSpPr>
        <p:spPr>
          <a:xfrm>
            <a:off x="8275320" y="5413248"/>
            <a:ext cx="3017520" cy="347472"/>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Clubs, tags, users, profiles</a:t>
            </a:r>
            <a:endParaRPr lang="en-US" sz="1300" dirty="0"/>
          </a:p>
        </p:txBody>
      </p:sp>
      <p:sp>
        <p:nvSpPr>
          <p:cNvPr id="46" name="Text 44"/>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Database design</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17 MySQL tables, created and changed only through Flyway migrations (V1-V9)</a:t>
            </a:r>
            <a:endParaRPr lang="en-US" sz="1600" dirty="0"/>
          </a:p>
        </p:txBody>
      </p:sp>
      <p:sp>
        <p:nvSpPr>
          <p:cNvPr id="4" name="Shape 2"/>
          <p:cNvSpPr/>
          <p:nvPr/>
        </p:nvSpPr>
        <p:spPr>
          <a:xfrm>
            <a:off x="548640" y="1755648"/>
            <a:ext cx="566928" cy="566928"/>
          </a:xfrm>
          <a:prstGeom prst="ellipse">
            <a:avLst/>
          </a:prstGeom>
          <a:solidFill>
            <a:srgbClr val="4F46E5"/>
          </a:solidFill>
          <a:ln w="12700">
            <a:solidFill>
              <a:srgbClr val="4F46E5"/>
            </a:solidFill>
            <a:prstDash val="solid"/>
          </a:ln>
        </p:spPr>
      </p:sp>
      <p:pic>
        <p:nvPicPr>
          <p:cNvPr id="5" name="Image 0" descr="preencoded.png">    </p:cNvPr>
          <p:cNvPicPr>
            <a:picLocks noChangeAspect="1"/>
          </p:cNvPicPr>
          <p:nvPr/>
        </p:nvPicPr>
        <p:blipFill>
          <a:blip r:embed="rId1"/>
          <a:stretch>
            <a:fillRect/>
          </a:stretch>
        </p:blipFill>
        <p:spPr>
          <a:xfrm>
            <a:off x="684703" y="1891711"/>
            <a:ext cx="294803" cy="294803"/>
          </a:xfrm>
          <a:prstGeom prst="rect">
            <a:avLst/>
          </a:prstGeom>
        </p:spPr>
      </p:pic>
      <p:sp>
        <p:nvSpPr>
          <p:cNvPr id="6" name="Text 3"/>
          <p:cNvSpPr txBox="1"/>
          <p:nvPr/>
        </p:nvSpPr>
        <p:spPr>
          <a:xfrm>
            <a:off x="1325880" y="1664208"/>
            <a:ext cx="4480560" cy="365760"/>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People &amp; clubs</a:t>
            </a:r>
            <a:endParaRPr lang="en-US" sz="1700" dirty="0"/>
          </a:p>
        </p:txBody>
      </p:sp>
      <p:sp>
        <p:nvSpPr>
          <p:cNvPr id="7" name="Text 4"/>
          <p:cNvSpPr txBox="1"/>
          <p:nvPr/>
        </p:nvSpPr>
        <p:spPr>
          <a:xfrm>
            <a:off x="1325880" y="2057400"/>
            <a:ext cx="4480560" cy="548640"/>
          </a:xfrm>
          <a:prstGeom prst="rect">
            <a:avLst/>
          </a:prstGeom>
          <a:noFill/>
          <a:ln/>
        </p:spPr>
        <p:txBody>
          <a:bodyPr wrap="square" lIns="0" tIns="0" rIns="0" bIns="0" rtlCol="0" anchor="ctr"/>
          <a:lstStyle/>
          <a:p>
            <a:pPr indent="0" marL="0">
              <a:buNone/>
            </a:pPr>
            <a:r>
              <a:rPr lang="en-US" sz="1250" dirty="0">
                <a:solidFill>
                  <a:srgbClr val="1F2937"/>
                </a:solidFill>
                <a:latin typeface="Courier New" pitchFamily="34" charset="0"/>
                <a:ea typeface="Courier New" pitchFamily="34" charset="-122"/>
                <a:cs typeface="Courier New" pitchFamily="34" charset="-120"/>
              </a:rPr>
              <a:t>users, roles, user_roles, profiles, clubs, club_members</a:t>
            </a:r>
            <a:endParaRPr lang="en-US" sz="1250" dirty="0"/>
          </a:p>
        </p:txBody>
      </p:sp>
      <p:sp>
        <p:nvSpPr>
          <p:cNvPr id="8" name="Shape 5"/>
          <p:cNvSpPr/>
          <p:nvPr/>
        </p:nvSpPr>
        <p:spPr>
          <a:xfrm>
            <a:off x="548640" y="2834640"/>
            <a:ext cx="566928" cy="566928"/>
          </a:xfrm>
          <a:prstGeom prst="ellipse">
            <a:avLst/>
          </a:prstGeom>
          <a:solidFill>
            <a:srgbClr val="4F46E5"/>
          </a:solidFill>
          <a:ln w="12700">
            <a:solidFill>
              <a:srgbClr val="4F46E5"/>
            </a:solidFill>
            <a:prstDash val="solid"/>
          </a:ln>
        </p:spPr>
      </p:sp>
      <p:pic>
        <p:nvPicPr>
          <p:cNvPr id="9" name="Image 1" descr="preencoded.png">    </p:cNvPr>
          <p:cNvPicPr>
            <a:picLocks noChangeAspect="1"/>
          </p:cNvPicPr>
          <p:nvPr/>
        </p:nvPicPr>
        <p:blipFill>
          <a:blip r:embed="rId2"/>
          <a:stretch>
            <a:fillRect/>
          </a:stretch>
        </p:blipFill>
        <p:spPr>
          <a:xfrm>
            <a:off x="684703" y="2970703"/>
            <a:ext cx="294803" cy="294803"/>
          </a:xfrm>
          <a:prstGeom prst="rect">
            <a:avLst/>
          </a:prstGeom>
        </p:spPr>
      </p:pic>
      <p:sp>
        <p:nvSpPr>
          <p:cNvPr id="10" name="Text 6"/>
          <p:cNvSpPr txBox="1"/>
          <p:nvPr/>
        </p:nvSpPr>
        <p:spPr>
          <a:xfrm>
            <a:off x="1325880" y="2743200"/>
            <a:ext cx="4480560" cy="365760"/>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Events</a:t>
            </a:r>
            <a:endParaRPr lang="en-US" sz="1700" dirty="0"/>
          </a:p>
        </p:txBody>
      </p:sp>
      <p:sp>
        <p:nvSpPr>
          <p:cNvPr id="11" name="Text 7"/>
          <p:cNvSpPr txBox="1"/>
          <p:nvPr/>
        </p:nvSpPr>
        <p:spPr>
          <a:xfrm>
            <a:off x="1325880" y="3136392"/>
            <a:ext cx="4480560" cy="548640"/>
          </a:xfrm>
          <a:prstGeom prst="rect">
            <a:avLst/>
          </a:prstGeom>
          <a:noFill/>
          <a:ln/>
        </p:spPr>
        <p:txBody>
          <a:bodyPr wrap="square" lIns="0" tIns="0" rIns="0" bIns="0" rtlCol="0" anchor="ctr"/>
          <a:lstStyle/>
          <a:p>
            <a:pPr indent="0" marL="0">
              <a:buNone/>
            </a:pPr>
            <a:r>
              <a:rPr lang="en-US" sz="1250" dirty="0">
                <a:solidFill>
                  <a:srgbClr val="1F2937"/>
                </a:solidFill>
                <a:latin typeface="Courier New" pitchFamily="34" charset="0"/>
                <a:ea typeface="Courier New" pitchFamily="34" charset="-122"/>
                <a:cs typeface="Courier New" pitchFamily="34" charset="-120"/>
              </a:rPr>
              <a:t>events, tags, event_tags, audit_log</a:t>
            </a:r>
            <a:endParaRPr lang="en-US" sz="1250" dirty="0"/>
          </a:p>
        </p:txBody>
      </p:sp>
      <p:sp>
        <p:nvSpPr>
          <p:cNvPr id="12" name="Shape 8"/>
          <p:cNvSpPr/>
          <p:nvPr/>
        </p:nvSpPr>
        <p:spPr>
          <a:xfrm>
            <a:off x="548640" y="3913632"/>
            <a:ext cx="566928" cy="566928"/>
          </a:xfrm>
          <a:prstGeom prst="ellipse">
            <a:avLst/>
          </a:prstGeom>
          <a:solidFill>
            <a:srgbClr val="4F46E5"/>
          </a:solidFill>
          <a:ln w="12700">
            <a:solidFill>
              <a:srgbClr val="4F46E5"/>
            </a:solidFill>
            <a:prstDash val="solid"/>
          </a:ln>
        </p:spPr>
      </p:sp>
      <p:pic>
        <p:nvPicPr>
          <p:cNvPr id="13" name="Image 2" descr="preencoded.png">    </p:cNvPr>
          <p:cNvPicPr>
            <a:picLocks noChangeAspect="1"/>
          </p:cNvPicPr>
          <p:nvPr/>
        </p:nvPicPr>
        <p:blipFill>
          <a:blip r:embed="rId3"/>
          <a:stretch>
            <a:fillRect/>
          </a:stretch>
        </p:blipFill>
        <p:spPr>
          <a:xfrm>
            <a:off x="684703" y="4049695"/>
            <a:ext cx="294803" cy="294803"/>
          </a:xfrm>
          <a:prstGeom prst="rect">
            <a:avLst/>
          </a:prstGeom>
        </p:spPr>
      </p:pic>
      <p:sp>
        <p:nvSpPr>
          <p:cNvPr id="14" name="Text 9"/>
          <p:cNvSpPr txBox="1"/>
          <p:nvPr/>
        </p:nvSpPr>
        <p:spPr>
          <a:xfrm>
            <a:off x="1325880" y="3822192"/>
            <a:ext cx="4480560" cy="365760"/>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Bookings &amp; money</a:t>
            </a:r>
            <a:endParaRPr lang="en-US" sz="1700" dirty="0"/>
          </a:p>
        </p:txBody>
      </p:sp>
      <p:sp>
        <p:nvSpPr>
          <p:cNvPr id="15" name="Text 10"/>
          <p:cNvSpPr txBox="1"/>
          <p:nvPr/>
        </p:nvSpPr>
        <p:spPr>
          <a:xfrm>
            <a:off x="1325880" y="4215384"/>
            <a:ext cx="4480560" cy="548640"/>
          </a:xfrm>
          <a:prstGeom prst="rect">
            <a:avLst/>
          </a:prstGeom>
          <a:noFill/>
          <a:ln/>
        </p:spPr>
        <p:txBody>
          <a:bodyPr wrap="square" lIns="0" tIns="0" rIns="0" bIns="0" rtlCol="0" anchor="ctr"/>
          <a:lstStyle/>
          <a:p>
            <a:pPr indent="0" marL="0">
              <a:buNone/>
            </a:pPr>
            <a:r>
              <a:rPr lang="en-US" sz="1250" dirty="0">
                <a:solidFill>
                  <a:srgbClr val="1F2937"/>
                </a:solidFill>
                <a:latin typeface="Courier New" pitchFamily="34" charset="0"/>
                <a:ea typeface="Courier New" pitchFamily="34" charset="-122"/>
                <a:cs typeface="Courier New" pitchFamily="34" charset="-120"/>
              </a:rPr>
              <a:t>bookings, payments, processed_payment_events, waitlist_entries</a:t>
            </a:r>
            <a:endParaRPr lang="en-US" sz="1250" dirty="0"/>
          </a:p>
        </p:txBody>
      </p:sp>
      <p:sp>
        <p:nvSpPr>
          <p:cNvPr id="16" name="Shape 11"/>
          <p:cNvSpPr/>
          <p:nvPr/>
        </p:nvSpPr>
        <p:spPr>
          <a:xfrm>
            <a:off x="548640" y="4992624"/>
            <a:ext cx="566928" cy="566928"/>
          </a:xfrm>
          <a:prstGeom prst="ellipse">
            <a:avLst/>
          </a:prstGeom>
          <a:solidFill>
            <a:srgbClr val="4F46E5"/>
          </a:solidFill>
          <a:ln w="12700">
            <a:solidFill>
              <a:srgbClr val="4F46E5"/>
            </a:solidFill>
            <a:prstDash val="solid"/>
          </a:ln>
        </p:spPr>
      </p:sp>
      <p:pic>
        <p:nvPicPr>
          <p:cNvPr id="17" name="Image 3" descr="preencoded.png">    </p:cNvPr>
          <p:cNvPicPr>
            <a:picLocks noChangeAspect="1"/>
          </p:cNvPicPr>
          <p:nvPr/>
        </p:nvPicPr>
        <p:blipFill>
          <a:blip r:embed="rId4"/>
          <a:stretch>
            <a:fillRect/>
          </a:stretch>
        </p:blipFill>
        <p:spPr>
          <a:xfrm>
            <a:off x="684703" y="5128687"/>
            <a:ext cx="294803" cy="294803"/>
          </a:xfrm>
          <a:prstGeom prst="rect">
            <a:avLst/>
          </a:prstGeom>
        </p:spPr>
      </p:pic>
      <p:sp>
        <p:nvSpPr>
          <p:cNvPr id="18" name="Text 12"/>
          <p:cNvSpPr txBox="1"/>
          <p:nvPr/>
        </p:nvSpPr>
        <p:spPr>
          <a:xfrm>
            <a:off x="1325880" y="4901184"/>
            <a:ext cx="4480560" cy="365760"/>
          </a:xfrm>
          <a:prstGeom prst="rect">
            <a:avLst/>
          </a:prstGeom>
          <a:noFill/>
          <a:ln/>
        </p:spPr>
        <p:txBody>
          <a:bodyPr wrap="square" lIns="0" tIns="0" rIns="0" bIns="0" rtlCol="0" anchor="ctr"/>
          <a:lstStyle/>
          <a:p>
            <a:pPr indent="0" marL="0">
              <a:buNone/>
            </a:pPr>
            <a:r>
              <a:rPr lang="en-US" sz="1700" b="1" dirty="0">
                <a:solidFill>
                  <a:srgbClr val="1E1B4B"/>
                </a:solidFill>
                <a:latin typeface="Arial" pitchFamily="34" charset="0"/>
                <a:ea typeface="Arial" pitchFamily="34" charset="-122"/>
                <a:cs typeface="Arial" pitchFamily="34" charset="-120"/>
              </a:rPr>
              <a:t>After the event</a:t>
            </a:r>
            <a:endParaRPr lang="en-US" sz="1700" dirty="0"/>
          </a:p>
        </p:txBody>
      </p:sp>
      <p:sp>
        <p:nvSpPr>
          <p:cNvPr id="19" name="Text 13"/>
          <p:cNvSpPr txBox="1"/>
          <p:nvPr/>
        </p:nvSpPr>
        <p:spPr>
          <a:xfrm>
            <a:off x="1325880" y="5294376"/>
            <a:ext cx="4480560" cy="548640"/>
          </a:xfrm>
          <a:prstGeom prst="rect">
            <a:avLst/>
          </a:prstGeom>
          <a:noFill/>
          <a:ln/>
        </p:spPr>
        <p:txBody>
          <a:bodyPr wrap="square" lIns="0" tIns="0" rIns="0" bIns="0" rtlCol="0" anchor="ctr"/>
          <a:lstStyle/>
          <a:p>
            <a:pPr indent="0" marL="0">
              <a:buNone/>
            </a:pPr>
            <a:r>
              <a:rPr lang="en-US" sz="1250" dirty="0">
                <a:solidFill>
                  <a:srgbClr val="1F2937"/>
                </a:solidFill>
                <a:latin typeface="Courier New" pitchFamily="34" charset="0"/>
                <a:ea typeface="Courier New" pitchFamily="34" charset="-122"/>
                <a:cs typeface="Courier New" pitchFamily="34" charset="-120"/>
              </a:rPr>
              <a:t>notifications, certificates, feedback</a:t>
            </a:r>
            <a:endParaRPr lang="en-US" sz="1250" dirty="0"/>
          </a:p>
        </p:txBody>
      </p:sp>
      <p:sp>
        <p:nvSpPr>
          <p:cNvPr id="20" name="Shape 14"/>
          <p:cNvSpPr/>
          <p:nvPr/>
        </p:nvSpPr>
        <p:spPr>
          <a:xfrm>
            <a:off x="6309360" y="1645920"/>
            <a:ext cx="5303520" cy="4251960"/>
          </a:xfrm>
          <a:prstGeom prst="roundRect">
            <a:avLst>
              <a:gd name="adj" fmla="val 2581"/>
            </a:avLst>
          </a:prstGeom>
          <a:solidFill>
            <a:srgbClr val="1E1B4B"/>
          </a:solidFill>
          <a:ln w="12700">
            <a:solidFill>
              <a:srgbClr val="1E1B4B"/>
            </a:solidFill>
            <a:prstDash val="solid"/>
          </a:ln>
        </p:spPr>
      </p:sp>
      <p:sp>
        <p:nvSpPr>
          <p:cNvPr id="21" name="Text 15"/>
          <p:cNvSpPr txBox="1"/>
          <p:nvPr/>
        </p:nvSpPr>
        <p:spPr>
          <a:xfrm>
            <a:off x="6629400" y="1874520"/>
            <a:ext cx="4663440" cy="457200"/>
          </a:xfrm>
          <a:prstGeom prst="rect">
            <a:avLst/>
          </a:prstGeom>
          <a:noFill/>
          <a:ln/>
        </p:spPr>
        <p:txBody>
          <a:bodyPr wrap="square" lIns="0" tIns="0" rIns="0" bIns="0" rtlCol="0" anchor="ctr"/>
          <a:lstStyle/>
          <a:p>
            <a:pPr indent="0" marL="0">
              <a:buNone/>
            </a:pPr>
            <a:r>
              <a:rPr lang="en-US" sz="1700" b="1" dirty="0">
                <a:solidFill>
                  <a:srgbClr val="F59E0B"/>
                </a:solidFill>
                <a:latin typeface="Arial" pitchFamily="34" charset="0"/>
                <a:ea typeface="Arial" pitchFamily="34" charset="-122"/>
                <a:cs typeface="Arial" pitchFamily="34" charset="-120"/>
              </a:rPr>
              <a:t>Design rules that keep the data correct</a:t>
            </a:r>
            <a:endParaRPr lang="en-US" sz="1700" dirty="0"/>
          </a:p>
        </p:txBody>
      </p:sp>
      <p:sp>
        <p:nvSpPr>
          <p:cNvPr id="22" name="Text 16"/>
          <p:cNvSpPr txBox="1"/>
          <p:nvPr/>
        </p:nvSpPr>
        <p:spPr>
          <a:xfrm>
            <a:off x="6629400" y="2423160"/>
            <a:ext cx="4709160" cy="32918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events.available_seats is the ONE seat counter; a @Version column stops two saves from overwriting each other</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UNIQUE keys stop duplicates: one certificate and one rating per ticket, one webhook message processed once</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CHECK constraints: status values, 1-5 stars, 1-10 tickets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Random codes (EVH-..., EH-2026-...) so nobody can guess other tickets or certificates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Tests run on their own fresh MySQL (Testcontainers)</a:t>
            </a:r>
            <a:endParaRPr lang="en-US" sz="1400" dirty="0"/>
          </a:p>
        </p:txBody>
      </p:sp>
      <p:sp>
        <p:nvSpPr>
          <p:cNvPr id="23" name="Text 17"/>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Workflow 1: an event from idea to published</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A small state machine - illegal moves are refused by the server</a:t>
            </a:r>
            <a:endParaRPr lang="en-US" sz="1600" dirty="0"/>
          </a:p>
        </p:txBody>
      </p:sp>
      <p:sp>
        <p:nvSpPr>
          <p:cNvPr id="4" name="Shape 2"/>
          <p:cNvSpPr/>
          <p:nvPr/>
        </p:nvSpPr>
        <p:spPr>
          <a:xfrm>
            <a:off x="548640" y="1691640"/>
            <a:ext cx="3246120" cy="1143000"/>
          </a:xfrm>
          <a:prstGeom prst="roundRect">
            <a:avLst>
              <a:gd name="adj" fmla="val 9600"/>
            </a:avLst>
          </a:prstGeom>
          <a:solidFill>
            <a:srgbClr val="EEF2FF"/>
          </a:solidFill>
          <a:ln w="12700">
            <a:solidFill>
              <a:srgbClr val="EEF2FF"/>
            </a:solidFill>
            <a:prstDash val="solid"/>
          </a:ln>
        </p:spPr>
      </p:sp>
      <p:sp>
        <p:nvSpPr>
          <p:cNvPr id="5" name="Text 3"/>
          <p:cNvSpPr txBox="1"/>
          <p:nvPr/>
        </p:nvSpPr>
        <p:spPr>
          <a:xfrm>
            <a:off x="548640" y="1691640"/>
            <a:ext cx="3246120" cy="1143000"/>
          </a:xfrm>
          <a:prstGeom prst="rect">
            <a:avLst/>
          </a:prstGeom>
          <a:noFill/>
          <a:ln/>
        </p:spPr>
        <p:txBody>
          <a:bodyPr wrap="square" lIns="50800" tIns="50800" rIns="50800" bIns="50800" rtlCol="0" anchor="ctr"/>
          <a:lstStyle/>
          <a:p>
            <a:pPr algn="ctr" indent="0" marL="0">
              <a:buNone/>
            </a:pPr>
            <a:r>
              <a:rPr lang="en-US" sz="1700" b="1" dirty="0">
                <a:solidFill>
                  <a:srgbClr val="1E1B4B"/>
                </a:solidFill>
                <a:latin typeface="Calibri" pitchFamily="34" charset="0"/>
                <a:ea typeface="Calibri" pitchFamily="34" charset="-122"/>
                <a:cs typeface="Calibri" pitchFamily="34" charset="-120"/>
              </a:rPr>
              <a:t>DRAFT</a:t>
            </a:r>
            <a:endParaRPr lang="en-US" sz="1700" dirty="0"/>
          </a:p>
          <a:p>
            <a:pPr algn="ctr" indent="0" marL="0">
              <a:buNone/>
            </a:pPr>
            <a:r>
              <a:rPr lang="en-US" sz="1300" dirty="0">
                <a:solidFill>
                  <a:srgbClr val="1E1B4B"/>
                </a:solidFill>
                <a:latin typeface="Calibri" pitchFamily="34" charset="0"/>
                <a:ea typeface="Calibri" pitchFamily="34" charset="-122"/>
                <a:cs typeface="Calibri" pitchFamily="34" charset="-120"/>
              </a:rPr>
              <a:t>Organizer creates and edits</a:t>
            </a:r>
            <a:endParaRPr lang="en-US" sz="1700" dirty="0"/>
          </a:p>
        </p:txBody>
      </p:sp>
      <p:sp>
        <p:nvSpPr>
          <p:cNvPr id="6" name="Shape 4"/>
          <p:cNvSpPr/>
          <p:nvPr/>
        </p:nvSpPr>
        <p:spPr>
          <a:xfrm>
            <a:off x="3840480" y="2258568"/>
            <a:ext cx="548640" cy="0"/>
          </a:xfrm>
          <a:prstGeom prst="line">
            <a:avLst/>
          </a:prstGeom>
          <a:noFill/>
          <a:ln w="25400">
            <a:solidFill>
              <a:srgbClr val="4F46E5"/>
            </a:solidFill>
            <a:prstDash val="solid"/>
            <a:tailEnd type="triangle"/>
          </a:ln>
        </p:spPr>
      </p:sp>
      <p:sp>
        <p:nvSpPr>
          <p:cNvPr id="7" name="Shape 5"/>
          <p:cNvSpPr/>
          <p:nvPr/>
        </p:nvSpPr>
        <p:spPr>
          <a:xfrm>
            <a:off x="4434840" y="1691640"/>
            <a:ext cx="3246120" cy="1143000"/>
          </a:xfrm>
          <a:prstGeom prst="roundRect">
            <a:avLst>
              <a:gd name="adj" fmla="val 9600"/>
            </a:avLst>
          </a:prstGeom>
          <a:solidFill>
            <a:srgbClr val="FEF3C7"/>
          </a:solidFill>
          <a:ln w="12700">
            <a:solidFill>
              <a:srgbClr val="FEF3C7"/>
            </a:solidFill>
            <a:prstDash val="solid"/>
          </a:ln>
        </p:spPr>
      </p:sp>
      <p:sp>
        <p:nvSpPr>
          <p:cNvPr id="8" name="Text 6"/>
          <p:cNvSpPr txBox="1"/>
          <p:nvPr/>
        </p:nvSpPr>
        <p:spPr>
          <a:xfrm>
            <a:off x="4434840" y="1691640"/>
            <a:ext cx="3246120" cy="1143000"/>
          </a:xfrm>
          <a:prstGeom prst="rect">
            <a:avLst/>
          </a:prstGeom>
          <a:noFill/>
          <a:ln/>
        </p:spPr>
        <p:txBody>
          <a:bodyPr wrap="square" lIns="50800" tIns="50800" rIns="50800" bIns="50800" rtlCol="0" anchor="ctr"/>
          <a:lstStyle/>
          <a:p>
            <a:pPr algn="ctr" indent="0" marL="0">
              <a:buNone/>
            </a:pPr>
            <a:r>
              <a:rPr lang="en-US" sz="1700" b="1" dirty="0">
                <a:solidFill>
                  <a:srgbClr val="1E1B4B"/>
                </a:solidFill>
                <a:latin typeface="Calibri" pitchFamily="34" charset="0"/>
                <a:ea typeface="Calibri" pitchFamily="34" charset="-122"/>
                <a:cs typeface="Calibri" pitchFamily="34" charset="-120"/>
              </a:rPr>
              <a:t>PENDING APPROVAL</a:t>
            </a:r>
            <a:endParaRPr lang="en-US" sz="1700" dirty="0"/>
          </a:p>
          <a:p>
            <a:pPr algn="ctr" indent="0" marL="0">
              <a:buNone/>
            </a:pPr>
            <a:r>
              <a:rPr lang="en-US" sz="1300" dirty="0">
                <a:solidFill>
                  <a:srgbClr val="1E1B4B"/>
                </a:solidFill>
                <a:latin typeface="Calibri" pitchFamily="34" charset="0"/>
                <a:ea typeface="Calibri" pitchFamily="34" charset="-122"/>
                <a:cs typeface="Calibri" pitchFamily="34" charset="-120"/>
              </a:rPr>
              <a:t>Submitted - cannot be edited</a:t>
            </a:r>
            <a:endParaRPr lang="en-US" sz="1700" dirty="0"/>
          </a:p>
        </p:txBody>
      </p:sp>
      <p:sp>
        <p:nvSpPr>
          <p:cNvPr id="9" name="Shape 7"/>
          <p:cNvSpPr/>
          <p:nvPr/>
        </p:nvSpPr>
        <p:spPr>
          <a:xfrm>
            <a:off x="7726680" y="2258568"/>
            <a:ext cx="548640" cy="0"/>
          </a:xfrm>
          <a:prstGeom prst="line">
            <a:avLst/>
          </a:prstGeom>
          <a:noFill/>
          <a:ln w="25400">
            <a:solidFill>
              <a:srgbClr val="4F46E5"/>
            </a:solidFill>
            <a:prstDash val="solid"/>
            <a:tailEnd type="triangle"/>
          </a:ln>
        </p:spPr>
      </p:sp>
      <p:sp>
        <p:nvSpPr>
          <p:cNvPr id="10" name="Shape 8"/>
          <p:cNvSpPr/>
          <p:nvPr/>
        </p:nvSpPr>
        <p:spPr>
          <a:xfrm>
            <a:off x="8321040" y="1691640"/>
            <a:ext cx="3246120" cy="1143000"/>
          </a:xfrm>
          <a:prstGeom prst="roundRect">
            <a:avLst>
              <a:gd name="adj" fmla="val 9600"/>
            </a:avLst>
          </a:prstGeom>
          <a:solidFill>
            <a:srgbClr val="1E1B4B"/>
          </a:solidFill>
          <a:ln w="12700">
            <a:solidFill>
              <a:srgbClr val="1E1B4B"/>
            </a:solidFill>
            <a:prstDash val="solid"/>
          </a:ln>
        </p:spPr>
      </p:sp>
      <p:sp>
        <p:nvSpPr>
          <p:cNvPr id="11" name="Text 9"/>
          <p:cNvSpPr txBox="1"/>
          <p:nvPr/>
        </p:nvSpPr>
        <p:spPr>
          <a:xfrm>
            <a:off x="8321040" y="1691640"/>
            <a:ext cx="3246120" cy="1143000"/>
          </a:xfrm>
          <a:prstGeom prst="rect">
            <a:avLst/>
          </a:prstGeom>
          <a:noFill/>
          <a:ln/>
        </p:spPr>
        <p:txBody>
          <a:bodyPr wrap="square" lIns="50800" tIns="50800" rIns="50800" bIns="5080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PUBLISHED</a:t>
            </a:r>
            <a:endParaRPr lang="en-US" sz="1700" dirty="0"/>
          </a:p>
          <a:p>
            <a:pPr algn="ctr" indent="0" marL="0">
              <a:buNone/>
            </a:pPr>
            <a:r>
              <a:rPr lang="en-US" sz="1300" dirty="0">
                <a:solidFill>
                  <a:srgbClr val="FFFFFF"/>
                </a:solidFill>
                <a:latin typeface="Calibri" pitchFamily="34" charset="0"/>
                <a:ea typeface="Calibri" pitchFamily="34" charset="-122"/>
                <a:cs typeface="Calibri" pitchFamily="34" charset="-120"/>
              </a:rPr>
              <a:t>Visible and bookable</a:t>
            </a:r>
            <a:endParaRPr lang="en-US" sz="1700" dirty="0"/>
          </a:p>
        </p:txBody>
      </p:sp>
      <p:sp>
        <p:nvSpPr>
          <p:cNvPr id="12" name="Text 10"/>
          <p:cNvSpPr txBox="1"/>
          <p:nvPr/>
        </p:nvSpPr>
        <p:spPr>
          <a:xfrm>
            <a:off x="3749040" y="1828800"/>
            <a:ext cx="731520" cy="27432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submit</a:t>
            </a:r>
            <a:endParaRPr lang="en-US" sz="1100" dirty="0"/>
          </a:p>
        </p:txBody>
      </p:sp>
      <p:sp>
        <p:nvSpPr>
          <p:cNvPr id="13" name="Text 11"/>
          <p:cNvSpPr txBox="1"/>
          <p:nvPr/>
        </p:nvSpPr>
        <p:spPr>
          <a:xfrm>
            <a:off x="7635240" y="1828800"/>
            <a:ext cx="731520" cy="274320"/>
          </a:xfrm>
          <a:prstGeom prst="rect">
            <a:avLst/>
          </a:prstGeom>
          <a:noFill/>
          <a:ln/>
        </p:spPr>
        <p:txBody>
          <a:bodyPr wrap="square" lIns="0" tIns="0" rIns="0" bIns="0" rtlCol="0" anchor="ctr"/>
          <a:lstStyle/>
          <a:p>
            <a:pPr algn="ctr" indent="0" marL="0">
              <a:buNone/>
            </a:pPr>
            <a:r>
              <a:rPr lang="en-US" sz="1100" dirty="0">
                <a:solidFill>
                  <a:srgbClr val="6B7280"/>
                </a:solidFill>
                <a:latin typeface="Calibri" pitchFamily="34" charset="0"/>
                <a:ea typeface="Calibri" pitchFamily="34" charset="-122"/>
                <a:cs typeface="Calibri" pitchFamily="34" charset="-120"/>
              </a:rPr>
              <a:t>approve</a:t>
            </a:r>
            <a:endParaRPr lang="en-US" sz="1100" dirty="0"/>
          </a:p>
        </p:txBody>
      </p:sp>
      <p:sp>
        <p:nvSpPr>
          <p:cNvPr id="14" name="Text 12"/>
          <p:cNvSpPr txBox="1"/>
          <p:nvPr/>
        </p:nvSpPr>
        <p:spPr>
          <a:xfrm>
            <a:off x="548640" y="2971800"/>
            <a:ext cx="7315200" cy="365760"/>
          </a:xfrm>
          <a:prstGeom prst="rect">
            <a:avLst/>
          </a:prstGeom>
          <a:noFill/>
          <a:ln/>
        </p:spPr>
        <p:txBody>
          <a:bodyPr wrap="square" lIns="0" tIns="0" rIns="0" bIns="0" rtlCol="0" anchor="ctr"/>
          <a:lstStyle/>
          <a:p>
            <a:pPr indent="0" marL="0">
              <a:buNone/>
            </a:pPr>
            <a:r>
              <a:rPr lang="en-US" sz="1400" i="1" dirty="0">
                <a:solidFill>
                  <a:srgbClr val="B91C1C"/>
                </a:solidFill>
                <a:latin typeface="Calibri" pitchFamily="34" charset="0"/>
                <a:ea typeface="Calibri" pitchFamily="34" charset="-122"/>
                <a:cs typeface="Calibri" pitchFamily="34" charset="-120"/>
              </a:rPr>
              <a:t>Admin sends back with a reason → back to DRAFT, the organizer sees the note</a:t>
            </a:r>
            <a:endParaRPr lang="en-US" sz="1400" dirty="0"/>
          </a:p>
        </p:txBody>
      </p:sp>
      <p:sp>
        <p:nvSpPr>
          <p:cNvPr id="15" name="Shape 13"/>
          <p:cNvSpPr/>
          <p:nvPr/>
        </p:nvSpPr>
        <p:spPr>
          <a:xfrm>
            <a:off x="493776" y="3557016"/>
            <a:ext cx="6419088" cy="2578292"/>
          </a:xfrm>
          <a:prstGeom prst="roundRect">
            <a:avLst>
              <a:gd name="adj" fmla="val 4256"/>
            </a:avLst>
          </a:prstGeom>
          <a:solidFill>
            <a:srgbClr val="1E1B4B"/>
          </a:solidFill>
          <a:ln w="12700">
            <a:solidFill>
              <a:srgbClr val="1E1B4B"/>
            </a:solidFill>
            <a:prstDash val="solid"/>
          </a:ln>
          <a:effectLst>
            <a:outerShdw sx="100000" sy="100000" kx="0" ky="0" algn="bl" rotWithShape="0" blurRad="101600" dist="38100" dir="5400000">
              <a:srgbClr val="000000">
                <a:alpha val="25000"/>
              </a:srgbClr>
            </a:outerShdw>
          </a:effectLst>
        </p:spPr>
      </p:sp>
      <p:pic>
        <p:nvPicPr>
          <p:cNvPr id="16" name="Image 0" descr="D:/Java_FullStack_Journey/02_EventHub_Practice_Project/Showcase/screenshots/23-approve-dialog.png">    </p:cNvPr>
          <p:cNvPicPr>
            <a:picLocks noChangeAspect="1"/>
          </p:cNvPicPr>
          <p:nvPr/>
        </p:nvPicPr>
        <p:blipFill>
          <a:blip r:embed="rId1"/>
          <a:stretch>
            <a:fillRect/>
          </a:stretch>
        </p:blipFill>
        <p:spPr>
          <a:xfrm>
            <a:off x="548640" y="3611880"/>
            <a:ext cx="6309360" cy="2468564"/>
          </a:xfrm>
          <a:prstGeom prst="rect">
            <a:avLst/>
          </a:prstGeom>
        </p:spPr>
      </p:pic>
      <p:sp>
        <p:nvSpPr>
          <p:cNvPr id="17" name="Text 14"/>
          <p:cNvSpPr txBox="1"/>
          <p:nvPr/>
        </p:nvSpPr>
        <p:spPr>
          <a:xfrm>
            <a:off x="7223760" y="3611880"/>
            <a:ext cx="4389120" cy="2468564"/>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Every change is written to the audit log (who, what, when)</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The event row has a version number: two admins clicking at once cannot both win</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Only organizers of THAT club may edit its events</a:t>
            </a:r>
            <a:endParaRPr lang="en-US" sz="1400" dirty="0"/>
          </a:p>
        </p:txBody>
      </p:sp>
      <p:sp>
        <p:nvSpPr>
          <p:cNvPr id="18" name="Text 15"/>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Workflow 2: the student journey</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From finding an event to getting a certificate</a:t>
            </a:r>
            <a:endParaRPr lang="en-US" sz="1600" dirty="0"/>
          </a:p>
        </p:txBody>
      </p:sp>
      <p:sp>
        <p:nvSpPr>
          <p:cNvPr id="4" name="Shape 2"/>
          <p:cNvSpPr/>
          <p:nvPr/>
        </p:nvSpPr>
        <p:spPr>
          <a:xfrm>
            <a:off x="868680" y="1828800"/>
            <a:ext cx="868680" cy="868680"/>
          </a:xfrm>
          <a:prstGeom prst="ellipse">
            <a:avLst/>
          </a:prstGeom>
          <a:solidFill>
            <a:srgbClr val="4F46E5"/>
          </a:solidFill>
          <a:ln w="12700">
            <a:solidFill>
              <a:srgbClr val="4F46E5"/>
            </a:solidFill>
            <a:prstDash val="solid"/>
          </a:ln>
        </p:spPr>
      </p:sp>
      <p:pic>
        <p:nvPicPr>
          <p:cNvPr id="5" name="Image 0" descr="preencoded.png">    </p:cNvPr>
          <p:cNvPicPr>
            <a:picLocks noChangeAspect="1"/>
          </p:cNvPicPr>
          <p:nvPr/>
        </p:nvPicPr>
        <p:blipFill>
          <a:blip r:embed="rId1"/>
          <a:stretch>
            <a:fillRect/>
          </a:stretch>
        </p:blipFill>
        <p:spPr>
          <a:xfrm>
            <a:off x="1077163" y="2037283"/>
            <a:ext cx="451714" cy="451714"/>
          </a:xfrm>
          <a:prstGeom prst="rect">
            <a:avLst/>
          </a:prstGeom>
        </p:spPr>
      </p:pic>
      <p:sp>
        <p:nvSpPr>
          <p:cNvPr id="6" name="Text 3"/>
          <p:cNvSpPr txBox="1"/>
          <p:nvPr/>
        </p:nvSpPr>
        <p:spPr>
          <a:xfrm>
            <a:off x="548640" y="2834640"/>
            <a:ext cx="1508760" cy="365760"/>
          </a:xfrm>
          <a:prstGeom prst="rect">
            <a:avLst/>
          </a:prstGeom>
          <a:noFill/>
          <a:ln/>
        </p:spPr>
        <p:txBody>
          <a:bodyPr wrap="square" lIns="0" tIns="0" rIns="0" bIns="0" rtlCol="0" anchor="ctr"/>
          <a:lstStyle/>
          <a:p>
            <a:pPr algn="ctr" indent="0" marL="0">
              <a:buNone/>
            </a:pPr>
            <a:r>
              <a:rPr lang="en-US" sz="1600" b="1" dirty="0">
                <a:solidFill>
                  <a:srgbClr val="1E1B4B"/>
                </a:solidFill>
                <a:latin typeface="Arial" pitchFamily="34" charset="0"/>
                <a:ea typeface="Arial" pitchFamily="34" charset="-122"/>
                <a:cs typeface="Arial" pitchFamily="34" charset="-120"/>
              </a:rPr>
              <a:t>Find</a:t>
            </a:r>
            <a:endParaRPr lang="en-US" sz="1600" dirty="0"/>
          </a:p>
        </p:txBody>
      </p:sp>
      <p:sp>
        <p:nvSpPr>
          <p:cNvPr id="7" name="Text 4"/>
          <p:cNvSpPr txBox="1"/>
          <p:nvPr/>
        </p:nvSpPr>
        <p:spPr>
          <a:xfrm>
            <a:off x="548640" y="3200400"/>
            <a:ext cx="1508760" cy="3200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search, filter</a:t>
            </a:r>
            <a:endParaRPr lang="en-US" sz="1250" dirty="0"/>
          </a:p>
        </p:txBody>
      </p:sp>
      <p:sp>
        <p:nvSpPr>
          <p:cNvPr id="8" name="Shape 5"/>
          <p:cNvSpPr/>
          <p:nvPr/>
        </p:nvSpPr>
        <p:spPr>
          <a:xfrm>
            <a:off x="1810512" y="2258568"/>
            <a:ext cx="310896" cy="0"/>
          </a:xfrm>
          <a:prstGeom prst="line">
            <a:avLst/>
          </a:prstGeom>
          <a:noFill/>
          <a:ln w="25400">
            <a:solidFill>
              <a:srgbClr val="C7D2FE"/>
            </a:solidFill>
            <a:prstDash val="solid"/>
            <a:tailEnd type="triangle"/>
          </a:ln>
        </p:spPr>
      </p:sp>
      <p:sp>
        <p:nvSpPr>
          <p:cNvPr id="9" name="Shape 6"/>
          <p:cNvSpPr/>
          <p:nvPr/>
        </p:nvSpPr>
        <p:spPr>
          <a:xfrm>
            <a:off x="2496312" y="1828800"/>
            <a:ext cx="868680" cy="868680"/>
          </a:xfrm>
          <a:prstGeom prst="ellipse">
            <a:avLst/>
          </a:prstGeom>
          <a:solidFill>
            <a:srgbClr val="4F46E5"/>
          </a:solidFill>
          <a:ln w="12700">
            <a:solidFill>
              <a:srgbClr val="4F46E5"/>
            </a:solidFill>
            <a:prstDash val="solid"/>
          </a:ln>
        </p:spPr>
      </p:sp>
      <p:pic>
        <p:nvPicPr>
          <p:cNvPr id="10" name="Image 1" descr="preencoded.png">    </p:cNvPr>
          <p:cNvPicPr>
            <a:picLocks noChangeAspect="1"/>
          </p:cNvPicPr>
          <p:nvPr/>
        </p:nvPicPr>
        <p:blipFill>
          <a:blip r:embed="rId2"/>
          <a:stretch>
            <a:fillRect/>
          </a:stretch>
        </p:blipFill>
        <p:spPr>
          <a:xfrm>
            <a:off x="2704795" y="2037283"/>
            <a:ext cx="451714" cy="451714"/>
          </a:xfrm>
          <a:prstGeom prst="rect">
            <a:avLst/>
          </a:prstGeom>
        </p:spPr>
      </p:pic>
      <p:sp>
        <p:nvSpPr>
          <p:cNvPr id="11" name="Text 7"/>
          <p:cNvSpPr txBox="1"/>
          <p:nvPr/>
        </p:nvSpPr>
        <p:spPr>
          <a:xfrm>
            <a:off x="2176272" y="2834640"/>
            <a:ext cx="1508760" cy="365760"/>
          </a:xfrm>
          <a:prstGeom prst="rect">
            <a:avLst/>
          </a:prstGeom>
          <a:noFill/>
          <a:ln/>
        </p:spPr>
        <p:txBody>
          <a:bodyPr wrap="square" lIns="0" tIns="0" rIns="0" bIns="0" rtlCol="0" anchor="ctr"/>
          <a:lstStyle/>
          <a:p>
            <a:pPr algn="ctr" indent="0" marL="0">
              <a:buNone/>
            </a:pPr>
            <a:r>
              <a:rPr lang="en-US" sz="1600" b="1" dirty="0">
                <a:solidFill>
                  <a:srgbClr val="1E1B4B"/>
                </a:solidFill>
                <a:latin typeface="Arial" pitchFamily="34" charset="0"/>
                <a:ea typeface="Arial" pitchFamily="34" charset="-122"/>
                <a:cs typeface="Arial" pitchFamily="34" charset="-120"/>
              </a:rPr>
              <a:t>Hold</a:t>
            </a:r>
            <a:endParaRPr lang="en-US" sz="1600" dirty="0"/>
          </a:p>
        </p:txBody>
      </p:sp>
      <p:sp>
        <p:nvSpPr>
          <p:cNvPr id="12" name="Text 8"/>
          <p:cNvSpPr txBox="1"/>
          <p:nvPr/>
        </p:nvSpPr>
        <p:spPr>
          <a:xfrm>
            <a:off x="2176272" y="3200400"/>
            <a:ext cx="1508760" cy="3200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seats kept 10 min</a:t>
            </a:r>
            <a:endParaRPr lang="en-US" sz="1250" dirty="0"/>
          </a:p>
        </p:txBody>
      </p:sp>
      <p:sp>
        <p:nvSpPr>
          <p:cNvPr id="13" name="Shape 9"/>
          <p:cNvSpPr/>
          <p:nvPr/>
        </p:nvSpPr>
        <p:spPr>
          <a:xfrm>
            <a:off x="3438144" y="2258568"/>
            <a:ext cx="310896" cy="0"/>
          </a:xfrm>
          <a:prstGeom prst="line">
            <a:avLst/>
          </a:prstGeom>
          <a:noFill/>
          <a:ln w="25400">
            <a:solidFill>
              <a:srgbClr val="C7D2FE"/>
            </a:solidFill>
            <a:prstDash val="solid"/>
            <a:tailEnd type="triangle"/>
          </a:ln>
        </p:spPr>
      </p:sp>
      <p:sp>
        <p:nvSpPr>
          <p:cNvPr id="14" name="Shape 10"/>
          <p:cNvSpPr/>
          <p:nvPr/>
        </p:nvSpPr>
        <p:spPr>
          <a:xfrm>
            <a:off x="4123944" y="1828800"/>
            <a:ext cx="868680" cy="868680"/>
          </a:xfrm>
          <a:prstGeom prst="ellipse">
            <a:avLst/>
          </a:prstGeom>
          <a:solidFill>
            <a:srgbClr val="4F46E5"/>
          </a:solidFill>
          <a:ln w="12700">
            <a:solidFill>
              <a:srgbClr val="4F46E5"/>
            </a:solidFill>
            <a:prstDash val="solid"/>
          </a:ln>
        </p:spPr>
      </p:sp>
      <p:pic>
        <p:nvPicPr>
          <p:cNvPr id="15" name="Image 2" descr="preencoded.png">    </p:cNvPr>
          <p:cNvPicPr>
            <a:picLocks noChangeAspect="1"/>
          </p:cNvPicPr>
          <p:nvPr/>
        </p:nvPicPr>
        <p:blipFill>
          <a:blip r:embed="rId3"/>
          <a:stretch>
            <a:fillRect/>
          </a:stretch>
        </p:blipFill>
        <p:spPr>
          <a:xfrm>
            <a:off x="4332427" y="2037283"/>
            <a:ext cx="451714" cy="451714"/>
          </a:xfrm>
          <a:prstGeom prst="rect">
            <a:avLst/>
          </a:prstGeom>
        </p:spPr>
      </p:pic>
      <p:sp>
        <p:nvSpPr>
          <p:cNvPr id="16" name="Text 11"/>
          <p:cNvSpPr txBox="1"/>
          <p:nvPr/>
        </p:nvSpPr>
        <p:spPr>
          <a:xfrm>
            <a:off x="3803904" y="2834640"/>
            <a:ext cx="1508760" cy="365760"/>
          </a:xfrm>
          <a:prstGeom prst="rect">
            <a:avLst/>
          </a:prstGeom>
          <a:noFill/>
          <a:ln/>
        </p:spPr>
        <p:txBody>
          <a:bodyPr wrap="square" lIns="0" tIns="0" rIns="0" bIns="0" rtlCol="0" anchor="ctr"/>
          <a:lstStyle/>
          <a:p>
            <a:pPr algn="ctr" indent="0" marL="0">
              <a:buNone/>
            </a:pPr>
            <a:r>
              <a:rPr lang="en-US" sz="1600" b="1" dirty="0">
                <a:solidFill>
                  <a:srgbClr val="1E1B4B"/>
                </a:solidFill>
                <a:latin typeface="Arial" pitchFamily="34" charset="0"/>
                <a:ea typeface="Arial" pitchFamily="34" charset="-122"/>
                <a:cs typeface="Arial" pitchFamily="34" charset="-120"/>
              </a:rPr>
              <a:t>Pay</a:t>
            </a:r>
            <a:endParaRPr lang="en-US" sz="1600" dirty="0"/>
          </a:p>
        </p:txBody>
      </p:sp>
      <p:sp>
        <p:nvSpPr>
          <p:cNvPr id="17" name="Text 12"/>
          <p:cNvSpPr txBox="1"/>
          <p:nvPr/>
        </p:nvSpPr>
        <p:spPr>
          <a:xfrm>
            <a:off x="3803904" y="3200400"/>
            <a:ext cx="1508760" cy="3200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Stripe / test page</a:t>
            </a:r>
            <a:endParaRPr lang="en-US" sz="1250" dirty="0"/>
          </a:p>
        </p:txBody>
      </p:sp>
      <p:sp>
        <p:nvSpPr>
          <p:cNvPr id="18" name="Shape 13"/>
          <p:cNvSpPr/>
          <p:nvPr/>
        </p:nvSpPr>
        <p:spPr>
          <a:xfrm>
            <a:off x="5065776" y="2258568"/>
            <a:ext cx="310896" cy="0"/>
          </a:xfrm>
          <a:prstGeom prst="line">
            <a:avLst/>
          </a:prstGeom>
          <a:noFill/>
          <a:ln w="25400">
            <a:solidFill>
              <a:srgbClr val="C7D2FE"/>
            </a:solidFill>
            <a:prstDash val="solid"/>
            <a:tailEnd type="triangle"/>
          </a:ln>
        </p:spPr>
      </p:sp>
      <p:sp>
        <p:nvSpPr>
          <p:cNvPr id="19" name="Shape 14"/>
          <p:cNvSpPr/>
          <p:nvPr/>
        </p:nvSpPr>
        <p:spPr>
          <a:xfrm>
            <a:off x="5751576" y="1828800"/>
            <a:ext cx="868680" cy="868680"/>
          </a:xfrm>
          <a:prstGeom prst="ellipse">
            <a:avLst/>
          </a:prstGeom>
          <a:solidFill>
            <a:srgbClr val="4F46E5"/>
          </a:solidFill>
          <a:ln w="12700">
            <a:solidFill>
              <a:srgbClr val="4F46E5"/>
            </a:solidFill>
            <a:prstDash val="solid"/>
          </a:ln>
        </p:spPr>
      </p:sp>
      <p:pic>
        <p:nvPicPr>
          <p:cNvPr id="20" name="Image 3" descr="preencoded.png">    </p:cNvPr>
          <p:cNvPicPr>
            <a:picLocks noChangeAspect="1"/>
          </p:cNvPicPr>
          <p:nvPr/>
        </p:nvPicPr>
        <p:blipFill>
          <a:blip r:embed="rId4"/>
          <a:stretch>
            <a:fillRect/>
          </a:stretch>
        </p:blipFill>
        <p:spPr>
          <a:xfrm>
            <a:off x="5960059" y="2037283"/>
            <a:ext cx="451714" cy="451714"/>
          </a:xfrm>
          <a:prstGeom prst="rect">
            <a:avLst/>
          </a:prstGeom>
        </p:spPr>
      </p:pic>
      <p:sp>
        <p:nvSpPr>
          <p:cNvPr id="21" name="Text 15"/>
          <p:cNvSpPr txBox="1"/>
          <p:nvPr/>
        </p:nvSpPr>
        <p:spPr>
          <a:xfrm>
            <a:off x="5431536" y="2834640"/>
            <a:ext cx="1508760" cy="365760"/>
          </a:xfrm>
          <a:prstGeom prst="rect">
            <a:avLst/>
          </a:prstGeom>
          <a:noFill/>
          <a:ln/>
        </p:spPr>
        <p:txBody>
          <a:bodyPr wrap="square" lIns="0" tIns="0" rIns="0" bIns="0" rtlCol="0" anchor="ctr"/>
          <a:lstStyle/>
          <a:p>
            <a:pPr algn="ctr" indent="0" marL="0">
              <a:buNone/>
            </a:pPr>
            <a:r>
              <a:rPr lang="en-US" sz="1600" b="1" dirty="0">
                <a:solidFill>
                  <a:srgbClr val="1E1B4B"/>
                </a:solidFill>
                <a:latin typeface="Arial" pitchFamily="34" charset="0"/>
                <a:ea typeface="Arial" pitchFamily="34" charset="-122"/>
                <a:cs typeface="Arial" pitchFamily="34" charset="-120"/>
              </a:rPr>
              <a:t>QR ticket</a:t>
            </a:r>
            <a:endParaRPr lang="en-US" sz="1600" dirty="0"/>
          </a:p>
        </p:txBody>
      </p:sp>
      <p:sp>
        <p:nvSpPr>
          <p:cNvPr id="22" name="Text 16"/>
          <p:cNvSpPr txBox="1"/>
          <p:nvPr/>
        </p:nvSpPr>
        <p:spPr>
          <a:xfrm>
            <a:off x="5431536" y="3200400"/>
            <a:ext cx="1508760" cy="3200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booking confirmed</a:t>
            </a:r>
            <a:endParaRPr lang="en-US" sz="1250" dirty="0"/>
          </a:p>
        </p:txBody>
      </p:sp>
      <p:sp>
        <p:nvSpPr>
          <p:cNvPr id="23" name="Shape 17"/>
          <p:cNvSpPr/>
          <p:nvPr/>
        </p:nvSpPr>
        <p:spPr>
          <a:xfrm>
            <a:off x="6693408" y="2258568"/>
            <a:ext cx="310896" cy="0"/>
          </a:xfrm>
          <a:prstGeom prst="line">
            <a:avLst/>
          </a:prstGeom>
          <a:noFill/>
          <a:ln w="25400">
            <a:solidFill>
              <a:srgbClr val="C7D2FE"/>
            </a:solidFill>
            <a:prstDash val="solid"/>
            <a:tailEnd type="triangle"/>
          </a:ln>
        </p:spPr>
      </p:sp>
      <p:sp>
        <p:nvSpPr>
          <p:cNvPr id="24" name="Shape 18"/>
          <p:cNvSpPr/>
          <p:nvPr/>
        </p:nvSpPr>
        <p:spPr>
          <a:xfrm>
            <a:off x="7379208" y="1828800"/>
            <a:ext cx="868680" cy="868680"/>
          </a:xfrm>
          <a:prstGeom prst="ellipse">
            <a:avLst/>
          </a:prstGeom>
          <a:solidFill>
            <a:srgbClr val="F59E0B"/>
          </a:solidFill>
          <a:ln w="12700">
            <a:solidFill>
              <a:srgbClr val="F59E0B"/>
            </a:solidFill>
            <a:prstDash val="solid"/>
          </a:ln>
        </p:spPr>
      </p:sp>
      <p:pic>
        <p:nvPicPr>
          <p:cNvPr id="25" name="Image 4" descr="preencoded.png">    </p:cNvPr>
          <p:cNvPicPr>
            <a:picLocks noChangeAspect="1"/>
          </p:cNvPicPr>
          <p:nvPr/>
        </p:nvPicPr>
        <p:blipFill>
          <a:blip r:embed="rId5"/>
          <a:stretch>
            <a:fillRect/>
          </a:stretch>
        </p:blipFill>
        <p:spPr>
          <a:xfrm>
            <a:off x="7587691" y="2037283"/>
            <a:ext cx="451714" cy="451714"/>
          </a:xfrm>
          <a:prstGeom prst="rect">
            <a:avLst/>
          </a:prstGeom>
        </p:spPr>
      </p:pic>
      <p:sp>
        <p:nvSpPr>
          <p:cNvPr id="26" name="Text 19"/>
          <p:cNvSpPr txBox="1"/>
          <p:nvPr/>
        </p:nvSpPr>
        <p:spPr>
          <a:xfrm>
            <a:off x="7059168" y="2834640"/>
            <a:ext cx="1508760" cy="365760"/>
          </a:xfrm>
          <a:prstGeom prst="rect">
            <a:avLst/>
          </a:prstGeom>
          <a:noFill/>
          <a:ln/>
        </p:spPr>
        <p:txBody>
          <a:bodyPr wrap="square" lIns="0" tIns="0" rIns="0" bIns="0" rtlCol="0" anchor="ctr"/>
          <a:lstStyle/>
          <a:p>
            <a:pPr algn="ctr" indent="0" marL="0">
              <a:buNone/>
            </a:pPr>
            <a:r>
              <a:rPr lang="en-US" sz="1600" b="1" dirty="0">
                <a:solidFill>
                  <a:srgbClr val="1E1B4B"/>
                </a:solidFill>
                <a:latin typeface="Arial" pitchFamily="34" charset="0"/>
                <a:ea typeface="Arial" pitchFamily="34" charset="-122"/>
                <a:cs typeface="Arial" pitchFamily="34" charset="-120"/>
              </a:rPr>
              <a:t>Gate</a:t>
            </a:r>
            <a:endParaRPr lang="en-US" sz="1600" dirty="0"/>
          </a:p>
        </p:txBody>
      </p:sp>
      <p:sp>
        <p:nvSpPr>
          <p:cNvPr id="27" name="Text 20"/>
          <p:cNvSpPr txBox="1"/>
          <p:nvPr/>
        </p:nvSpPr>
        <p:spPr>
          <a:xfrm>
            <a:off x="7059168" y="3200400"/>
            <a:ext cx="1508760" cy="3200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scanned once</a:t>
            </a:r>
            <a:endParaRPr lang="en-US" sz="1250" dirty="0"/>
          </a:p>
        </p:txBody>
      </p:sp>
      <p:sp>
        <p:nvSpPr>
          <p:cNvPr id="28" name="Shape 21"/>
          <p:cNvSpPr/>
          <p:nvPr/>
        </p:nvSpPr>
        <p:spPr>
          <a:xfrm>
            <a:off x="8321040" y="2258568"/>
            <a:ext cx="310896" cy="0"/>
          </a:xfrm>
          <a:prstGeom prst="line">
            <a:avLst/>
          </a:prstGeom>
          <a:noFill/>
          <a:ln w="25400">
            <a:solidFill>
              <a:srgbClr val="C7D2FE"/>
            </a:solidFill>
            <a:prstDash val="solid"/>
            <a:tailEnd type="triangle"/>
          </a:ln>
        </p:spPr>
      </p:sp>
      <p:sp>
        <p:nvSpPr>
          <p:cNvPr id="29" name="Shape 22"/>
          <p:cNvSpPr/>
          <p:nvPr/>
        </p:nvSpPr>
        <p:spPr>
          <a:xfrm>
            <a:off x="9006840" y="1828800"/>
            <a:ext cx="868680" cy="868680"/>
          </a:xfrm>
          <a:prstGeom prst="ellipse">
            <a:avLst/>
          </a:prstGeom>
          <a:solidFill>
            <a:srgbClr val="4F46E5"/>
          </a:solidFill>
          <a:ln w="12700">
            <a:solidFill>
              <a:srgbClr val="4F46E5"/>
            </a:solidFill>
            <a:prstDash val="solid"/>
          </a:ln>
        </p:spPr>
      </p:sp>
      <p:pic>
        <p:nvPicPr>
          <p:cNvPr id="30" name="Image 5" descr="preencoded.png">    </p:cNvPr>
          <p:cNvPicPr>
            <a:picLocks noChangeAspect="1"/>
          </p:cNvPicPr>
          <p:nvPr/>
        </p:nvPicPr>
        <p:blipFill>
          <a:blip r:embed="rId6"/>
          <a:stretch>
            <a:fillRect/>
          </a:stretch>
        </p:blipFill>
        <p:spPr>
          <a:xfrm>
            <a:off x="9215323" y="2037283"/>
            <a:ext cx="451714" cy="451714"/>
          </a:xfrm>
          <a:prstGeom prst="rect">
            <a:avLst/>
          </a:prstGeom>
        </p:spPr>
      </p:pic>
      <p:sp>
        <p:nvSpPr>
          <p:cNvPr id="31" name="Text 23"/>
          <p:cNvSpPr txBox="1"/>
          <p:nvPr/>
        </p:nvSpPr>
        <p:spPr>
          <a:xfrm>
            <a:off x="8686800" y="2834640"/>
            <a:ext cx="1508760" cy="365760"/>
          </a:xfrm>
          <a:prstGeom prst="rect">
            <a:avLst/>
          </a:prstGeom>
          <a:noFill/>
          <a:ln/>
        </p:spPr>
        <p:txBody>
          <a:bodyPr wrap="square" lIns="0" tIns="0" rIns="0" bIns="0" rtlCol="0" anchor="ctr"/>
          <a:lstStyle/>
          <a:p>
            <a:pPr algn="ctr" indent="0" marL="0">
              <a:buNone/>
            </a:pPr>
            <a:r>
              <a:rPr lang="en-US" sz="1600" b="1" dirty="0">
                <a:solidFill>
                  <a:srgbClr val="1E1B4B"/>
                </a:solidFill>
                <a:latin typeface="Arial" pitchFamily="34" charset="0"/>
                <a:ea typeface="Arial" pitchFamily="34" charset="-122"/>
                <a:cs typeface="Arial" pitchFamily="34" charset="-120"/>
              </a:rPr>
              <a:t>Certificate</a:t>
            </a:r>
            <a:endParaRPr lang="en-US" sz="1600" dirty="0"/>
          </a:p>
        </p:txBody>
      </p:sp>
      <p:sp>
        <p:nvSpPr>
          <p:cNvPr id="32" name="Text 24"/>
          <p:cNvSpPr txBox="1"/>
          <p:nvPr/>
        </p:nvSpPr>
        <p:spPr>
          <a:xfrm>
            <a:off x="8686800" y="3200400"/>
            <a:ext cx="1508760" cy="3200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PDF after event</a:t>
            </a:r>
            <a:endParaRPr lang="en-US" sz="1250" dirty="0"/>
          </a:p>
        </p:txBody>
      </p:sp>
      <p:sp>
        <p:nvSpPr>
          <p:cNvPr id="33" name="Shape 25"/>
          <p:cNvSpPr/>
          <p:nvPr/>
        </p:nvSpPr>
        <p:spPr>
          <a:xfrm>
            <a:off x="9948672" y="2258568"/>
            <a:ext cx="310896" cy="0"/>
          </a:xfrm>
          <a:prstGeom prst="line">
            <a:avLst/>
          </a:prstGeom>
          <a:noFill/>
          <a:ln w="25400">
            <a:solidFill>
              <a:srgbClr val="C7D2FE"/>
            </a:solidFill>
            <a:prstDash val="solid"/>
            <a:tailEnd type="triangle"/>
          </a:ln>
        </p:spPr>
      </p:sp>
      <p:sp>
        <p:nvSpPr>
          <p:cNvPr id="34" name="Shape 26"/>
          <p:cNvSpPr/>
          <p:nvPr/>
        </p:nvSpPr>
        <p:spPr>
          <a:xfrm>
            <a:off x="10634472" y="1828800"/>
            <a:ext cx="868680" cy="868680"/>
          </a:xfrm>
          <a:prstGeom prst="ellipse">
            <a:avLst/>
          </a:prstGeom>
          <a:solidFill>
            <a:srgbClr val="4F46E5"/>
          </a:solidFill>
          <a:ln w="12700">
            <a:solidFill>
              <a:srgbClr val="4F46E5"/>
            </a:solidFill>
            <a:prstDash val="solid"/>
          </a:ln>
        </p:spPr>
      </p:sp>
      <p:pic>
        <p:nvPicPr>
          <p:cNvPr id="35" name="Image 6" descr="preencoded.png">    </p:cNvPr>
          <p:cNvPicPr>
            <a:picLocks noChangeAspect="1"/>
          </p:cNvPicPr>
          <p:nvPr/>
        </p:nvPicPr>
        <p:blipFill>
          <a:blip r:embed="rId7"/>
          <a:stretch>
            <a:fillRect/>
          </a:stretch>
        </p:blipFill>
        <p:spPr>
          <a:xfrm>
            <a:off x="10842955" y="2037283"/>
            <a:ext cx="451714" cy="451714"/>
          </a:xfrm>
          <a:prstGeom prst="rect">
            <a:avLst/>
          </a:prstGeom>
        </p:spPr>
      </p:pic>
      <p:sp>
        <p:nvSpPr>
          <p:cNvPr id="36" name="Text 27"/>
          <p:cNvSpPr txBox="1"/>
          <p:nvPr/>
        </p:nvSpPr>
        <p:spPr>
          <a:xfrm>
            <a:off x="10314432" y="2834640"/>
            <a:ext cx="1508760" cy="365760"/>
          </a:xfrm>
          <a:prstGeom prst="rect">
            <a:avLst/>
          </a:prstGeom>
          <a:noFill/>
          <a:ln/>
        </p:spPr>
        <p:txBody>
          <a:bodyPr wrap="square" lIns="0" tIns="0" rIns="0" bIns="0" rtlCol="0" anchor="ctr"/>
          <a:lstStyle/>
          <a:p>
            <a:pPr algn="ctr" indent="0" marL="0">
              <a:buNone/>
            </a:pPr>
            <a:r>
              <a:rPr lang="en-US" sz="1600" b="1" dirty="0">
                <a:solidFill>
                  <a:srgbClr val="1E1B4B"/>
                </a:solidFill>
                <a:latin typeface="Arial" pitchFamily="34" charset="0"/>
                <a:ea typeface="Arial" pitchFamily="34" charset="-122"/>
                <a:cs typeface="Arial" pitchFamily="34" charset="-120"/>
              </a:rPr>
              <a:t>Feedback</a:t>
            </a:r>
            <a:endParaRPr lang="en-US" sz="1600" dirty="0"/>
          </a:p>
        </p:txBody>
      </p:sp>
      <p:sp>
        <p:nvSpPr>
          <p:cNvPr id="37" name="Text 28"/>
          <p:cNvSpPr txBox="1"/>
          <p:nvPr/>
        </p:nvSpPr>
        <p:spPr>
          <a:xfrm>
            <a:off x="10314432" y="3200400"/>
            <a:ext cx="1508760" cy="320040"/>
          </a:xfrm>
          <a:prstGeom prst="rect">
            <a:avLst/>
          </a:prstGeom>
          <a:noFill/>
          <a:ln/>
        </p:spPr>
        <p:txBody>
          <a:bodyPr wrap="square" lIns="0" tIns="0" rIns="0" bIns="0" rtlCol="0" anchor="ctr"/>
          <a:lstStyle/>
          <a:p>
            <a:pPr algn="ctr" indent="0" marL="0">
              <a:buNone/>
            </a:pPr>
            <a:r>
              <a:rPr lang="en-US" sz="1250" dirty="0">
                <a:solidFill>
                  <a:srgbClr val="6B7280"/>
                </a:solidFill>
                <a:latin typeface="Calibri" pitchFamily="34" charset="0"/>
                <a:ea typeface="Calibri" pitchFamily="34" charset="-122"/>
                <a:cs typeface="Calibri" pitchFamily="34" charset="-120"/>
              </a:rPr>
              <a:t>1-5 stars</a:t>
            </a:r>
            <a:endParaRPr lang="en-US" sz="1250" dirty="0"/>
          </a:p>
        </p:txBody>
      </p:sp>
      <p:sp>
        <p:nvSpPr>
          <p:cNvPr id="38" name="Shape 29"/>
          <p:cNvSpPr/>
          <p:nvPr/>
        </p:nvSpPr>
        <p:spPr>
          <a:xfrm>
            <a:off x="548640" y="3931920"/>
            <a:ext cx="11064240" cy="2011680"/>
          </a:xfrm>
          <a:prstGeom prst="roundRect">
            <a:avLst>
              <a:gd name="adj" fmla="val 5455"/>
            </a:avLst>
          </a:prstGeom>
          <a:solidFill>
            <a:srgbClr val="EEF2FF"/>
          </a:solidFill>
          <a:ln w="12700">
            <a:solidFill>
              <a:srgbClr val="EEF2FF"/>
            </a:solidFill>
            <a:prstDash val="solid"/>
          </a:ln>
        </p:spPr>
      </p:sp>
      <p:sp>
        <p:nvSpPr>
          <p:cNvPr id="39" name="Text 30"/>
          <p:cNvSpPr txBox="1"/>
          <p:nvPr/>
        </p:nvSpPr>
        <p:spPr>
          <a:xfrm>
            <a:off x="868680" y="4114800"/>
            <a:ext cx="5486400" cy="365760"/>
          </a:xfrm>
          <a:prstGeom prst="rect">
            <a:avLst/>
          </a:prstGeom>
          <a:noFill/>
          <a:ln/>
        </p:spPr>
        <p:txBody>
          <a:bodyPr wrap="square" lIns="0" tIns="0" rIns="0" bIns="0" rtlCol="0" anchor="ctr"/>
          <a:lstStyle/>
          <a:p>
            <a:pPr indent="0" marL="0">
              <a:buNone/>
            </a:pPr>
            <a:r>
              <a:rPr lang="en-US" sz="1600" b="1" dirty="0">
                <a:solidFill>
                  <a:srgbClr val="1E1B4B"/>
                </a:solidFill>
                <a:latin typeface="Arial" pitchFamily="34" charset="0"/>
                <a:ea typeface="Arial" pitchFamily="34" charset="-122"/>
                <a:cs typeface="Arial" pitchFamily="34" charset="-120"/>
              </a:rPr>
              <a:t>What happens if...</a:t>
            </a:r>
            <a:endParaRPr lang="en-US" sz="1600" dirty="0"/>
          </a:p>
        </p:txBody>
      </p:sp>
      <p:sp>
        <p:nvSpPr>
          <p:cNvPr id="40" name="Text 31"/>
          <p:cNvSpPr txBox="1"/>
          <p:nvPr/>
        </p:nvSpPr>
        <p:spPr>
          <a:xfrm>
            <a:off x="868680" y="4526280"/>
            <a:ext cx="10424160" cy="132588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1F2937"/>
                </a:solidFill>
                <a:latin typeface="Calibri" pitchFamily="34" charset="0"/>
                <a:ea typeface="Calibri" pitchFamily="34" charset="-122"/>
                <a:cs typeface="Calibri" pitchFamily="34" charset="-120"/>
              </a:rPr>
              <a:t>the event is sold out? → join the waitlist ("You are #3"). When someone cancels, the seats are kept 30 minutes for the next student, who gets an email and a bell notification.</a:t>
            </a:r>
            <a:endParaRPr lang="en-US" sz="1350" dirty="0"/>
          </a:p>
          <a:p>
            <a:pPr marL="342900" indent="-342900">
              <a:spcAft>
                <a:spcPts val="400"/>
              </a:spcAft>
              <a:buSzPct val="100000"/>
              <a:buChar char="•"/>
            </a:pPr>
            <a:r>
              <a:rPr lang="en-US" sz="1350" dirty="0">
                <a:solidFill>
                  <a:srgbClr val="1F2937"/>
                </a:solidFill>
                <a:latin typeface="Calibri" pitchFamily="34" charset="0"/>
                <a:ea typeface="Calibri" pitchFamily="34" charset="-122"/>
                <a:cs typeface="Calibri" pitchFamily="34" charset="-120"/>
              </a:rPr>
              <a:t>the student does not pay? → a job running every minute frees the held seats after 10 minutes.</a:t>
            </a:r>
            <a:endParaRPr lang="en-US" sz="1350" dirty="0"/>
          </a:p>
          <a:p>
            <a:pPr marL="342900" indent="-342900">
              <a:spcAft>
                <a:spcPts val="400"/>
              </a:spcAft>
              <a:buSzPct val="100000"/>
              <a:buChar char="•"/>
            </a:pPr>
            <a:r>
              <a:rPr lang="en-US" sz="1350" dirty="0">
                <a:solidFill>
                  <a:srgbClr val="1F2937"/>
                </a:solidFill>
                <a:latin typeface="Calibri" pitchFamily="34" charset="0"/>
                <a:ea typeface="Calibri" pitchFamily="34" charset="-122"/>
                <a:cs typeface="Calibri" pitchFamily="34" charset="-120"/>
              </a:rPr>
              <a:t>the payment arrives after the hold ran out? → the seats are taken again if still free, otherwise the money is refunded.</a:t>
            </a:r>
            <a:endParaRPr lang="en-US" sz="1350" dirty="0"/>
          </a:p>
        </p:txBody>
      </p:sp>
      <p:sp>
        <p:nvSpPr>
          <p:cNvPr id="41" name="Text 32"/>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Example 1: Ravi books the 24-Hour Hackathon</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Screens from the real running application</a:t>
            </a:r>
            <a:endParaRPr lang="en-US" sz="1600" dirty="0"/>
          </a:p>
        </p:txBody>
      </p:sp>
      <p:sp>
        <p:nvSpPr>
          <p:cNvPr id="4" name="Shape 2"/>
          <p:cNvSpPr/>
          <p:nvPr/>
        </p:nvSpPr>
        <p:spPr>
          <a:xfrm>
            <a:off x="493776" y="1728216"/>
            <a:ext cx="3630168" cy="1487115"/>
          </a:xfrm>
          <a:prstGeom prst="roundRect">
            <a:avLst>
              <a:gd name="adj" fmla="val 7379"/>
            </a:avLst>
          </a:prstGeom>
          <a:solidFill>
            <a:srgbClr val="1E1B4B"/>
          </a:solidFill>
          <a:ln w="12700">
            <a:solidFill>
              <a:srgbClr val="1E1B4B"/>
            </a:solidFill>
            <a:prstDash val="solid"/>
          </a:ln>
          <a:effectLst>
            <a:outerShdw sx="100000" sy="100000" kx="0" ky="0" algn="bl" rotWithShape="0" blurRad="101600" dist="38100" dir="5400000">
              <a:srgbClr val="000000">
                <a:alpha val="25000"/>
              </a:srgbClr>
            </a:outerShdw>
          </a:effectLst>
        </p:spPr>
      </p:sp>
      <p:pic>
        <p:nvPicPr>
          <p:cNvPr id="5" name="Image 0" descr="D:/Java_FullStack_Journey/02_EventHub_Practice_Project/Showcase/screenshots/05-event-details.png">    </p:cNvPr>
          <p:cNvPicPr>
            <a:picLocks noChangeAspect="1"/>
          </p:cNvPicPr>
          <p:nvPr/>
        </p:nvPicPr>
        <p:blipFill>
          <a:blip r:embed="rId1"/>
          <a:stretch>
            <a:fillRect/>
          </a:stretch>
        </p:blipFill>
        <p:spPr>
          <a:xfrm>
            <a:off x="548640" y="1783080"/>
            <a:ext cx="3520440" cy="1377387"/>
          </a:xfrm>
          <a:prstGeom prst="rect">
            <a:avLst/>
          </a:prstGeom>
        </p:spPr>
      </p:pic>
      <p:sp>
        <p:nvSpPr>
          <p:cNvPr id="6" name="Text 3"/>
          <p:cNvSpPr txBox="1"/>
          <p:nvPr/>
        </p:nvSpPr>
        <p:spPr>
          <a:xfrm>
            <a:off x="548640" y="3343347"/>
            <a:ext cx="3520440" cy="365760"/>
          </a:xfrm>
          <a:prstGeom prst="rect">
            <a:avLst/>
          </a:prstGeom>
          <a:noFill/>
          <a:ln/>
        </p:spPr>
        <p:txBody>
          <a:bodyPr wrap="square" lIns="0" tIns="0" rIns="0" bIns="0" rtlCol="0" anchor="ctr"/>
          <a:lstStyle/>
          <a:p>
            <a:pPr indent="0" marL="0">
              <a:buNone/>
            </a:pPr>
            <a:r>
              <a:rPr lang="en-US" sz="1500" b="1" dirty="0">
                <a:solidFill>
                  <a:srgbClr val="1E1B4B"/>
                </a:solidFill>
                <a:latin typeface="Arial" pitchFamily="34" charset="0"/>
                <a:ea typeface="Arial" pitchFamily="34" charset="-122"/>
                <a:cs typeface="Arial" pitchFamily="34" charset="-120"/>
              </a:rPr>
              <a:t>1. Live seat count, choose tickets</a:t>
            </a:r>
            <a:endParaRPr lang="en-US" sz="1500" dirty="0"/>
          </a:p>
        </p:txBody>
      </p:sp>
      <p:sp>
        <p:nvSpPr>
          <p:cNvPr id="7" name="Shape 4"/>
          <p:cNvSpPr/>
          <p:nvPr/>
        </p:nvSpPr>
        <p:spPr>
          <a:xfrm>
            <a:off x="4288536" y="1728216"/>
            <a:ext cx="3630168" cy="1487115"/>
          </a:xfrm>
          <a:prstGeom prst="roundRect">
            <a:avLst>
              <a:gd name="adj" fmla="val 7379"/>
            </a:avLst>
          </a:prstGeom>
          <a:solidFill>
            <a:srgbClr val="1E1B4B"/>
          </a:solidFill>
          <a:ln w="12700">
            <a:solidFill>
              <a:srgbClr val="1E1B4B"/>
            </a:solidFill>
            <a:prstDash val="solid"/>
          </a:ln>
          <a:effectLst>
            <a:outerShdw sx="100000" sy="100000" kx="0" ky="0" algn="bl" rotWithShape="0" blurRad="101600" dist="38100" dir="5400000">
              <a:srgbClr val="000000">
                <a:alpha val="25000"/>
              </a:srgbClr>
            </a:outerShdw>
          </a:effectLst>
        </p:spPr>
      </p:sp>
      <p:pic>
        <p:nvPicPr>
          <p:cNvPr id="8" name="Image 1" descr="D:/Java_FullStack_Journey/02_EventHub_Practice_Project/Showcase/screenshots/07-checkout-hold.png">    </p:cNvPr>
          <p:cNvPicPr>
            <a:picLocks noChangeAspect="1"/>
          </p:cNvPicPr>
          <p:nvPr/>
        </p:nvPicPr>
        <p:blipFill>
          <a:blip r:embed="rId2"/>
          <a:stretch>
            <a:fillRect/>
          </a:stretch>
        </p:blipFill>
        <p:spPr>
          <a:xfrm>
            <a:off x="4343400" y="1783080"/>
            <a:ext cx="3520440" cy="1377387"/>
          </a:xfrm>
          <a:prstGeom prst="rect">
            <a:avLst/>
          </a:prstGeom>
        </p:spPr>
      </p:pic>
      <p:sp>
        <p:nvSpPr>
          <p:cNvPr id="9" name="Text 5"/>
          <p:cNvSpPr txBox="1"/>
          <p:nvPr/>
        </p:nvSpPr>
        <p:spPr>
          <a:xfrm>
            <a:off x="4343400" y="3343347"/>
            <a:ext cx="3520440" cy="365760"/>
          </a:xfrm>
          <a:prstGeom prst="rect">
            <a:avLst/>
          </a:prstGeom>
          <a:noFill/>
          <a:ln/>
        </p:spPr>
        <p:txBody>
          <a:bodyPr wrap="square" lIns="0" tIns="0" rIns="0" bIns="0" rtlCol="0" anchor="ctr"/>
          <a:lstStyle/>
          <a:p>
            <a:pPr indent="0" marL="0">
              <a:buNone/>
            </a:pPr>
            <a:r>
              <a:rPr lang="en-US" sz="1500" b="1" dirty="0">
                <a:solidFill>
                  <a:srgbClr val="1E1B4B"/>
                </a:solidFill>
                <a:latin typeface="Arial" pitchFamily="34" charset="0"/>
                <a:ea typeface="Arial" pitchFamily="34" charset="-122"/>
                <a:cs typeface="Arial" pitchFamily="34" charset="-120"/>
              </a:rPr>
              <a:t>2. Seat held - server-side timer</a:t>
            </a:r>
            <a:endParaRPr lang="en-US" sz="1500" dirty="0"/>
          </a:p>
        </p:txBody>
      </p:sp>
      <p:sp>
        <p:nvSpPr>
          <p:cNvPr id="10" name="Shape 6"/>
          <p:cNvSpPr/>
          <p:nvPr/>
        </p:nvSpPr>
        <p:spPr>
          <a:xfrm>
            <a:off x="8083296" y="1728216"/>
            <a:ext cx="3630168" cy="1487115"/>
          </a:xfrm>
          <a:prstGeom prst="roundRect">
            <a:avLst>
              <a:gd name="adj" fmla="val 7379"/>
            </a:avLst>
          </a:prstGeom>
          <a:solidFill>
            <a:srgbClr val="1E1B4B"/>
          </a:solidFill>
          <a:ln w="12700">
            <a:solidFill>
              <a:srgbClr val="1E1B4B"/>
            </a:solidFill>
            <a:prstDash val="solid"/>
          </a:ln>
          <a:effectLst>
            <a:outerShdw sx="100000" sy="100000" kx="0" ky="0" algn="bl" rotWithShape="0" blurRad="101600" dist="38100" dir="5400000">
              <a:srgbClr val="000000">
                <a:alpha val="25000"/>
              </a:srgbClr>
            </a:outerShdw>
          </a:effectLst>
        </p:spPr>
      </p:sp>
      <p:pic>
        <p:nvPicPr>
          <p:cNvPr id="11" name="Image 2" descr="D:/Java_FullStack_Journey/02_EventHub_Practice_Project/Showcase/screenshots/11-qr-ticket.png">    </p:cNvPr>
          <p:cNvPicPr>
            <a:picLocks noChangeAspect="1"/>
          </p:cNvPicPr>
          <p:nvPr/>
        </p:nvPicPr>
        <p:blipFill>
          <a:blip r:embed="rId3"/>
          <a:stretch>
            <a:fillRect/>
          </a:stretch>
        </p:blipFill>
        <p:spPr>
          <a:xfrm>
            <a:off x="8138160" y="1783080"/>
            <a:ext cx="3520440" cy="1377387"/>
          </a:xfrm>
          <a:prstGeom prst="rect">
            <a:avLst/>
          </a:prstGeom>
        </p:spPr>
      </p:pic>
      <p:sp>
        <p:nvSpPr>
          <p:cNvPr id="12" name="Text 7"/>
          <p:cNvSpPr txBox="1"/>
          <p:nvPr/>
        </p:nvSpPr>
        <p:spPr>
          <a:xfrm>
            <a:off x="8138160" y="3343347"/>
            <a:ext cx="3520440" cy="365760"/>
          </a:xfrm>
          <a:prstGeom prst="rect">
            <a:avLst/>
          </a:prstGeom>
          <a:noFill/>
          <a:ln/>
        </p:spPr>
        <p:txBody>
          <a:bodyPr wrap="square" lIns="0" tIns="0" rIns="0" bIns="0" rtlCol="0" anchor="ctr"/>
          <a:lstStyle/>
          <a:p>
            <a:pPr indent="0" marL="0">
              <a:buNone/>
            </a:pPr>
            <a:r>
              <a:rPr lang="en-US" sz="1500" b="1" dirty="0">
                <a:solidFill>
                  <a:srgbClr val="1E1B4B"/>
                </a:solidFill>
                <a:latin typeface="Arial" pitchFamily="34" charset="0"/>
                <a:ea typeface="Arial" pitchFamily="34" charset="-122"/>
                <a:cs typeface="Arial" pitchFamily="34" charset="-120"/>
              </a:rPr>
              <a:t>3. Paid → QR ticket</a:t>
            </a:r>
            <a:endParaRPr lang="en-US" sz="1500" dirty="0"/>
          </a:p>
        </p:txBody>
      </p:sp>
      <p:sp>
        <p:nvSpPr>
          <p:cNvPr id="13" name="Shape 8"/>
          <p:cNvSpPr/>
          <p:nvPr/>
        </p:nvSpPr>
        <p:spPr>
          <a:xfrm>
            <a:off x="548640" y="4069080"/>
            <a:ext cx="11064240" cy="1691640"/>
          </a:xfrm>
          <a:prstGeom prst="roundRect">
            <a:avLst>
              <a:gd name="adj" fmla="val 6486"/>
            </a:avLst>
          </a:prstGeom>
          <a:solidFill>
            <a:srgbClr val="FEF3C7"/>
          </a:solidFill>
          <a:ln w="12700">
            <a:solidFill>
              <a:srgbClr val="FEF3C7"/>
            </a:solidFill>
            <a:prstDash val="solid"/>
          </a:ln>
        </p:spPr>
      </p:sp>
      <p:sp>
        <p:nvSpPr>
          <p:cNvPr id="14" name="Text 9"/>
          <p:cNvSpPr txBox="1"/>
          <p:nvPr/>
        </p:nvSpPr>
        <p:spPr>
          <a:xfrm>
            <a:off x="868680" y="4251960"/>
            <a:ext cx="10424160" cy="365760"/>
          </a:xfrm>
          <a:prstGeom prst="rect">
            <a:avLst/>
          </a:prstGeom>
          <a:noFill/>
          <a:ln/>
        </p:spPr>
        <p:txBody>
          <a:bodyPr wrap="square" lIns="0" tIns="0" rIns="0" bIns="0" rtlCol="0" anchor="ctr"/>
          <a:lstStyle/>
          <a:p>
            <a:pPr indent="0" marL="0">
              <a:buNone/>
            </a:pPr>
            <a:r>
              <a:rPr lang="en-US" sz="1600" b="1" dirty="0">
                <a:solidFill>
                  <a:srgbClr val="1E1B4B"/>
                </a:solidFill>
                <a:latin typeface="Arial" pitchFamily="34" charset="0"/>
                <a:ea typeface="Arial" pitchFamily="34" charset="-122"/>
                <a:cs typeface="Arial" pitchFamily="34" charset="-120"/>
              </a:rPr>
              <a:t>Why two students can never get the same last seat</a:t>
            </a:r>
            <a:endParaRPr lang="en-US" sz="1600" dirty="0"/>
          </a:p>
        </p:txBody>
      </p:sp>
      <p:sp>
        <p:nvSpPr>
          <p:cNvPr id="15" name="Text 10"/>
          <p:cNvSpPr txBox="1"/>
          <p:nvPr/>
        </p:nvSpPr>
        <p:spPr>
          <a:xfrm>
            <a:off x="868680" y="4663440"/>
            <a:ext cx="10424160" cy="100584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Every save of an event carries its version number. If Ravi and Asha both read "1 seat left, version 7", the first save succeeds (version 8) and the second is refused and retried with fresh data - it now sees 0 seats. A test starts 100 threads for 10 seats: exactly 10 bookings succeed, every time. Without @Version the same test sold 96-99 tickets.</a:t>
            </a:r>
            <a:endParaRPr lang="en-US" sz="1400" dirty="0"/>
          </a:p>
        </p:txBody>
      </p:sp>
      <p:sp>
        <p:nvSpPr>
          <p:cNvPr id="16" name="Text 11"/>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Example 2: the gate - each ticket works once</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Volunteer Priya scans Ravi's QR code (camera or typed code)</a:t>
            </a:r>
            <a:endParaRPr lang="en-US" sz="1600" dirty="0"/>
          </a:p>
        </p:txBody>
      </p:sp>
      <p:sp>
        <p:nvSpPr>
          <p:cNvPr id="4" name="Shape 2"/>
          <p:cNvSpPr/>
          <p:nvPr/>
        </p:nvSpPr>
        <p:spPr>
          <a:xfrm>
            <a:off x="493776" y="1682496"/>
            <a:ext cx="5504688" cy="2220529"/>
          </a:xfrm>
          <a:prstGeom prst="roundRect">
            <a:avLst>
              <a:gd name="adj" fmla="val 4942"/>
            </a:avLst>
          </a:prstGeom>
          <a:solidFill>
            <a:srgbClr val="1E1B4B"/>
          </a:solidFill>
          <a:ln w="12700">
            <a:solidFill>
              <a:srgbClr val="1E1B4B"/>
            </a:solidFill>
            <a:prstDash val="solid"/>
          </a:ln>
          <a:effectLst>
            <a:outerShdw sx="100000" sy="100000" kx="0" ky="0" algn="bl" rotWithShape="0" blurRad="101600" dist="38100" dir="5400000">
              <a:srgbClr val="000000">
                <a:alpha val="25000"/>
              </a:srgbClr>
            </a:outerShdw>
          </a:effectLst>
        </p:spPr>
      </p:sp>
      <p:pic>
        <p:nvPicPr>
          <p:cNvPr id="5" name="Image 0" descr="D:/Java_FullStack_Journey/02_EventHub_Practice_Project/Showcase/screenshots/15-gate-let-in.png">    </p:cNvPr>
          <p:cNvPicPr>
            <a:picLocks noChangeAspect="1"/>
          </p:cNvPicPr>
          <p:nvPr/>
        </p:nvPicPr>
        <p:blipFill>
          <a:blip r:embed="rId1"/>
          <a:stretch>
            <a:fillRect/>
          </a:stretch>
        </p:blipFill>
        <p:spPr>
          <a:xfrm>
            <a:off x="548640" y="1737360"/>
            <a:ext cx="5394960" cy="2110801"/>
          </a:xfrm>
          <a:prstGeom prst="rect">
            <a:avLst/>
          </a:prstGeom>
        </p:spPr>
      </p:pic>
      <p:sp>
        <p:nvSpPr>
          <p:cNvPr id="6" name="Text 3"/>
          <p:cNvSpPr txBox="1"/>
          <p:nvPr/>
        </p:nvSpPr>
        <p:spPr>
          <a:xfrm>
            <a:off x="548640" y="3985321"/>
            <a:ext cx="5394960" cy="365760"/>
          </a:xfrm>
          <a:prstGeom prst="rect">
            <a:avLst/>
          </a:prstGeom>
          <a:noFill/>
          <a:ln/>
        </p:spPr>
        <p:txBody>
          <a:bodyPr wrap="square" lIns="0" tIns="0" rIns="0" bIns="0" rtlCol="0" anchor="ctr"/>
          <a:lstStyle/>
          <a:p>
            <a:pPr indent="0" marL="0">
              <a:buNone/>
            </a:pPr>
            <a:r>
              <a:rPr lang="en-US" sz="1600" b="1" dirty="0">
                <a:solidFill>
                  <a:srgbClr val="15803D"/>
                </a:solidFill>
                <a:latin typeface="Arial" pitchFamily="34" charset="0"/>
                <a:ea typeface="Arial" pitchFamily="34" charset="-122"/>
                <a:cs typeface="Arial" pitchFamily="34" charset="-120"/>
              </a:rPr>
              <a:t>First scan → LET IN</a:t>
            </a:r>
            <a:endParaRPr lang="en-US" sz="1600" dirty="0"/>
          </a:p>
        </p:txBody>
      </p:sp>
      <p:sp>
        <p:nvSpPr>
          <p:cNvPr id="7" name="Shape 4"/>
          <p:cNvSpPr/>
          <p:nvPr/>
        </p:nvSpPr>
        <p:spPr>
          <a:xfrm>
            <a:off x="6163056" y="1682496"/>
            <a:ext cx="5504688" cy="2220529"/>
          </a:xfrm>
          <a:prstGeom prst="roundRect">
            <a:avLst>
              <a:gd name="adj" fmla="val 4942"/>
            </a:avLst>
          </a:prstGeom>
          <a:solidFill>
            <a:srgbClr val="1E1B4B"/>
          </a:solidFill>
          <a:ln w="12700">
            <a:solidFill>
              <a:srgbClr val="1E1B4B"/>
            </a:solidFill>
            <a:prstDash val="solid"/>
          </a:ln>
          <a:effectLst>
            <a:outerShdw sx="100000" sy="100000" kx="0" ky="0" algn="bl" rotWithShape="0" blurRad="101600" dist="38100" dir="5400000">
              <a:srgbClr val="000000">
                <a:alpha val="25000"/>
              </a:srgbClr>
            </a:outerShdw>
          </a:effectLst>
        </p:spPr>
      </p:sp>
      <p:pic>
        <p:nvPicPr>
          <p:cNvPr id="8" name="Image 1" descr="D:/Java_FullStack_Journey/02_EventHub_Practice_Project/Showcase/screenshots/16-gate-already-used.png">    </p:cNvPr>
          <p:cNvPicPr>
            <a:picLocks noChangeAspect="1"/>
          </p:cNvPicPr>
          <p:nvPr/>
        </p:nvPicPr>
        <p:blipFill>
          <a:blip r:embed="rId2"/>
          <a:stretch>
            <a:fillRect/>
          </a:stretch>
        </p:blipFill>
        <p:spPr>
          <a:xfrm>
            <a:off x="6217920" y="1737360"/>
            <a:ext cx="5394960" cy="2110801"/>
          </a:xfrm>
          <a:prstGeom prst="rect">
            <a:avLst/>
          </a:prstGeom>
        </p:spPr>
      </p:pic>
      <p:sp>
        <p:nvSpPr>
          <p:cNvPr id="9" name="Text 5"/>
          <p:cNvSpPr txBox="1"/>
          <p:nvPr/>
        </p:nvSpPr>
        <p:spPr>
          <a:xfrm>
            <a:off x="6217920" y="3985321"/>
            <a:ext cx="5394960" cy="365760"/>
          </a:xfrm>
          <a:prstGeom prst="rect">
            <a:avLst/>
          </a:prstGeom>
          <a:noFill/>
          <a:ln/>
        </p:spPr>
        <p:txBody>
          <a:bodyPr wrap="square" lIns="0" tIns="0" rIns="0" bIns="0" rtlCol="0" anchor="ctr"/>
          <a:lstStyle/>
          <a:p>
            <a:pPr indent="0" marL="0">
              <a:buNone/>
            </a:pPr>
            <a:r>
              <a:rPr lang="en-US" sz="1600" b="1" dirty="0">
                <a:solidFill>
                  <a:srgbClr val="B91C1C"/>
                </a:solidFill>
                <a:latin typeface="Arial" pitchFamily="34" charset="0"/>
                <a:ea typeface="Arial" pitchFamily="34" charset="-122"/>
                <a:cs typeface="Arial" pitchFamily="34" charset="-120"/>
              </a:rPr>
              <a:t>Same ticket again → ALREADY USED (when, by whom)</a:t>
            </a:r>
            <a:endParaRPr lang="en-US" sz="1600" dirty="0"/>
          </a:p>
        </p:txBody>
      </p:sp>
      <p:sp>
        <p:nvSpPr>
          <p:cNvPr id="10" name="Shape 6"/>
          <p:cNvSpPr/>
          <p:nvPr/>
        </p:nvSpPr>
        <p:spPr>
          <a:xfrm>
            <a:off x="548640" y="4572000"/>
            <a:ext cx="11064240" cy="1417320"/>
          </a:xfrm>
          <a:prstGeom prst="roundRect">
            <a:avLst>
              <a:gd name="adj" fmla="val 7742"/>
            </a:avLst>
          </a:prstGeom>
          <a:solidFill>
            <a:srgbClr val="EEF2FF"/>
          </a:solidFill>
          <a:ln w="12700">
            <a:solidFill>
              <a:srgbClr val="EEF2FF"/>
            </a:solidFill>
            <a:prstDash val="solid"/>
          </a:ln>
        </p:spPr>
      </p:sp>
      <p:sp>
        <p:nvSpPr>
          <p:cNvPr id="11" name="Text 7"/>
          <p:cNvSpPr txBox="1"/>
          <p:nvPr/>
        </p:nvSpPr>
        <p:spPr>
          <a:xfrm>
            <a:off x="868680" y="4754880"/>
            <a:ext cx="10424160" cy="10972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One SQL statement does check-and-mark together: </a:t>
            </a:r>
            <a:pPr indent="0" marL="0">
              <a:buNone/>
            </a:pPr>
            <a:r>
              <a:rPr lang="en-US" sz="1400" dirty="0">
                <a:solidFill>
                  <a:srgbClr val="4F46E5"/>
                </a:solidFill>
                <a:latin typeface="Courier New" pitchFamily="34" charset="0"/>
                <a:ea typeface="Courier New" pitchFamily="34" charset="-122"/>
                <a:cs typeface="Courier New" pitchFamily="34" charset="-120"/>
              </a:rPr>
              <a:t>UPDATE bookings SET checked_in_at = now WHERE id = ? AND checked_in_at IS NULL</a:t>
            </a:r>
            <a:pPr indent="0" marL="0">
              <a:buNone/>
            </a:pPr>
            <a:r>
              <a:rPr lang="en-US" sz="1400" dirty="0">
                <a:solidFill>
                  <a:srgbClr val="1F2937"/>
                </a:solidFill>
                <a:latin typeface="Calibri" pitchFamily="34" charset="0"/>
                <a:ea typeface="Calibri" pitchFamily="34" charset="-122"/>
                <a:cs typeface="Calibri" pitchFamily="34" charset="-120"/>
              </a:rPr>
              <a:t>. If it changed 1 row → VALID; 0 rows → someone was faster → ALREADY USED. A test with 20 gates scanning the same ticket at the same moment gets exactly one VALID.</a:t>
            </a:r>
            <a:endParaRPr lang="en-US" sz="1400" dirty="0"/>
          </a:p>
        </p:txBody>
      </p:sp>
      <p:sp>
        <p:nvSpPr>
          <p:cNvPr id="12" name="Text 8"/>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Example 3: certificates anyone can verify</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Only for students who were scanned at the gate, after the event ends</a:t>
            </a:r>
            <a:endParaRPr lang="en-US" sz="1600" dirty="0"/>
          </a:p>
        </p:txBody>
      </p:sp>
      <p:sp>
        <p:nvSpPr>
          <p:cNvPr id="4" name="Shape 2"/>
          <p:cNvSpPr/>
          <p:nvPr/>
        </p:nvSpPr>
        <p:spPr>
          <a:xfrm>
            <a:off x="493776" y="1682496"/>
            <a:ext cx="5504688" cy="2220529"/>
          </a:xfrm>
          <a:prstGeom prst="roundRect">
            <a:avLst>
              <a:gd name="adj" fmla="val 4942"/>
            </a:avLst>
          </a:prstGeom>
          <a:solidFill>
            <a:srgbClr val="1E1B4B"/>
          </a:solidFill>
          <a:ln w="12700">
            <a:solidFill>
              <a:srgbClr val="1E1B4B"/>
            </a:solidFill>
            <a:prstDash val="solid"/>
          </a:ln>
          <a:effectLst>
            <a:outerShdw sx="100000" sy="100000" kx="0" ky="0" algn="bl" rotWithShape="0" blurRad="101600" dist="38100" dir="5400000">
              <a:srgbClr val="000000">
                <a:alpha val="25000"/>
              </a:srgbClr>
            </a:outerShdw>
          </a:effectLst>
        </p:spPr>
      </p:sp>
      <p:pic>
        <p:nvPicPr>
          <p:cNvPr id="5" name="Image 0" descr="D:/Java_FullStack_Journey/02_EventHub_Practice_Project/Showcase/screenshots/14-certificate.png">    </p:cNvPr>
          <p:cNvPicPr>
            <a:picLocks noChangeAspect="1"/>
          </p:cNvPicPr>
          <p:nvPr/>
        </p:nvPicPr>
        <p:blipFill>
          <a:blip r:embed="rId1"/>
          <a:stretch>
            <a:fillRect/>
          </a:stretch>
        </p:blipFill>
        <p:spPr>
          <a:xfrm>
            <a:off x="548640" y="1737360"/>
            <a:ext cx="5394960" cy="2110801"/>
          </a:xfrm>
          <a:prstGeom prst="rect">
            <a:avLst/>
          </a:prstGeom>
        </p:spPr>
      </p:pic>
      <p:sp>
        <p:nvSpPr>
          <p:cNvPr id="6" name="Text 3"/>
          <p:cNvSpPr txBox="1"/>
          <p:nvPr/>
        </p:nvSpPr>
        <p:spPr>
          <a:xfrm>
            <a:off x="548640" y="3985321"/>
            <a:ext cx="5394960" cy="365760"/>
          </a:xfrm>
          <a:prstGeom prst="rect">
            <a:avLst/>
          </a:prstGeom>
          <a:noFill/>
          <a:ln/>
        </p:spPr>
        <p:txBody>
          <a:bodyPr wrap="square" lIns="0" tIns="0" rIns="0" bIns="0" rtlCol="0" anchor="ctr"/>
          <a:lstStyle/>
          <a:p>
            <a:pPr indent="0" marL="0">
              <a:buNone/>
            </a:pPr>
            <a:r>
              <a:rPr lang="en-US" sz="1500" b="1" dirty="0">
                <a:solidFill>
                  <a:srgbClr val="1E1B4B"/>
                </a:solidFill>
                <a:latin typeface="Arial" pitchFamily="34" charset="0"/>
                <a:ea typeface="Arial" pitchFamily="34" charset="-122"/>
                <a:cs typeface="Arial" pitchFamily="34" charset="-120"/>
              </a:rPr>
              <a:t>PDF drawn by the server (OpenPDF), with a QR code</a:t>
            </a:r>
            <a:endParaRPr lang="en-US" sz="1500" dirty="0"/>
          </a:p>
        </p:txBody>
      </p:sp>
      <p:sp>
        <p:nvSpPr>
          <p:cNvPr id="7" name="Shape 4"/>
          <p:cNvSpPr/>
          <p:nvPr/>
        </p:nvSpPr>
        <p:spPr>
          <a:xfrm>
            <a:off x="6163056" y="1682496"/>
            <a:ext cx="5504688" cy="2220529"/>
          </a:xfrm>
          <a:prstGeom prst="roundRect">
            <a:avLst>
              <a:gd name="adj" fmla="val 4942"/>
            </a:avLst>
          </a:prstGeom>
          <a:solidFill>
            <a:srgbClr val="1E1B4B"/>
          </a:solidFill>
          <a:ln w="12700">
            <a:solidFill>
              <a:srgbClr val="1E1B4B"/>
            </a:solidFill>
            <a:prstDash val="solid"/>
          </a:ln>
          <a:effectLst>
            <a:outerShdw sx="100000" sy="100000" kx="0" ky="0" algn="bl" rotWithShape="0" blurRad="101600" dist="38100" dir="5400000">
              <a:srgbClr val="000000">
                <a:alpha val="25000"/>
              </a:srgbClr>
            </a:outerShdw>
          </a:effectLst>
        </p:spPr>
      </p:sp>
      <p:pic>
        <p:nvPicPr>
          <p:cNvPr id="8" name="Image 1" descr="D:/Java_FullStack_Journey/02_EventHub_Practice_Project/Showcase/screenshots/17-verify-public.png">    </p:cNvPr>
          <p:cNvPicPr>
            <a:picLocks noChangeAspect="1"/>
          </p:cNvPicPr>
          <p:nvPr/>
        </p:nvPicPr>
        <p:blipFill>
          <a:blip r:embed="rId2"/>
          <a:stretch>
            <a:fillRect/>
          </a:stretch>
        </p:blipFill>
        <p:spPr>
          <a:xfrm>
            <a:off x="6217920" y="1737360"/>
            <a:ext cx="5394960" cy="2110801"/>
          </a:xfrm>
          <a:prstGeom prst="rect">
            <a:avLst/>
          </a:prstGeom>
        </p:spPr>
      </p:pic>
      <p:sp>
        <p:nvSpPr>
          <p:cNvPr id="9" name="Text 5"/>
          <p:cNvSpPr txBox="1"/>
          <p:nvPr/>
        </p:nvSpPr>
        <p:spPr>
          <a:xfrm>
            <a:off x="6217920" y="3985321"/>
            <a:ext cx="5394960" cy="365760"/>
          </a:xfrm>
          <a:prstGeom prst="rect">
            <a:avLst/>
          </a:prstGeom>
          <a:noFill/>
          <a:ln/>
        </p:spPr>
        <p:txBody>
          <a:bodyPr wrap="square" lIns="0" tIns="0" rIns="0" bIns="0" rtlCol="0" anchor="ctr"/>
          <a:lstStyle/>
          <a:p>
            <a:pPr indent="0" marL="0">
              <a:buNone/>
            </a:pPr>
            <a:r>
              <a:rPr lang="en-US" sz="1500" b="1" dirty="0">
                <a:solidFill>
                  <a:srgbClr val="1E1B4B"/>
                </a:solidFill>
                <a:latin typeface="Arial" pitchFamily="34" charset="0"/>
                <a:ea typeface="Arial" pitchFamily="34" charset="-122"/>
                <a:cs typeface="Arial" pitchFamily="34" charset="-120"/>
              </a:rPr>
              <a:t>Public verify page - no login needed</a:t>
            </a:r>
            <a:endParaRPr lang="en-US" sz="1500" dirty="0"/>
          </a:p>
        </p:txBody>
      </p:sp>
      <p:sp>
        <p:nvSpPr>
          <p:cNvPr id="10" name="Shape 6"/>
          <p:cNvSpPr/>
          <p:nvPr/>
        </p:nvSpPr>
        <p:spPr>
          <a:xfrm>
            <a:off x="548640" y="4983480"/>
            <a:ext cx="548640" cy="548640"/>
          </a:xfrm>
          <a:prstGeom prst="ellipse">
            <a:avLst/>
          </a:prstGeom>
          <a:solidFill>
            <a:srgbClr val="4F46E5"/>
          </a:solidFill>
          <a:ln w="12700">
            <a:solidFill>
              <a:srgbClr val="4F46E5"/>
            </a:solidFill>
            <a:prstDash val="solid"/>
          </a:ln>
        </p:spPr>
      </p:sp>
      <p:pic>
        <p:nvPicPr>
          <p:cNvPr id="11" name="Image 2" descr="preencoded.png">    </p:cNvPr>
          <p:cNvPicPr>
            <a:picLocks noChangeAspect="1"/>
          </p:cNvPicPr>
          <p:nvPr/>
        </p:nvPicPr>
        <p:blipFill>
          <a:blip r:embed="rId3"/>
          <a:stretch>
            <a:fillRect/>
          </a:stretch>
        </p:blipFill>
        <p:spPr>
          <a:xfrm>
            <a:off x="680314" y="5115154"/>
            <a:ext cx="285293" cy="285293"/>
          </a:xfrm>
          <a:prstGeom prst="rect">
            <a:avLst/>
          </a:prstGeom>
        </p:spPr>
      </p:pic>
      <p:sp>
        <p:nvSpPr>
          <p:cNvPr id="12" name="Text 7"/>
          <p:cNvSpPr txBox="1"/>
          <p:nvPr/>
        </p:nvSpPr>
        <p:spPr>
          <a:xfrm>
            <a:off x="1234440" y="4937760"/>
            <a:ext cx="2926080" cy="6400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Random number EH-2026-BEQR4Y79 - cannot be guessed</a:t>
            </a:r>
            <a:endParaRPr lang="en-US" sz="1400" dirty="0"/>
          </a:p>
        </p:txBody>
      </p:sp>
      <p:sp>
        <p:nvSpPr>
          <p:cNvPr id="13" name="Shape 8"/>
          <p:cNvSpPr/>
          <p:nvPr/>
        </p:nvSpPr>
        <p:spPr>
          <a:xfrm>
            <a:off x="4297680" y="4983480"/>
            <a:ext cx="548640" cy="548640"/>
          </a:xfrm>
          <a:prstGeom prst="ellipse">
            <a:avLst/>
          </a:prstGeom>
          <a:solidFill>
            <a:srgbClr val="4F46E5"/>
          </a:solidFill>
          <a:ln w="12700">
            <a:solidFill>
              <a:srgbClr val="4F46E5"/>
            </a:solidFill>
            <a:prstDash val="solid"/>
          </a:ln>
        </p:spPr>
      </p:sp>
      <p:pic>
        <p:nvPicPr>
          <p:cNvPr id="14" name="Image 3" descr="preencoded.png">    </p:cNvPr>
          <p:cNvPicPr>
            <a:picLocks noChangeAspect="1"/>
          </p:cNvPicPr>
          <p:nvPr/>
        </p:nvPicPr>
        <p:blipFill>
          <a:blip r:embed="rId4"/>
          <a:stretch>
            <a:fillRect/>
          </a:stretch>
        </p:blipFill>
        <p:spPr>
          <a:xfrm>
            <a:off x="4429354" y="5115154"/>
            <a:ext cx="285293" cy="285293"/>
          </a:xfrm>
          <a:prstGeom prst="rect">
            <a:avLst/>
          </a:prstGeom>
        </p:spPr>
      </p:pic>
      <p:sp>
        <p:nvSpPr>
          <p:cNvPr id="15" name="Text 9"/>
          <p:cNvSpPr txBox="1"/>
          <p:nvPr/>
        </p:nvSpPr>
        <p:spPr>
          <a:xfrm>
            <a:off x="4983480" y="4937760"/>
            <a:ext cx="2926080" cy="6400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Checked-in + event over = certificate</a:t>
            </a:r>
            <a:endParaRPr lang="en-US" sz="1400" dirty="0"/>
          </a:p>
        </p:txBody>
      </p:sp>
      <p:sp>
        <p:nvSpPr>
          <p:cNvPr id="16" name="Shape 10"/>
          <p:cNvSpPr/>
          <p:nvPr/>
        </p:nvSpPr>
        <p:spPr>
          <a:xfrm>
            <a:off x="8046720" y="4983480"/>
            <a:ext cx="548640" cy="548640"/>
          </a:xfrm>
          <a:prstGeom prst="ellipse">
            <a:avLst/>
          </a:prstGeom>
          <a:solidFill>
            <a:srgbClr val="4F46E5"/>
          </a:solidFill>
          <a:ln w="12700">
            <a:solidFill>
              <a:srgbClr val="4F46E5"/>
            </a:solidFill>
            <a:prstDash val="solid"/>
          </a:ln>
        </p:spPr>
      </p:sp>
      <p:pic>
        <p:nvPicPr>
          <p:cNvPr id="17" name="Image 4" descr="preencoded.png">    </p:cNvPr>
          <p:cNvPicPr>
            <a:picLocks noChangeAspect="1"/>
          </p:cNvPicPr>
          <p:nvPr/>
        </p:nvPicPr>
        <p:blipFill>
          <a:blip r:embed="rId5"/>
          <a:stretch>
            <a:fillRect/>
          </a:stretch>
        </p:blipFill>
        <p:spPr>
          <a:xfrm>
            <a:off x="8178394" y="5115154"/>
            <a:ext cx="285293" cy="285293"/>
          </a:xfrm>
          <a:prstGeom prst="rect">
            <a:avLst/>
          </a:prstGeom>
        </p:spPr>
      </p:pic>
      <p:sp>
        <p:nvSpPr>
          <p:cNvPr id="18" name="Text 11"/>
          <p:cNvSpPr txBox="1"/>
          <p:nvPr/>
        </p:nvSpPr>
        <p:spPr>
          <a:xfrm>
            <a:off x="8732520" y="4937760"/>
            <a:ext cx="2926080" cy="64008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A company checks it in seconds</a:t>
            </a:r>
            <a:endParaRPr lang="en-US" sz="1400" dirty="0"/>
          </a:p>
        </p:txBody>
      </p:sp>
      <p:sp>
        <p:nvSpPr>
          <p:cNvPr id="19" name="Text 12"/>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Example 4: analytics for organizers and the admin</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Tickets and money per day, check-in rate and average rating</a:t>
            </a:r>
            <a:endParaRPr lang="en-US" sz="1600" dirty="0"/>
          </a:p>
        </p:txBody>
      </p:sp>
      <p:sp>
        <p:nvSpPr>
          <p:cNvPr id="4" name="Shape 2"/>
          <p:cNvSpPr/>
          <p:nvPr/>
        </p:nvSpPr>
        <p:spPr>
          <a:xfrm>
            <a:off x="493776" y="1682496"/>
            <a:ext cx="6876288" cy="2757174"/>
          </a:xfrm>
          <a:prstGeom prst="roundRect">
            <a:avLst>
              <a:gd name="adj" fmla="val 3980"/>
            </a:avLst>
          </a:prstGeom>
          <a:solidFill>
            <a:srgbClr val="1E1B4B"/>
          </a:solidFill>
          <a:ln w="12700">
            <a:solidFill>
              <a:srgbClr val="1E1B4B"/>
            </a:solidFill>
            <a:prstDash val="solid"/>
          </a:ln>
          <a:effectLst>
            <a:outerShdw sx="100000" sy="100000" kx="0" ky="0" algn="bl" rotWithShape="0" blurRad="101600" dist="38100" dir="5400000">
              <a:srgbClr val="000000">
                <a:alpha val="25000"/>
              </a:srgbClr>
            </a:outerShdw>
          </a:effectLst>
        </p:spPr>
      </p:sp>
      <p:pic>
        <p:nvPicPr>
          <p:cNvPr id="5" name="Image 0" descr="D:/Java_FullStack_Journey/02_EventHub_Practice_Project/Showcase/screenshots/21-organizer-analytics.png">    </p:cNvPr>
          <p:cNvPicPr>
            <a:picLocks noChangeAspect="1"/>
          </p:cNvPicPr>
          <p:nvPr/>
        </p:nvPicPr>
        <p:blipFill>
          <a:blip r:embed="rId1"/>
          <a:stretch>
            <a:fillRect/>
          </a:stretch>
        </p:blipFill>
        <p:spPr>
          <a:xfrm>
            <a:off x="548640" y="1737360"/>
            <a:ext cx="6766560" cy="2647446"/>
          </a:xfrm>
          <a:prstGeom prst="rect">
            <a:avLst/>
          </a:prstGeom>
        </p:spPr>
      </p:pic>
      <p:sp>
        <p:nvSpPr>
          <p:cNvPr id="6" name="Text 3"/>
          <p:cNvSpPr txBox="1"/>
          <p:nvPr/>
        </p:nvSpPr>
        <p:spPr>
          <a:xfrm>
            <a:off x="7680960" y="1737360"/>
            <a:ext cx="3931920" cy="29260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Counted in the database</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JPQL GROUP BY, SUM and AVG - Java gets a few small rows, not every booking.</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1F2937"/>
                </a:solidFill>
                <a:latin typeface="Calibri" pitchFamily="34" charset="0"/>
                <a:ea typeface="Calibri" pitchFamily="34" charset="-122"/>
                <a:cs typeface="Calibri" pitchFamily="34" charset="-120"/>
              </a:rPr>
              <a:t>Cached for 60 seconds</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@Cacheable + Caffeine: repeated views do not touch MySQL. Seat counts are never cached.</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1F2937"/>
                </a:solidFill>
                <a:latin typeface="Calibri" pitchFamily="34" charset="0"/>
                <a:ea typeface="Calibri" pitchFamily="34" charset="-122"/>
                <a:cs typeface="Calibri" pitchFamily="34" charset="-120"/>
              </a:rPr>
              <a:t>Drawn with Recharts</a:t>
            </a:r>
            <a:endParaRPr lang="en-US" sz="1400" dirty="0"/>
          </a:p>
          <a:p>
            <a:pPr indent="0" marL="0">
              <a:buNone/>
            </a:pPr>
            <a:r>
              <a:rPr lang="en-US" sz="1400" dirty="0">
                <a:solidFill>
                  <a:srgbClr val="1F2937"/>
                </a:solidFill>
                <a:latin typeface="Calibri" pitchFamily="34" charset="0"/>
                <a:ea typeface="Calibri" pitchFamily="34" charset="-122"/>
                <a:cs typeface="Calibri" pitchFamily="34" charset="-120"/>
              </a:rPr>
              <a:t>Bar charts with hover tooltips, a table view for screen readers, light and dark colours checked for contrast.</a:t>
            </a:r>
            <a:endParaRPr lang="en-US" sz="1400" dirty="0"/>
          </a:p>
        </p:txBody>
      </p:sp>
      <p:sp>
        <p:nvSpPr>
          <p:cNvPr id="7" name="Text 4"/>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Security</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The page only hides buttons - the server protects every action</a:t>
            </a:r>
            <a:endParaRPr lang="en-US" sz="1600" dirty="0"/>
          </a:p>
        </p:txBody>
      </p:sp>
      <p:sp>
        <p:nvSpPr>
          <p:cNvPr id="4" name="Shape 2"/>
          <p:cNvSpPr/>
          <p:nvPr/>
        </p:nvSpPr>
        <p:spPr>
          <a:xfrm>
            <a:off x="548640" y="1645920"/>
            <a:ext cx="530352" cy="530352"/>
          </a:xfrm>
          <a:prstGeom prst="ellipse">
            <a:avLst/>
          </a:prstGeom>
          <a:solidFill>
            <a:srgbClr val="4F46E5"/>
          </a:solidFill>
          <a:ln w="12700">
            <a:solidFill>
              <a:srgbClr val="4F46E5"/>
            </a:solidFill>
            <a:prstDash val="solid"/>
          </a:ln>
        </p:spPr>
      </p:sp>
      <p:pic>
        <p:nvPicPr>
          <p:cNvPr id="5" name="Image 0" descr="preencoded.png">    </p:cNvPr>
          <p:cNvPicPr>
            <a:picLocks noChangeAspect="1"/>
          </p:cNvPicPr>
          <p:nvPr/>
        </p:nvPicPr>
        <p:blipFill>
          <a:blip r:embed="rId1"/>
          <a:stretch>
            <a:fillRect/>
          </a:stretch>
        </p:blipFill>
        <p:spPr>
          <a:xfrm>
            <a:off x="675924" y="1773204"/>
            <a:ext cx="275783" cy="275783"/>
          </a:xfrm>
          <a:prstGeom prst="rect">
            <a:avLst/>
          </a:prstGeom>
        </p:spPr>
      </p:pic>
      <p:sp>
        <p:nvSpPr>
          <p:cNvPr id="6" name="Text 3"/>
          <p:cNvSpPr txBox="1"/>
          <p:nvPr/>
        </p:nvSpPr>
        <p:spPr>
          <a:xfrm>
            <a:off x="1234440" y="1591056"/>
            <a:ext cx="5120640" cy="658368"/>
          </a:xfrm>
          <a:prstGeom prst="rect">
            <a:avLst/>
          </a:prstGeom>
          <a:noFill/>
          <a:ln/>
        </p:spPr>
        <p:txBody>
          <a:bodyPr wrap="square" lIns="0" tIns="0" rIns="0" bIns="0" rtlCol="0" anchor="ctr"/>
          <a:lstStyle/>
          <a:p>
            <a:pPr indent="0" marL="0">
              <a:buNone/>
            </a:pPr>
            <a:r>
              <a:rPr lang="en-US" sz="1400" b="1" dirty="0">
                <a:solidFill>
                  <a:srgbClr val="1E1B4B"/>
                </a:solidFill>
                <a:latin typeface="Calibri" pitchFamily="34" charset="0"/>
                <a:ea typeface="Calibri" pitchFamily="34" charset="-122"/>
                <a:cs typeface="Calibri" pitchFamily="34" charset="-120"/>
              </a:rPr>
              <a:t>Passwords hashed with BCrypt</a:t>
            </a:r>
            <a:endParaRPr lang="en-US" sz="1400" dirty="0"/>
          </a:p>
          <a:p>
            <a:pPr indent="0" marL="0">
              <a:buNone/>
            </a:pPr>
            <a:r>
              <a:rPr lang="en-US" sz="1400" dirty="0">
                <a:solidFill>
                  <a:srgbClr val="6B7280"/>
                </a:solidFill>
                <a:latin typeface="Calibri" pitchFamily="34" charset="0"/>
                <a:ea typeface="Calibri" pitchFamily="34" charset="-122"/>
                <a:cs typeface="Calibri" pitchFamily="34" charset="-120"/>
              </a:rPr>
              <a:t>never stored as plain text</a:t>
            </a:r>
            <a:endParaRPr lang="en-US" sz="1400" dirty="0"/>
          </a:p>
        </p:txBody>
      </p:sp>
      <p:sp>
        <p:nvSpPr>
          <p:cNvPr id="7" name="Shape 4"/>
          <p:cNvSpPr/>
          <p:nvPr/>
        </p:nvSpPr>
        <p:spPr>
          <a:xfrm>
            <a:off x="548640" y="2377440"/>
            <a:ext cx="530352" cy="530352"/>
          </a:xfrm>
          <a:prstGeom prst="ellipse">
            <a:avLst/>
          </a:prstGeom>
          <a:solidFill>
            <a:srgbClr val="4F46E5"/>
          </a:solidFill>
          <a:ln w="12700">
            <a:solidFill>
              <a:srgbClr val="4F46E5"/>
            </a:solidFill>
            <a:prstDash val="solid"/>
          </a:ln>
        </p:spPr>
      </p:sp>
      <p:pic>
        <p:nvPicPr>
          <p:cNvPr id="8" name="Image 1" descr="preencoded.png">    </p:cNvPr>
          <p:cNvPicPr>
            <a:picLocks noChangeAspect="1"/>
          </p:cNvPicPr>
          <p:nvPr/>
        </p:nvPicPr>
        <p:blipFill>
          <a:blip r:embed="rId2"/>
          <a:stretch>
            <a:fillRect/>
          </a:stretch>
        </p:blipFill>
        <p:spPr>
          <a:xfrm>
            <a:off x="675924" y="2504724"/>
            <a:ext cx="275783" cy="275783"/>
          </a:xfrm>
          <a:prstGeom prst="rect">
            <a:avLst/>
          </a:prstGeom>
        </p:spPr>
      </p:pic>
      <p:sp>
        <p:nvSpPr>
          <p:cNvPr id="9" name="Text 5"/>
          <p:cNvSpPr txBox="1"/>
          <p:nvPr/>
        </p:nvSpPr>
        <p:spPr>
          <a:xfrm>
            <a:off x="1234440" y="2322576"/>
            <a:ext cx="5120640" cy="658368"/>
          </a:xfrm>
          <a:prstGeom prst="rect">
            <a:avLst/>
          </a:prstGeom>
          <a:noFill/>
          <a:ln/>
        </p:spPr>
        <p:txBody>
          <a:bodyPr wrap="square" lIns="0" tIns="0" rIns="0" bIns="0" rtlCol="0" anchor="ctr"/>
          <a:lstStyle/>
          <a:p>
            <a:pPr indent="0" marL="0">
              <a:buNone/>
            </a:pPr>
            <a:r>
              <a:rPr lang="en-US" sz="1400" b="1" dirty="0">
                <a:solidFill>
                  <a:srgbClr val="1E1B4B"/>
                </a:solidFill>
                <a:latin typeface="Calibri" pitchFamily="34" charset="0"/>
                <a:ea typeface="Calibri" pitchFamily="34" charset="-122"/>
                <a:cs typeface="Calibri" pitchFamily="34" charset="-120"/>
              </a:rPr>
              <a:t>JWT in an httpOnly cookie</a:t>
            </a:r>
            <a:endParaRPr lang="en-US" sz="1400" dirty="0"/>
          </a:p>
          <a:p>
            <a:pPr indent="0" marL="0">
              <a:buNone/>
            </a:pPr>
            <a:r>
              <a:rPr lang="en-US" sz="1400" dirty="0">
                <a:solidFill>
                  <a:srgbClr val="6B7280"/>
                </a:solidFill>
                <a:latin typeface="Calibri" pitchFamily="34" charset="0"/>
                <a:ea typeface="Calibri" pitchFamily="34" charset="-122"/>
                <a:cs typeface="Calibri" pitchFamily="34" charset="-120"/>
              </a:rPr>
              <a:t>JavaScript cannot read it, so a script cannot steal it</a:t>
            </a:r>
            <a:endParaRPr lang="en-US" sz="1400" dirty="0"/>
          </a:p>
        </p:txBody>
      </p:sp>
      <p:sp>
        <p:nvSpPr>
          <p:cNvPr id="10" name="Shape 6"/>
          <p:cNvSpPr/>
          <p:nvPr/>
        </p:nvSpPr>
        <p:spPr>
          <a:xfrm>
            <a:off x="548640" y="3108960"/>
            <a:ext cx="530352" cy="530352"/>
          </a:xfrm>
          <a:prstGeom prst="ellipse">
            <a:avLst/>
          </a:prstGeom>
          <a:solidFill>
            <a:srgbClr val="4F46E5"/>
          </a:solidFill>
          <a:ln w="12700">
            <a:solidFill>
              <a:srgbClr val="4F46E5"/>
            </a:solidFill>
            <a:prstDash val="solid"/>
          </a:ln>
        </p:spPr>
      </p:sp>
      <p:pic>
        <p:nvPicPr>
          <p:cNvPr id="11" name="Image 2" descr="preencoded.png">    </p:cNvPr>
          <p:cNvPicPr>
            <a:picLocks noChangeAspect="1"/>
          </p:cNvPicPr>
          <p:nvPr/>
        </p:nvPicPr>
        <p:blipFill>
          <a:blip r:embed="rId3"/>
          <a:stretch>
            <a:fillRect/>
          </a:stretch>
        </p:blipFill>
        <p:spPr>
          <a:xfrm>
            <a:off x="675924" y="3236244"/>
            <a:ext cx="275783" cy="275783"/>
          </a:xfrm>
          <a:prstGeom prst="rect">
            <a:avLst/>
          </a:prstGeom>
        </p:spPr>
      </p:pic>
      <p:sp>
        <p:nvSpPr>
          <p:cNvPr id="12" name="Text 7"/>
          <p:cNvSpPr txBox="1"/>
          <p:nvPr/>
        </p:nvSpPr>
        <p:spPr>
          <a:xfrm>
            <a:off x="1234440" y="3054096"/>
            <a:ext cx="5120640" cy="658368"/>
          </a:xfrm>
          <a:prstGeom prst="rect">
            <a:avLst/>
          </a:prstGeom>
          <a:noFill/>
          <a:ln/>
        </p:spPr>
        <p:txBody>
          <a:bodyPr wrap="square" lIns="0" tIns="0" rIns="0" bIns="0" rtlCol="0" anchor="ctr"/>
          <a:lstStyle/>
          <a:p>
            <a:pPr indent="0" marL="0">
              <a:buNone/>
            </a:pPr>
            <a:r>
              <a:rPr lang="en-US" sz="1400" b="1" dirty="0">
                <a:solidFill>
                  <a:srgbClr val="1E1B4B"/>
                </a:solidFill>
                <a:latin typeface="Calibri" pitchFamily="34" charset="0"/>
                <a:ea typeface="Calibri" pitchFamily="34" charset="-122"/>
                <a:cs typeface="Calibri" pitchFamily="34" charset="-120"/>
              </a:rPr>
              <a:t>CSRF protection</a:t>
            </a:r>
            <a:endParaRPr lang="en-US" sz="1400" dirty="0"/>
          </a:p>
          <a:p>
            <a:pPr indent="0" marL="0">
              <a:buNone/>
            </a:pPr>
            <a:r>
              <a:rPr lang="en-US" sz="1400" dirty="0">
                <a:solidFill>
                  <a:srgbClr val="6B7280"/>
                </a:solidFill>
                <a:latin typeface="Calibri" pitchFamily="34" charset="0"/>
                <a:ea typeface="Calibri" pitchFamily="34" charset="-122"/>
                <a:cs typeface="Calibri" pitchFamily="34" charset="-120"/>
              </a:rPr>
              <a:t>other websites cannot send requests as you</a:t>
            </a:r>
            <a:endParaRPr lang="en-US" sz="1400" dirty="0"/>
          </a:p>
        </p:txBody>
      </p:sp>
      <p:sp>
        <p:nvSpPr>
          <p:cNvPr id="13" name="Shape 8"/>
          <p:cNvSpPr/>
          <p:nvPr/>
        </p:nvSpPr>
        <p:spPr>
          <a:xfrm>
            <a:off x="548640" y="3840480"/>
            <a:ext cx="530352" cy="530352"/>
          </a:xfrm>
          <a:prstGeom prst="ellipse">
            <a:avLst/>
          </a:prstGeom>
          <a:solidFill>
            <a:srgbClr val="4F46E5"/>
          </a:solidFill>
          <a:ln w="12700">
            <a:solidFill>
              <a:srgbClr val="4F46E5"/>
            </a:solidFill>
            <a:prstDash val="solid"/>
          </a:ln>
        </p:spPr>
      </p:sp>
      <p:pic>
        <p:nvPicPr>
          <p:cNvPr id="14" name="Image 3" descr="preencoded.png">    </p:cNvPr>
          <p:cNvPicPr>
            <a:picLocks noChangeAspect="1"/>
          </p:cNvPicPr>
          <p:nvPr/>
        </p:nvPicPr>
        <p:blipFill>
          <a:blip r:embed="rId4"/>
          <a:stretch>
            <a:fillRect/>
          </a:stretch>
        </p:blipFill>
        <p:spPr>
          <a:xfrm>
            <a:off x="675924" y="3967764"/>
            <a:ext cx="275783" cy="275783"/>
          </a:xfrm>
          <a:prstGeom prst="rect">
            <a:avLst/>
          </a:prstGeom>
        </p:spPr>
      </p:pic>
      <p:sp>
        <p:nvSpPr>
          <p:cNvPr id="15" name="Text 9"/>
          <p:cNvSpPr txBox="1"/>
          <p:nvPr/>
        </p:nvSpPr>
        <p:spPr>
          <a:xfrm>
            <a:off x="1234440" y="3785616"/>
            <a:ext cx="5120640" cy="658368"/>
          </a:xfrm>
          <a:prstGeom prst="rect">
            <a:avLst/>
          </a:prstGeom>
          <a:noFill/>
          <a:ln/>
        </p:spPr>
        <p:txBody>
          <a:bodyPr wrap="square" lIns="0" tIns="0" rIns="0" bIns="0" rtlCol="0" anchor="ctr"/>
          <a:lstStyle/>
          <a:p>
            <a:pPr indent="0" marL="0">
              <a:buNone/>
            </a:pPr>
            <a:r>
              <a:rPr lang="en-US" sz="1400" b="1" dirty="0">
                <a:solidFill>
                  <a:srgbClr val="1E1B4B"/>
                </a:solidFill>
                <a:latin typeface="Calibri" pitchFamily="34" charset="0"/>
                <a:ea typeface="Calibri" pitchFamily="34" charset="-122"/>
                <a:cs typeface="Calibri" pitchFamily="34" charset="-120"/>
              </a:rPr>
              <a:t>Roles checked on every request</a:t>
            </a:r>
            <a:endParaRPr lang="en-US" sz="1400" dirty="0"/>
          </a:p>
          <a:p>
            <a:pPr indent="0" marL="0">
              <a:buNone/>
            </a:pPr>
            <a:r>
              <a:rPr lang="en-US" sz="1400" dirty="0">
                <a:solidFill>
                  <a:srgbClr val="6B7280"/>
                </a:solidFill>
                <a:latin typeface="Calibri" pitchFamily="34" charset="0"/>
                <a:ea typeface="Calibri" pitchFamily="34" charset="-122"/>
                <a:cs typeface="Calibri" pitchFamily="34" charset="-120"/>
              </a:rPr>
              <a:t>club roles read from the database each time → 403</a:t>
            </a:r>
            <a:endParaRPr lang="en-US" sz="1400" dirty="0"/>
          </a:p>
        </p:txBody>
      </p:sp>
      <p:sp>
        <p:nvSpPr>
          <p:cNvPr id="16" name="Shape 10"/>
          <p:cNvSpPr/>
          <p:nvPr/>
        </p:nvSpPr>
        <p:spPr>
          <a:xfrm>
            <a:off x="548640" y="4572000"/>
            <a:ext cx="530352" cy="530352"/>
          </a:xfrm>
          <a:prstGeom prst="ellipse">
            <a:avLst/>
          </a:prstGeom>
          <a:solidFill>
            <a:srgbClr val="4F46E5"/>
          </a:solidFill>
          <a:ln w="12700">
            <a:solidFill>
              <a:srgbClr val="4F46E5"/>
            </a:solidFill>
            <a:prstDash val="solid"/>
          </a:ln>
        </p:spPr>
      </p:sp>
      <p:pic>
        <p:nvPicPr>
          <p:cNvPr id="17" name="Image 4" descr="preencoded.png">    </p:cNvPr>
          <p:cNvPicPr>
            <a:picLocks noChangeAspect="1"/>
          </p:cNvPicPr>
          <p:nvPr/>
        </p:nvPicPr>
        <p:blipFill>
          <a:blip r:embed="rId5"/>
          <a:stretch>
            <a:fillRect/>
          </a:stretch>
        </p:blipFill>
        <p:spPr>
          <a:xfrm>
            <a:off x="675924" y="4699284"/>
            <a:ext cx="275783" cy="275783"/>
          </a:xfrm>
          <a:prstGeom prst="rect">
            <a:avLst/>
          </a:prstGeom>
        </p:spPr>
      </p:pic>
      <p:sp>
        <p:nvSpPr>
          <p:cNvPr id="18" name="Text 11"/>
          <p:cNvSpPr txBox="1"/>
          <p:nvPr/>
        </p:nvSpPr>
        <p:spPr>
          <a:xfrm>
            <a:off x="1234440" y="4517136"/>
            <a:ext cx="5120640" cy="658368"/>
          </a:xfrm>
          <a:prstGeom prst="rect">
            <a:avLst/>
          </a:prstGeom>
          <a:noFill/>
          <a:ln/>
        </p:spPr>
        <p:txBody>
          <a:bodyPr wrap="square" lIns="0" tIns="0" rIns="0" bIns="0" rtlCol="0" anchor="ctr"/>
          <a:lstStyle/>
          <a:p>
            <a:pPr indent="0" marL="0">
              <a:buNone/>
            </a:pPr>
            <a:r>
              <a:rPr lang="en-US" sz="1400" b="1" dirty="0">
                <a:solidFill>
                  <a:srgbClr val="1E1B4B"/>
                </a:solidFill>
                <a:latin typeface="Calibri" pitchFamily="34" charset="0"/>
                <a:ea typeface="Calibri" pitchFamily="34" charset="-122"/>
                <a:cs typeface="Calibri" pitchFamily="34" charset="-120"/>
              </a:rPr>
              <a:t>Login lock</a:t>
            </a:r>
            <a:endParaRPr lang="en-US" sz="1400" dirty="0"/>
          </a:p>
          <a:p>
            <a:pPr indent="0" marL="0">
              <a:buNone/>
            </a:pPr>
            <a:r>
              <a:rPr lang="en-US" sz="1400" dirty="0">
                <a:solidFill>
                  <a:srgbClr val="6B7280"/>
                </a:solidFill>
                <a:latin typeface="Calibri" pitchFamily="34" charset="0"/>
                <a:ea typeface="Calibri" pitchFamily="34" charset="-122"/>
                <a:cs typeface="Calibri" pitchFamily="34" charset="-120"/>
              </a:rPr>
              <a:t>5 wrong passwords → 15 minutes locked (HTTP 429)</a:t>
            </a:r>
            <a:endParaRPr lang="en-US" sz="1400" dirty="0"/>
          </a:p>
        </p:txBody>
      </p:sp>
      <p:sp>
        <p:nvSpPr>
          <p:cNvPr id="19" name="Shape 12"/>
          <p:cNvSpPr/>
          <p:nvPr/>
        </p:nvSpPr>
        <p:spPr>
          <a:xfrm>
            <a:off x="548640" y="5303520"/>
            <a:ext cx="530352" cy="530352"/>
          </a:xfrm>
          <a:prstGeom prst="ellipse">
            <a:avLst/>
          </a:prstGeom>
          <a:solidFill>
            <a:srgbClr val="4F46E5"/>
          </a:solidFill>
          <a:ln w="12700">
            <a:solidFill>
              <a:srgbClr val="4F46E5"/>
            </a:solidFill>
            <a:prstDash val="solid"/>
          </a:ln>
        </p:spPr>
      </p:sp>
      <p:pic>
        <p:nvPicPr>
          <p:cNvPr id="20" name="Image 5" descr="preencoded.png">    </p:cNvPr>
          <p:cNvPicPr>
            <a:picLocks noChangeAspect="1"/>
          </p:cNvPicPr>
          <p:nvPr/>
        </p:nvPicPr>
        <p:blipFill>
          <a:blip r:embed="rId6"/>
          <a:stretch>
            <a:fillRect/>
          </a:stretch>
        </p:blipFill>
        <p:spPr>
          <a:xfrm>
            <a:off x="675924" y="5430804"/>
            <a:ext cx="275783" cy="275783"/>
          </a:xfrm>
          <a:prstGeom prst="rect">
            <a:avLst/>
          </a:prstGeom>
        </p:spPr>
      </p:pic>
      <p:sp>
        <p:nvSpPr>
          <p:cNvPr id="21" name="Text 13"/>
          <p:cNvSpPr txBox="1"/>
          <p:nvPr/>
        </p:nvSpPr>
        <p:spPr>
          <a:xfrm>
            <a:off x="1234440" y="5248656"/>
            <a:ext cx="5120640" cy="658368"/>
          </a:xfrm>
          <a:prstGeom prst="rect">
            <a:avLst/>
          </a:prstGeom>
          <a:noFill/>
          <a:ln/>
        </p:spPr>
        <p:txBody>
          <a:bodyPr wrap="square" lIns="0" tIns="0" rIns="0" bIns="0" rtlCol="0" anchor="ctr"/>
          <a:lstStyle/>
          <a:p>
            <a:pPr indent="0" marL="0">
              <a:buNone/>
            </a:pPr>
            <a:r>
              <a:rPr lang="en-US" sz="1400" b="1" dirty="0">
                <a:solidFill>
                  <a:srgbClr val="1E1B4B"/>
                </a:solidFill>
                <a:latin typeface="Calibri" pitchFamily="34" charset="0"/>
                <a:ea typeface="Calibri" pitchFamily="34" charset="-122"/>
                <a:cs typeface="Calibri" pitchFamily="34" charset="-120"/>
              </a:rPr>
              <a:t>Audit log + admin-only tools</a:t>
            </a:r>
            <a:endParaRPr lang="en-US" sz="1400" dirty="0"/>
          </a:p>
          <a:p>
            <a:pPr indent="0" marL="0">
              <a:buNone/>
            </a:pPr>
            <a:r>
              <a:rPr lang="en-US" sz="1400" dirty="0">
                <a:solidFill>
                  <a:srgbClr val="6B7280"/>
                </a:solidFill>
                <a:latin typeface="Calibri" pitchFamily="34" charset="0"/>
                <a:ea typeface="Calibri" pitchFamily="34" charset="-122"/>
                <a:cs typeface="Calibri" pitchFamily="34" charset="-120"/>
              </a:rPr>
              <a:t>Swagger and Actuator for the admin only</a:t>
            </a:r>
            <a:endParaRPr lang="en-US" sz="1400" dirty="0"/>
          </a:p>
        </p:txBody>
      </p:sp>
      <p:sp>
        <p:nvSpPr>
          <p:cNvPr id="22" name="Shape 14"/>
          <p:cNvSpPr/>
          <p:nvPr/>
        </p:nvSpPr>
        <p:spPr>
          <a:xfrm>
            <a:off x="6620256" y="1682496"/>
            <a:ext cx="5047488" cy="2041648"/>
          </a:xfrm>
          <a:prstGeom prst="roundRect">
            <a:avLst>
              <a:gd name="adj" fmla="val 5374"/>
            </a:avLst>
          </a:prstGeom>
          <a:solidFill>
            <a:srgbClr val="1E1B4B"/>
          </a:solidFill>
          <a:ln w="12700">
            <a:solidFill>
              <a:srgbClr val="1E1B4B"/>
            </a:solidFill>
            <a:prstDash val="solid"/>
          </a:ln>
          <a:effectLst>
            <a:outerShdw sx="100000" sy="100000" kx="0" ky="0" algn="bl" rotWithShape="0" blurRad="101600" dist="38100" dir="5400000">
              <a:srgbClr val="000000">
                <a:alpha val="25000"/>
              </a:srgbClr>
            </a:outerShdw>
          </a:effectLst>
        </p:spPr>
      </p:sp>
      <p:pic>
        <p:nvPicPr>
          <p:cNvPr id="23" name="Image 6" descr="D:/Java_FullStack_Journey/02_EventHub_Practice_Project/Showcase/screenshots/27-security-blocked.png">    </p:cNvPr>
          <p:cNvPicPr>
            <a:picLocks noChangeAspect="1"/>
          </p:cNvPicPr>
          <p:nvPr/>
        </p:nvPicPr>
        <p:blipFill>
          <a:blip r:embed="rId7"/>
          <a:stretch>
            <a:fillRect/>
          </a:stretch>
        </p:blipFill>
        <p:spPr>
          <a:xfrm>
            <a:off x="6675120" y="1737360"/>
            <a:ext cx="4937760" cy="1931920"/>
          </a:xfrm>
          <a:prstGeom prst="rect">
            <a:avLst/>
          </a:prstGeom>
        </p:spPr>
      </p:pic>
      <p:sp>
        <p:nvSpPr>
          <p:cNvPr id="24" name="Text 15"/>
          <p:cNvSpPr txBox="1"/>
          <p:nvPr/>
        </p:nvSpPr>
        <p:spPr>
          <a:xfrm>
            <a:off x="6675120" y="3852160"/>
            <a:ext cx="4937760" cy="731520"/>
          </a:xfrm>
          <a:prstGeom prst="rect">
            <a:avLst/>
          </a:prstGeom>
          <a:noFill/>
          <a:ln/>
        </p:spPr>
        <p:txBody>
          <a:bodyPr wrap="square" lIns="0" tIns="0" rIns="0" bIns="0" rtlCol="0" anchor="ctr"/>
          <a:lstStyle/>
          <a:p>
            <a:pPr indent="0" marL="0">
              <a:buNone/>
            </a:pPr>
            <a:r>
              <a:rPr lang="en-US" sz="1400" i="1" dirty="0">
                <a:solidFill>
                  <a:srgbClr val="1F2937"/>
                </a:solidFill>
                <a:latin typeface="Calibri" pitchFamily="34" charset="0"/>
                <a:ea typeface="Calibri" pitchFamily="34" charset="-122"/>
                <a:cs typeface="Calibri" pitchFamily="34" charset="-120"/>
              </a:rPr>
              <a:t>Kavya (organizer of another club) opens the admin area: blocked. The API answers 403 Forbidden too.</a:t>
            </a:r>
            <a:endParaRPr lang="en-US" sz="1400" dirty="0"/>
          </a:p>
        </p:txBody>
      </p:sp>
      <p:sp>
        <p:nvSpPr>
          <p:cNvPr id="25" name="Text 16"/>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Testing and quality</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Every push to GitHub runs all tests automatically (GitHub Actions)</a:t>
            </a:r>
            <a:endParaRPr lang="en-US" sz="1600" dirty="0"/>
          </a:p>
        </p:txBody>
      </p:sp>
      <p:sp>
        <p:nvSpPr>
          <p:cNvPr id="4" name="Shape 2"/>
          <p:cNvSpPr/>
          <p:nvPr/>
        </p:nvSpPr>
        <p:spPr>
          <a:xfrm>
            <a:off x="548640" y="1645920"/>
            <a:ext cx="3291840" cy="1234440"/>
          </a:xfrm>
          <a:prstGeom prst="roundRect">
            <a:avLst>
              <a:gd name="adj" fmla="val 8889"/>
            </a:avLst>
          </a:prstGeom>
          <a:solidFill>
            <a:srgbClr val="EEF2FF"/>
          </a:solidFill>
          <a:ln w="12700">
            <a:solidFill>
              <a:srgbClr val="EEF2FF"/>
            </a:solidFill>
            <a:prstDash val="solid"/>
          </a:ln>
        </p:spPr>
      </p:sp>
      <p:sp>
        <p:nvSpPr>
          <p:cNvPr id="5" name="Text 3"/>
          <p:cNvSpPr txBox="1"/>
          <p:nvPr/>
        </p:nvSpPr>
        <p:spPr>
          <a:xfrm>
            <a:off x="822960" y="1755648"/>
            <a:ext cx="2834640" cy="731520"/>
          </a:xfrm>
          <a:prstGeom prst="rect">
            <a:avLst/>
          </a:prstGeom>
          <a:noFill/>
          <a:ln/>
        </p:spPr>
        <p:txBody>
          <a:bodyPr wrap="square" lIns="0" tIns="0" rIns="0" bIns="0" rtlCol="0" anchor="ctr"/>
          <a:lstStyle/>
          <a:p>
            <a:pPr indent="0" marL="0">
              <a:buNone/>
            </a:pPr>
            <a:r>
              <a:rPr lang="en-US" sz="4400" b="1" dirty="0">
                <a:solidFill>
                  <a:srgbClr val="4F46E5"/>
                </a:solidFill>
                <a:latin typeface="Arial" pitchFamily="34" charset="0"/>
                <a:ea typeface="Arial" pitchFamily="34" charset="-122"/>
                <a:cs typeface="Arial" pitchFamily="34" charset="-120"/>
              </a:rPr>
              <a:t>133</a:t>
            </a:r>
            <a:endParaRPr lang="en-US" sz="4400" dirty="0"/>
          </a:p>
        </p:txBody>
      </p:sp>
      <p:sp>
        <p:nvSpPr>
          <p:cNvPr id="6" name="Text 4"/>
          <p:cNvSpPr txBox="1"/>
          <p:nvPr/>
        </p:nvSpPr>
        <p:spPr>
          <a:xfrm>
            <a:off x="822960" y="2450592"/>
            <a:ext cx="2834640" cy="3200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backend tests</a:t>
            </a:r>
            <a:endParaRPr lang="en-US" sz="1400" dirty="0"/>
          </a:p>
        </p:txBody>
      </p:sp>
      <p:sp>
        <p:nvSpPr>
          <p:cNvPr id="7" name="Shape 5"/>
          <p:cNvSpPr/>
          <p:nvPr/>
        </p:nvSpPr>
        <p:spPr>
          <a:xfrm>
            <a:off x="548640" y="3063240"/>
            <a:ext cx="3291840" cy="1234440"/>
          </a:xfrm>
          <a:prstGeom prst="roundRect">
            <a:avLst>
              <a:gd name="adj" fmla="val 8889"/>
            </a:avLst>
          </a:prstGeom>
          <a:solidFill>
            <a:srgbClr val="EEF2FF"/>
          </a:solidFill>
          <a:ln w="12700">
            <a:solidFill>
              <a:srgbClr val="EEF2FF"/>
            </a:solidFill>
            <a:prstDash val="solid"/>
          </a:ln>
        </p:spPr>
      </p:sp>
      <p:sp>
        <p:nvSpPr>
          <p:cNvPr id="8" name="Text 6"/>
          <p:cNvSpPr txBox="1"/>
          <p:nvPr/>
        </p:nvSpPr>
        <p:spPr>
          <a:xfrm>
            <a:off x="822960" y="3172968"/>
            <a:ext cx="2834640" cy="731520"/>
          </a:xfrm>
          <a:prstGeom prst="rect">
            <a:avLst/>
          </a:prstGeom>
          <a:noFill/>
          <a:ln/>
        </p:spPr>
        <p:txBody>
          <a:bodyPr wrap="square" lIns="0" tIns="0" rIns="0" bIns="0" rtlCol="0" anchor="ctr"/>
          <a:lstStyle/>
          <a:p>
            <a:pPr indent="0" marL="0">
              <a:buNone/>
            </a:pPr>
            <a:r>
              <a:rPr lang="en-US" sz="4400" b="1" dirty="0">
                <a:solidFill>
                  <a:srgbClr val="4F46E5"/>
                </a:solidFill>
                <a:latin typeface="Arial" pitchFamily="34" charset="0"/>
                <a:ea typeface="Arial" pitchFamily="34" charset="-122"/>
                <a:cs typeface="Arial" pitchFamily="34" charset="-120"/>
              </a:rPr>
              <a:t>13</a:t>
            </a:r>
            <a:endParaRPr lang="en-US" sz="4400" dirty="0"/>
          </a:p>
        </p:txBody>
      </p:sp>
      <p:sp>
        <p:nvSpPr>
          <p:cNvPr id="9" name="Text 7"/>
          <p:cNvSpPr txBox="1"/>
          <p:nvPr/>
        </p:nvSpPr>
        <p:spPr>
          <a:xfrm>
            <a:off x="822960" y="3867912"/>
            <a:ext cx="2834640" cy="3200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React tests</a:t>
            </a:r>
            <a:endParaRPr lang="en-US" sz="1400" dirty="0"/>
          </a:p>
        </p:txBody>
      </p:sp>
      <p:sp>
        <p:nvSpPr>
          <p:cNvPr id="10" name="Shape 8"/>
          <p:cNvSpPr/>
          <p:nvPr/>
        </p:nvSpPr>
        <p:spPr>
          <a:xfrm>
            <a:off x="548640" y="4480560"/>
            <a:ext cx="3291840" cy="1234440"/>
          </a:xfrm>
          <a:prstGeom prst="roundRect">
            <a:avLst>
              <a:gd name="adj" fmla="val 8889"/>
            </a:avLst>
          </a:prstGeom>
          <a:solidFill>
            <a:srgbClr val="FEF3C7"/>
          </a:solidFill>
          <a:ln w="12700">
            <a:solidFill>
              <a:srgbClr val="FEF3C7"/>
            </a:solidFill>
            <a:prstDash val="solid"/>
          </a:ln>
        </p:spPr>
      </p:sp>
      <p:sp>
        <p:nvSpPr>
          <p:cNvPr id="11" name="Text 9"/>
          <p:cNvSpPr txBox="1"/>
          <p:nvPr/>
        </p:nvSpPr>
        <p:spPr>
          <a:xfrm>
            <a:off x="822960" y="4590288"/>
            <a:ext cx="2834640" cy="731520"/>
          </a:xfrm>
          <a:prstGeom prst="rect">
            <a:avLst/>
          </a:prstGeom>
          <a:noFill/>
          <a:ln/>
        </p:spPr>
        <p:txBody>
          <a:bodyPr wrap="square" lIns="0" tIns="0" rIns="0" bIns="0" rtlCol="0" anchor="ctr"/>
          <a:lstStyle/>
          <a:p>
            <a:pPr indent="0" marL="0">
              <a:buNone/>
            </a:pPr>
            <a:r>
              <a:rPr lang="en-US" sz="4400" b="1" dirty="0">
                <a:solidFill>
                  <a:srgbClr val="1E1B4B"/>
                </a:solidFill>
                <a:latin typeface="Arial" pitchFamily="34" charset="0"/>
                <a:ea typeface="Arial" pitchFamily="34" charset="-122"/>
                <a:cs typeface="Arial" pitchFamily="34" charset="-120"/>
              </a:rPr>
              <a:t>91%</a:t>
            </a:r>
            <a:endParaRPr lang="en-US" sz="4400" dirty="0"/>
          </a:p>
        </p:txBody>
      </p:sp>
      <p:sp>
        <p:nvSpPr>
          <p:cNvPr id="12" name="Text 10"/>
          <p:cNvSpPr txBox="1"/>
          <p:nvPr/>
        </p:nvSpPr>
        <p:spPr>
          <a:xfrm>
            <a:off x="822960" y="5285232"/>
            <a:ext cx="2834640" cy="32004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service coverage</a:t>
            </a:r>
            <a:endParaRPr lang="en-US" sz="1400" dirty="0"/>
          </a:p>
        </p:txBody>
      </p:sp>
      <p:graphicFrame>
        <p:nvGraphicFramePr>
          <p:cNvPr id="13" name="Chart 0" descr=""/>
          <p:cNvGraphicFramePr/>
          <p:nvPr/>
        </p:nvGraphicFramePr>
        <p:xfrm>
          <a:off x="4206240" y="1554480"/>
          <a:ext cx="7406640" cy="438912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Hard problems solved</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The lessons I would explain in an interview</a:t>
            </a:r>
            <a:endParaRPr lang="en-US" sz="1600" dirty="0"/>
          </a:p>
        </p:txBody>
      </p:sp>
      <p:sp>
        <p:nvSpPr>
          <p:cNvPr id="4" name="Shape 2"/>
          <p:cNvSpPr/>
          <p:nvPr/>
        </p:nvSpPr>
        <p:spPr>
          <a:xfrm>
            <a:off x="548640" y="1645920"/>
            <a:ext cx="3474720" cy="1965960"/>
          </a:xfrm>
          <a:prstGeom prst="roundRect">
            <a:avLst>
              <a:gd name="adj" fmla="val 5581"/>
            </a:avLst>
          </a:prstGeom>
          <a:solidFill>
            <a:srgbClr val="EEF2FF"/>
          </a:solidFill>
          <a:ln w="12700">
            <a:solidFill>
              <a:srgbClr val="EEF2FF"/>
            </a:solidFill>
            <a:prstDash val="solid"/>
          </a:ln>
        </p:spPr>
      </p:sp>
      <p:sp>
        <p:nvSpPr>
          <p:cNvPr id="5" name="Text 3"/>
          <p:cNvSpPr txBox="1"/>
          <p:nvPr/>
        </p:nvSpPr>
        <p:spPr>
          <a:xfrm>
            <a:off x="822960" y="1828800"/>
            <a:ext cx="2926080" cy="365760"/>
          </a:xfrm>
          <a:prstGeom prst="rect">
            <a:avLst/>
          </a:prstGeom>
          <a:noFill/>
          <a:ln/>
        </p:spPr>
        <p:txBody>
          <a:bodyPr wrap="square" lIns="0" tIns="0" rIns="0" bIns="0" rtlCol="0" anchor="ctr"/>
          <a:lstStyle/>
          <a:p>
            <a:pPr indent="0" marL="0">
              <a:buNone/>
            </a:pPr>
            <a:r>
              <a:rPr lang="en-US" sz="1600" b="1" dirty="0">
                <a:solidFill>
                  <a:srgbClr val="1E1B4B"/>
                </a:solidFill>
                <a:latin typeface="Arial" pitchFamily="34" charset="0"/>
                <a:ea typeface="Arial" pitchFamily="34" charset="-122"/>
                <a:cs typeface="Arial" pitchFamily="34" charset="-120"/>
              </a:rPr>
              <a:t>Last seat race</a:t>
            </a:r>
            <a:endParaRPr lang="en-US" sz="1600" dirty="0"/>
          </a:p>
        </p:txBody>
      </p:sp>
      <p:sp>
        <p:nvSpPr>
          <p:cNvPr id="6" name="Text 4"/>
          <p:cNvSpPr txBox="1"/>
          <p:nvPr/>
        </p:nvSpPr>
        <p:spPr>
          <a:xfrm>
            <a:off x="822960" y="2212848"/>
            <a:ext cx="2926080" cy="36576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100 students, 10 seats</a:t>
            </a:r>
            <a:endParaRPr lang="en-US" sz="1250" dirty="0"/>
          </a:p>
        </p:txBody>
      </p:sp>
      <p:sp>
        <p:nvSpPr>
          <p:cNvPr id="7" name="Text 5"/>
          <p:cNvSpPr txBox="1"/>
          <p:nvPr/>
        </p:nvSpPr>
        <p:spPr>
          <a:xfrm>
            <a:off x="822960" y="2606040"/>
            <a:ext cx="2971800" cy="86868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Fix: Optimistic locking (@Version) + automatic retry</a:t>
            </a:r>
            <a:endParaRPr lang="en-US" sz="1350" dirty="0"/>
          </a:p>
        </p:txBody>
      </p:sp>
      <p:sp>
        <p:nvSpPr>
          <p:cNvPr id="8" name="Shape 6"/>
          <p:cNvSpPr/>
          <p:nvPr/>
        </p:nvSpPr>
        <p:spPr>
          <a:xfrm>
            <a:off x="4297680" y="1645920"/>
            <a:ext cx="3474720" cy="1965960"/>
          </a:xfrm>
          <a:prstGeom prst="roundRect">
            <a:avLst>
              <a:gd name="adj" fmla="val 5581"/>
            </a:avLst>
          </a:prstGeom>
          <a:solidFill>
            <a:srgbClr val="EEF2FF"/>
          </a:solidFill>
          <a:ln w="12700">
            <a:solidFill>
              <a:srgbClr val="EEF2FF"/>
            </a:solidFill>
            <a:prstDash val="solid"/>
          </a:ln>
        </p:spPr>
      </p:sp>
      <p:sp>
        <p:nvSpPr>
          <p:cNvPr id="9" name="Text 7"/>
          <p:cNvSpPr txBox="1"/>
          <p:nvPr/>
        </p:nvSpPr>
        <p:spPr>
          <a:xfrm>
            <a:off x="4572000" y="1828800"/>
            <a:ext cx="2926080" cy="365760"/>
          </a:xfrm>
          <a:prstGeom prst="rect">
            <a:avLst/>
          </a:prstGeom>
          <a:noFill/>
          <a:ln/>
        </p:spPr>
        <p:txBody>
          <a:bodyPr wrap="square" lIns="0" tIns="0" rIns="0" bIns="0" rtlCol="0" anchor="ctr"/>
          <a:lstStyle/>
          <a:p>
            <a:pPr indent="0" marL="0">
              <a:buNone/>
            </a:pPr>
            <a:r>
              <a:rPr lang="en-US" sz="1600" b="1" dirty="0">
                <a:solidFill>
                  <a:srgbClr val="1E1B4B"/>
                </a:solidFill>
                <a:latin typeface="Arial" pitchFamily="34" charset="0"/>
                <a:ea typeface="Arial" pitchFamily="34" charset="-122"/>
                <a:cs typeface="Arial" pitchFamily="34" charset="-120"/>
              </a:rPr>
              <a:t>MySQL deadlock</a:t>
            </a:r>
            <a:endParaRPr lang="en-US" sz="1600" dirty="0"/>
          </a:p>
        </p:txBody>
      </p:sp>
      <p:sp>
        <p:nvSpPr>
          <p:cNvPr id="10" name="Text 8"/>
          <p:cNvSpPr txBox="1"/>
          <p:nvPr/>
        </p:nvSpPr>
        <p:spPr>
          <a:xfrm>
            <a:off x="4572000" y="2212848"/>
            <a:ext cx="2926080" cy="36576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two transactions waiting on each other</a:t>
            </a:r>
            <a:endParaRPr lang="en-US" sz="1250" dirty="0"/>
          </a:p>
        </p:txBody>
      </p:sp>
      <p:sp>
        <p:nvSpPr>
          <p:cNvPr id="11" name="Text 9"/>
          <p:cNvSpPr txBox="1"/>
          <p:nvPr/>
        </p:nvSpPr>
        <p:spPr>
          <a:xfrm>
            <a:off x="4572000" y="2606040"/>
            <a:ext cx="2971800" cy="86868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Fix: Always update the event row first, then insert the booking</a:t>
            </a:r>
            <a:endParaRPr lang="en-US" sz="1350" dirty="0"/>
          </a:p>
        </p:txBody>
      </p:sp>
      <p:sp>
        <p:nvSpPr>
          <p:cNvPr id="12" name="Shape 10"/>
          <p:cNvSpPr/>
          <p:nvPr/>
        </p:nvSpPr>
        <p:spPr>
          <a:xfrm>
            <a:off x="8046720" y="1645920"/>
            <a:ext cx="3474720" cy="1965960"/>
          </a:xfrm>
          <a:prstGeom prst="roundRect">
            <a:avLst>
              <a:gd name="adj" fmla="val 5581"/>
            </a:avLst>
          </a:prstGeom>
          <a:solidFill>
            <a:srgbClr val="EEF2FF"/>
          </a:solidFill>
          <a:ln w="12700">
            <a:solidFill>
              <a:srgbClr val="EEF2FF"/>
            </a:solidFill>
            <a:prstDash val="solid"/>
          </a:ln>
        </p:spPr>
      </p:sp>
      <p:sp>
        <p:nvSpPr>
          <p:cNvPr id="13" name="Text 11"/>
          <p:cNvSpPr txBox="1"/>
          <p:nvPr/>
        </p:nvSpPr>
        <p:spPr>
          <a:xfrm>
            <a:off x="8321040" y="1828800"/>
            <a:ext cx="2926080" cy="365760"/>
          </a:xfrm>
          <a:prstGeom prst="rect">
            <a:avLst/>
          </a:prstGeom>
          <a:noFill/>
          <a:ln/>
        </p:spPr>
        <p:txBody>
          <a:bodyPr wrap="square" lIns="0" tIns="0" rIns="0" bIns="0" rtlCol="0" anchor="ctr"/>
          <a:lstStyle/>
          <a:p>
            <a:pPr indent="0" marL="0">
              <a:buNone/>
            </a:pPr>
            <a:r>
              <a:rPr lang="en-US" sz="1600" b="1" dirty="0">
                <a:solidFill>
                  <a:srgbClr val="1E1B4B"/>
                </a:solidFill>
                <a:latin typeface="Arial" pitchFamily="34" charset="0"/>
                <a:ea typeface="Arial" pitchFamily="34" charset="-122"/>
                <a:cs typeface="Arial" pitchFamily="34" charset="-120"/>
              </a:rPr>
              <a:t>Emails for undone work</a:t>
            </a:r>
            <a:endParaRPr lang="en-US" sz="1600" dirty="0"/>
          </a:p>
        </p:txBody>
      </p:sp>
      <p:sp>
        <p:nvSpPr>
          <p:cNvPr id="14" name="Text 12"/>
          <p:cNvSpPr txBox="1"/>
          <p:nvPr/>
        </p:nvSpPr>
        <p:spPr>
          <a:xfrm>
            <a:off x="8321040" y="2212848"/>
            <a:ext cx="2926080" cy="36576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mail sent, then the change rolled back</a:t>
            </a:r>
            <a:endParaRPr lang="en-US" sz="1250" dirty="0"/>
          </a:p>
        </p:txBody>
      </p:sp>
      <p:sp>
        <p:nvSpPr>
          <p:cNvPr id="15" name="Text 13"/>
          <p:cNvSpPr txBox="1"/>
          <p:nvPr/>
        </p:nvSpPr>
        <p:spPr>
          <a:xfrm>
            <a:off x="8321040" y="2606040"/>
            <a:ext cx="2971800" cy="86868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Fix: Save the message in the same transaction; send only after commit</a:t>
            </a:r>
            <a:endParaRPr lang="en-US" sz="1350" dirty="0"/>
          </a:p>
        </p:txBody>
      </p:sp>
      <p:sp>
        <p:nvSpPr>
          <p:cNvPr id="16" name="Shape 14"/>
          <p:cNvSpPr/>
          <p:nvPr/>
        </p:nvSpPr>
        <p:spPr>
          <a:xfrm>
            <a:off x="548640" y="3840480"/>
            <a:ext cx="3474720" cy="1965960"/>
          </a:xfrm>
          <a:prstGeom prst="roundRect">
            <a:avLst>
              <a:gd name="adj" fmla="val 5581"/>
            </a:avLst>
          </a:prstGeom>
          <a:solidFill>
            <a:srgbClr val="FEF3C7"/>
          </a:solidFill>
          <a:ln w="12700">
            <a:solidFill>
              <a:srgbClr val="FEF3C7"/>
            </a:solidFill>
            <a:prstDash val="solid"/>
          </a:ln>
        </p:spPr>
      </p:sp>
      <p:sp>
        <p:nvSpPr>
          <p:cNvPr id="17" name="Text 15"/>
          <p:cNvSpPr txBox="1"/>
          <p:nvPr/>
        </p:nvSpPr>
        <p:spPr>
          <a:xfrm>
            <a:off x="822960" y="4023360"/>
            <a:ext cx="2926080" cy="365760"/>
          </a:xfrm>
          <a:prstGeom prst="rect">
            <a:avLst/>
          </a:prstGeom>
          <a:noFill/>
          <a:ln/>
        </p:spPr>
        <p:txBody>
          <a:bodyPr wrap="square" lIns="0" tIns="0" rIns="0" bIns="0" rtlCol="0" anchor="ctr"/>
          <a:lstStyle/>
          <a:p>
            <a:pPr indent="0" marL="0">
              <a:buNone/>
            </a:pPr>
            <a:r>
              <a:rPr lang="en-US" sz="1600" b="1" dirty="0">
                <a:solidFill>
                  <a:srgbClr val="1E1B4B"/>
                </a:solidFill>
                <a:latin typeface="Arial" pitchFamily="34" charset="0"/>
                <a:ea typeface="Arial" pitchFamily="34" charset="-122"/>
                <a:cs typeface="Arial" pitchFamily="34" charset="-120"/>
              </a:rPr>
              <a:t>Stale snapshot</a:t>
            </a:r>
            <a:endParaRPr lang="en-US" sz="1600" dirty="0"/>
          </a:p>
        </p:txBody>
      </p:sp>
      <p:sp>
        <p:nvSpPr>
          <p:cNvPr id="18" name="Text 16"/>
          <p:cNvSpPr txBox="1"/>
          <p:nvPr/>
        </p:nvSpPr>
        <p:spPr>
          <a:xfrm>
            <a:off x="822960" y="4407408"/>
            <a:ext cx="2926080" cy="36576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REPEATABLE READ kept showing "unused"</a:t>
            </a:r>
            <a:endParaRPr lang="en-US" sz="1250" dirty="0"/>
          </a:p>
        </p:txBody>
      </p:sp>
      <p:sp>
        <p:nvSpPr>
          <p:cNvPr id="19" name="Text 17"/>
          <p:cNvSpPr txBox="1"/>
          <p:nvPr/>
        </p:nvSpPr>
        <p:spPr>
          <a:xfrm>
            <a:off x="822960" y="4800600"/>
            <a:ext cx="2971800" cy="86868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Fix: Answer from the UPDATE result instead of reading again</a:t>
            </a:r>
            <a:endParaRPr lang="en-US" sz="1350" dirty="0"/>
          </a:p>
        </p:txBody>
      </p:sp>
      <p:sp>
        <p:nvSpPr>
          <p:cNvPr id="20" name="Shape 18"/>
          <p:cNvSpPr/>
          <p:nvPr/>
        </p:nvSpPr>
        <p:spPr>
          <a:xfrm>
            <a:off x="4297680" y="3840480"/>
            <a:ext cx="3474720" cy="1965960"/>
          </a:xfrm>
          <a:prstGeom prst="roundRect">
            <a:avLst>
              <a:gd name="adj" fmla="val 5581"/>
            </a:avLst>
          </a:prstGeom>
          <a:solidFill>
            <a:srgbClr val="FEF3C7"/>
          </a:solidFill>
          <a:ln w="12700">
            <a:solidFill>
              <a:srgbClr val="FEF3C7"/>
            </a:solidFill>
            <a:prstDash val="solid"/>
          </a:ln>
        </p:spPr>
      </p:sp>
      <p:sp>
        <p:nvSpPr>
          <p:cNvPr id="21" name="Text 19"/>
          <p:cNvSpPr txBox="1"/>
          <p:nvPr/>
        </p:nvSpPr>
        <p:spPr>
          <a:xfrm>
            <a:off x="4572000" y="4023360"/>
            <a:ext cx="2926080" cy="365760"/>
          </a:xfrm>
          <a:prstGeom prst="rect">
            <a:avLst/>
          </a:prstGeom>
          <a:noFill/>
          <a:ln/>
        </p:spPr>
        <p:txBody>
          <a:bodyPr wrap="square" lIns="0" tIns="0" rIns="0" bIns="0" rtlCol="0" anchor="ctr"/>
          <a:lstStyle/>
          <a:p>
            <a:pPr indent="0" marL="0">
              <a:buNone/>
            </a:pPr>
            <a:r>
              <a:rPr lang="en-US" sz="1600" b="1" dirty="0">
                <a:solidFill>
                  <a:srgbClr val="1E1B4B"/>
                </a:solidFill>
                <a:latin typeface="Arial" pitchFamily="34" charset="0"/>
                <a:ea typeface="Arial" pitchFamily="34" charset="-122"/>
                <a:cs typeface="Arial" pitchFamily="34" charset="-120"/>
              </a:rPr>
              <a:t>Flaky JWT test</a:t>
            </a:r>
            <a:endParaRPr lang="en-US" sz="1600" dirty="0"/>
          </a:p>
        </p:txBody>
      </p:sp>
      <p:sp>
        <p:nvSpPr>
          <p:cNvPr id="22" name="Text 20"/>
          <p:cNvSpPr txBox="1"/>
          <p:nvPr/>
        </p:nvSpPr>
        <p:spPr>
          <a:xfrm>
            <a:off x="4572000" y="4407408"/>
            <a:ext cx="2926080" cy="36576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failed 1 run in 16</a:t>
            </a:r>
            <a:endParaRPr lang="en-US" sz="1250" dirty="0"/>
          </a:p>
        </p:txBody>
      </p:sp>
      <p:sp>
        <p:nvSpPr>
          <p:cNvPr id="23" name="Text 21"/>
          <p:cNvSpPr txBox="1"/>
          <p:nvPr/>
        </p:nvSpPr>
        <p:spPr>
          <a:xfrm>
            <a:off x="4572000" y="4800600"/>
            <a:ext cx="2971800" cy="86868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Fix: The last base64 letter has 2 unused bits - change the first letter</a:t>
            </a:r>
            <a:endParaRPr lang="en-US" sz="1350" dirty="0"/>
          </a:p>
        </p:txBody>
      </p:sp>
      <p:sp>
        <p:nvSpPr>
          <p:cNvPr id="24" name="Shape 22"/>
          <p:cNvSpPr/>
          <p:nvPr/>
        </p:nvSpPr>
        <p:spPr>
          <a:xfrm>
            <a:off x="8046720" y="3840480"/>
            <a:ext cx="3474720" cy="1965960"/>
          </a:xfrm>
          <a:prstGeom prst="roundRect">
            <a:avLst>
              <a:gd name="adj" fmla="val 5581"/>
            </a:avLst>
          </a:prstGeom>
          <a:solidFill>
            <a:srgbClr val="FEF3C7"/>
          </a:solidFill>
          <a:ln w="12700">
            <a:solidFill>
              <a:srgbClr val="FEF3C7"/>
            </a:solidFill>
            <a:prstDash val="solid"/>
          </a:ln>
        </p:spPr>
      </p:sp>
      <p:sp>
        <p:nvSpPr>
          <p:cNvPr id="25" name="Text 23"/>
          <p:cNvSpPr txBox="1"/>
          <p:nvPr/>
        </p:nvSpPr>
        <p:spPr>
          <a:xfrm>
            <a:off x="8321040" y="4023360"/>
            <a:ext cx="2926080" cy="365760"/>
          </a:xfrm>
          <a:prstGeom prst="rect">
            <a:avLst/>
          </a:prstGeom>
          <a:noFill/>
          <a:ln/>
        </p:spPr>
        <p:txBody>
          <a:bodyPr wrap="square" lIns="0" tIns="0" rIns="0" bIns="0" rtlCol="0" anchor="ctr"/>
          <a:lstStyle/>
          <a:p>
            <a:pPr indent="0" marL="0">
              <a:buNone/>
            </a:pPr>
            <a:r>
              <a:rPr lang="en-US" sz="1600" b="1" dirty="0">
                <a:solidFill>
                  <a:srgbClr val="1E1B4B"/>
                </a:solidFill>
                <a:latin typeface="Arial" pitchFamily="34" charset="0"/>
                <a:ea typeface="Arial" pitchFamily="34" charset="-122"/>
                <a:cs typeface="Arial" pitchFamily="34" charset="-120"/>
              </a:rPr>
              <a:t>Blank scanner page</a:t>
            </a:r>
            <a:endParaRPr lang="en-US" sz="1600" dirty="0"/>
          </a:p>
        </p:txBody>
      </p:sp>
      <p:sp>
        <p:nvSpPr>
          <p:cNvPr id="26" name="Text 24"/>
          <p:cNvSpPr txBox="1"/>
          <p:nvPr/>
        </p:nvSpPr>
        <p:spPr>
          <a:xfrm>
            <a:off x="8321040" y="4407408"/>
            <a:ext cx="2926080" cy="365760"/>
          </a:xfrm>
          <a:prstGeom prst="rect">
            <a:avLst/>
          </a:prstGeom>
          <a:noFill/>
          <a:ln/>
        </p:spPr>
        <p:txBody>
          <a:bodyPr wrap="square" lIns="0" tIns="0" rIns="0" bIns="0" rtlCol="0" anchor="ctr"/>
          <a:lstStyle/>
          <a:p>
            <a:pPr indent="0" marL="0">
              <a:buNone/>
            </a:pPr>
            <a:r>
              <a:rPr lang="en-US" sz="1250" i="1" dirty="0">
                <a:solidFill>
                  <a:srgbClr val="6B7280"/>
                </a:solidFill>
                <a:latin typeface="Calibri" pitchFamily="34" charset="0"/>
                <a:ea typeface="Calibri" pitchFamily="34" charset="-122"/>
                <a:cs typeface="Calibri" pitchFamily="34" charset="-120"/>
              </a:rPr>
              <a:t>crash after a refactor</a:t>
            </a:r>
            <a:endParaRPr lang="en-US" sz="1250" dirty="0"/>
          </a:p>
        </p:txBody>
      </p:sp>
      <p:sp>
        <p:nvSpPr>
          <p:cNvPr id="27" name="Text 25"/>
          <p:cNvSpPr txBox="1"/>
          <p:nvPr/>
        </p:nvSpPr>
        <p:spPr>
          <a:xfrm>
            <a:off x="8321040" y="4800600"/>
            <a:ext cx="2971800" cy="868680"/>
          </a:xfrm>
          <a:prstGeom prst="rect">
            <a:avLst/>
          </a:prstGeom>
          <a:noFill/>
          <a:ln/>
        </p:spPr>
        <p:txBody>
          <a:bodyPr wrap="square" lIns="0" tIns="0" rIns="0" bIns="0" rtlCol="0" anchor="t"/>
          <a:lstStyle/>
          <a:p>
            <a:pPr indent="0" marL="0">
              <a:buNone/>
            </a:pPr>
            <a:r>
              <a:rPr lang="en-US" sz="1350" dirty="0">
                <a:solidFill>
                  <a:srgbClr val="1F2937"/>
                </a:solidFill>
                <a:latin typeface="Calibri" pitchFamily="34" charset="0"/>
                <a:ea typeface="Calibri" pitchFamily="34" charset="-122"/>
                <a:cs typeface="Calibri" pitchFamily="34" charset="-120"/>
              </a:rPr>
              <a:t>Fix: Found by the demo tour; added a page test and a lint rule</a:t>
            </a:r>
            <a:endParaRPr lang="en-US" sz="1350" dirty="0"/>
          </a:p>
        </p:txBody>
      </p:sp>
      <p:sp>
        <p:nvSpPr>
          <p:cNvPr id="28" name="Text 26"/>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How it was built: 10 phases</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Each phase ended with "done when" checks before moving on</a:t>
            </a:r>
            <a:endParaRPr lang="en-US" sz="1600" dirty="0"/>
          </a:p>
        </p:txBody>
      </p:sp>
      <p:sp>
        <p:nvSpPr>
          <p:cNvPr id="4" name="Shape 2"/>
          <p:cNvSpPr/>
          <p:nvPr/>
        </p:nvSpPr>
        <p:spPr>
          <a:xfrm>
            <a:off x="868680" y="3063240"/>
            <a:ext cx="10469880" cy="0"/>
          </a:xfrm>
          <a:prstGeom prst="line">
            <a:avLst/>
          </a:prstGeom>
          <a:noFill/>
          <a:ln w="38100">
            <a:solidFill>
              <a:srgbClr val="C7D2FE"/>
            </a:solidFill>
            <a:prstDash val="solid"/>
          </a:ln>
        </p:spPr>
      </p:sp>
      <p:sp>
        <p:nvSpPr>
          <p:cNvPr id="5" name="Shape 3"/>
          <p:cNvSpPr/>
          <p:nvPr/>
        </p:nvSpPr>
        <p:spPr>
          <a:xfrm>
            <a:off x="640080" y="2743200"/>
            <a:ext cx="640080" cy="640080"/>
          </a:xfrm>
          <a:prstGeom prst="ellipse">
            <a:avLst/>
          </a:prstGeom>
          <a:solidFill>
            <a:srgbClr val="4F46E5"/>
          </a:solidFill>
          <a:ln w="25400">
            <a:solidFill>
              <a:srgbClr val="FFFFFF"/>
            </a:solidFill>
            <a:prstDash val="solid"/>
          </a:ln>
        </p:spPr>
      </p:sp>
      <p:sp>
        <p:nvSpPr>
          <p:cNvPr id="6" name="Text 4"/>
          <p:cNvSpPr txBox="1"/>
          <p:nvPr/>
        </p:nvSpPr>
        <p:spPr>
          <a:xfrm>
            <a:off x="640080" y="2743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0</a:t>
            </a:r>
            <a:endParaRPr lang="en-US" sz="1600" dirty="0"/>
          </a:p>
        </p:txBody>
      </p:sp>
      <p:sp>
        <p:nvSpPr>
          <p:cNvPr id="7" name="Text 5"/>
          <p:cNvSpPr txBox="1"/>
          <p:nvPr/>
        </p:nvSpPr>
        <p:spPr>
          <a:xfrm>
            <a:off x="438912" y="3520440"/>
            <a:ext cx="1051560" cy="731520"/>
          </a:xfrm>
          <a:prstGeom prst="rect">
            <a:avLst/>
          </a:prstGeom>
          <a:noFill/>
          <a:ln/>
        </p:spPr>
        <p:txBody>
          <a:bodyPr wrap="square" lIns="0" tIns="0" rIns="0" bIns="0" rtlCol="0" anchor="t"/>
          <a:lstStyle/>
          <a:p>
            <a:pPr algn="ctr" indent="0" marL="0">
              <a:buNone/>
            </a:pPr>
            <a:r>
              <a:rPr lang="en-US" sz="1250" b="1" dirty="0">
                <a:solidFill>
                  <a:srgbClr val="1E1B4B"/>
                </a:solidFill>
                <a:latin typeface="Calibri" pitchFamily="34" charset="0"/>
                <a:ea typeface="Calibri" pitchFamily="34" charset="-122"/>
                <a:cs typeface="Calibri" pitchFamily="34" charset="-120"/>
              </a:rPr>
              <a:t>Java basics</a:t>
            </a:r>
            <a:endParaRPr lang="en-US" sz="1250" dirty="0"/>
          </a:p>
        </p:txBody>
      </p:sp>
      <p:sp>
        <p:nvSpPr>
          <p:cNvPr id="8" name="Shape 6"/>
          <p:cNvSpPr/>
          <p:nvPr/>
        </p:nvSpPr>
        <p:spPr>
          <a:xfrm>
            <a:off x="1801368" y="2743200"/>
            <a:ext cx="640080" cy="640080"/>
          </a:xfrm>
          <a:prstGeom prst="ellipse">
            <a:avLst/>
          </a:prstGeom>
          <a:solidFill>
            <a:srgbClr val="4F46E5"/>
          </a:solidFill>
          <a:ln w="25400">
            <a:solidFill>
              <a:srgbClr val="FFFFFF"/>
            </a:solidFill>
            <a:prstDash val="solid"/>
          </a:ln>
        </p:spPr>
      </p:sp>
      <p:sp>
        <p:nvSpPr>
          <p:cNvPr id="9" name="Text 7"/>
          <p:cNvSpPr txBox="1"/>
          <p:nvPr/>
        </p:nvSpPr>
        <p:spPr>
          <a:xfrm>
            <a:off x="1801368" y="2743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10" name="Text 8"/>
          <p:cNvSpPr txBox="1"/>
          <p:nvPr/>
        </p:nvSpPr>
        <p:spPr>
          <a:xfrm>
            <a:off x="1600200" y="3520440"/>
            <a:ext cx="1051560" cy="731520"/>
          </a:xfrm>
          <a:prstGeom prst="rect">
            <a:avLst/>
          </a:prstGeom>
          <a:noFill/>
          <a:ln/>
        </p:spPr>
        <p:txBody>
          <a:bodyPr wrap="square" lIns="0" tIns="0" rIns="0" bIns="0" rtlCol="0" anchor="t"/>
          <a:lstStyle/>
          <a:p>
            <a:pPr algn="ctr" indent="0" marL="0">
              <a:buNone/>
            </a:pPr>
            <a:r>
              <a:rPr lang="en-US" sz="1250" b="1" dirty="0">
                <a:solidFill>
                  <a:srgbClr val="1E1B4B"/>
                </a:solidFill>
                <a:latin typeface="Calibri" pitchFamily="34" charset="0"/>
                <a:ea typeface="Calibri" pitchFamily="34" charset="-122"/>
                <a:cs typeface="Calibri" pitchFamily="34" charset="-120"/>
              </a:rPr>
              <a:t>Project setup</a:t>
            </a:r>
            <a:endParaRPr lang="en-US" sz="1250" dirty="0"/>
          </a:p>
        </p:txBody>
      </p:sp>
      <p:sp>
        <p:nvSpPr>
          <p:cNvPr id="11" name="Shape 9"/>
          <p:cNvSpPr/>
          <p:nvPr/>
        </p:nvSpPr>
        <p:spPr>
          <a:xfrm>
            <a:off x="2962656" y="2743200"/>
            <a:ext cx="640080" cy="640080"/>
          </a:xfrm>
          <a:prstGeom prst="ellipse">
            <a:avLst/>
          </a:prstGeom>
          <a:solidFill>
            <a:srgbClr val="4F46E5"/>
          </a:solidFill>
          <a:ln w="25400">
            <a:solidFill>
              <a:srgbClr val="FFFFFF"/>
            </a:solidFill>
            <a:prstDash val="solid"/>
          </a:ln>
        </p:spPr>
      </p:sp>
      <p:sp>
        <p:nvSpPr>
          <p:cNvPr id="12" name="Text 10"/>
          <p:cNvSpPr txBox="1"/>
          <p:nvPr/>
        </p:nvSpPr>
        <p:spPr>
          <a:xfrm>
            <a:off x="2962656" y="2743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2761488" y="3520440"/>
            <a:ext cx="1051560" cy="731520"/>
          </a:xfrm>
          <a:prstGeom prst="rect">
            <a:avLst/>
          </a:prstGeom>
          <a:noFill/>
          <a:ln/>
        </p:spPr>
        <p:txBody>
          <a:bodyPr wrap="square" lIns="0" tIns="0" rIns="0" bIns="0" rtlCol="0" anchor="t"/>
          <a:lstStyle/>
          <a:p>
            <a:pPr algn="ctr" indent="0" marL="0">
              <a:buNone/>
            </a:pPr>
            <a:r>
              <a:rPr lang="en-US" sz="1250" b="1" dirty="0">
                <a:solidFill>
                  <a:srgbClr val="1E1B4B"/>
                </a:solidFill>
                <a:latin typeface="Calibri" pitchFamily="34" charset="0"/>
                <a:ea typeface="Calibri" pitchFamily="34" charset="-122"/>
                <a:cs typeface="Calibri" pitchFamily="34" charset="-120"/>
              </a:rPr>
              <a:t>Backend API</a:t>
            </a:r>
            <a:endParaRPr lang="en-US" sz="1250" dirty="0"/>
          </a:p>
        </p:txBody>
      </p:sp>
      <p:sp>
        <p:nvSpPr>
          <p:cNvPr id="14" name="Shape 12"/>
          <p:cNvSpPr/>
          <p:nvPr/>
        </p:nvSpPr>
        <p:spPr>
          <a:xfrm>
            <a:off x="4123944" y="2743200"/>
            <a:ext cx="640080" cy="640080"/>
          </a:xfrm>
          <a:prstGeom prst="ellipse">
            <a:avLst/>
          </a:prstGeom>
          <a:solidFill>
            <a:srgbClr val="4F46E5"/>
          </a:solidFill>
          <a:ln w="25400">
            <a:solidFill>
              <a:srgbClr val="FFFFFF"/>
            </a:solidFill>
            <a:prstDash val="solid"/>
          </a:ln>
        </p:spPr>
      </p:sp>
      <p:sp>
        <p:nvSpPr>
          <p:cNvPr id="15" name="Text 13"/>
          <p:cNvSpPr txBox="1"/>
          <p:nvPr/>
        </p:nvSpPr>
        <p:spPr>
          <a:xfrm>
            <a:off x="4123944" y="2743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6" name="Text 14"/>
          <p:cNvSpPr txBox="1"/>
          <p:nvPr/>
        </p:nvSpPr>
        <p:spPr>
          <a:xfrm>
            <a:off x="3922776" y="3520440"/>
            <a:ext cx="1051560" cy="731520"/>
          </a:xfrm>
          <a:prstGeom prst="rect">
            <a:avLst/>
          </a:prstGeom>
          <a:noFill/>
          <a:ln/>
        </p:spPr>
        <p:txBody>
          <a:bodyPr wrap="square" lIns="0" tIns="0" rIns="0" bIns="0" rtlCol="0" anchor="t"/>
          <a:lstStyle/>
          <a:p>
            <a:pPr algn="ctr" indent="0" marL="0">
              <a:buNone/>
            </a:pPr>
            <a:r>
              <a:rPr lang="en-US" sz="1250" b="1" dirty="0">
                <a:solidFill>
                  <a:srgbClr val="1E1B4B"/>
                </a:solidFill>
                <a:latin typeface="Calibri" pitchFamily="34" charset="0"/>
                <a:ea typeface="Calibri" pitchFamily="34" charset="-122"/>
                <a:cs typeface="Calibri" pitchFamily="34" charset="-120"/>
              </a:rPr>
              <a:t>Frontend</a:t>
            </a:r>
            <a:endParaRPr lang="en-US" sz="1250" dirty="0"/>
          </a:p>
        </p:txBody>
      </p:sp>
      <p:sp>
        <p:nvSpPr>
          <p:cNvPr id="17" name="Shape 15"/>
          <p:cNvSpPr/>
          <p:nvPr/>
        </p:nvSpPr>
        <p:spPr>
          <a:xfrm>
            <a:off x="5285232" y="2743200"/>
            <a:ext cx="640080" cy="640080"/>
          </a:xfrm>
          <a:prstGeom prst="ellipse">
            <a:avLst/>
          </a:prstGeom>
          <a:solidFill>
            <a:srgbClr val="4F46E5"/>
          </a:solidFill>
          <a:ln w="25400">
            <a:solidFill>
              <a:srgbClr val="FFFFFF"/>
            </a:solidFill>
            <a:prstDash val="solid"/>
          </a:ln>
        </p:spPr>
      </p:sp>
      <p:sp>
        <p:nvSpPr>
          <p:cNvPr id="18" name="Text 16"/>
          <p:cNvSpPr txBox="1"/>
          <p:nvPr/>
        </p:nvSpPr>
        <p:spPr>
          <a:xfrm>
            <a:off x="5285232" y="2743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19" name="Text 17"/>
          <p:cNvSpPr txBox="1"/>
          <p:nvPr/>
        </p:nvSpPr>
        <p:spPr>
          <a:xfrm>
            <a:off x="5084064" y="3520440"/>
            <a:ext cx="1051560" cy="731520"/>
          </a:xfrm>
          <a:prstGeom prst="rect">
            <a:avLst/>
          </a:prstGeom>
          <a:noFill/>
          <a:ln/>
        </p:spPr>
        <p:txBody>
          <a:bodyPr wrap="square" lIns="0" tIns="0" rIns="0" bIns="0" rtlCol="0" anchor="t"/>
          <a:lstStyle/>
          <a:p>
            <a:pPr algn="ctr" indent="0" marL="0">
              <a:buNone/>
            </a:pPr>
            <a:r>
              <a:rPr lang="en-US" sz="1250" b="1" dirty="0">
                <a:solidFill>
                  <a:srgbClr val="1E1B4B"/>
                </a:solidFill>
                <a:latin typeface="Calibri" pitchFamily="34" charset="0"/>
                <a:ea typeface="Calibri" pitchFamily="34" charset="-122"/>
                <a:cs typeface="Calibri" pitchFamily="34" charset="-120"/>
              </a:rPr>
              <a:t>Connecting</a:t>
            </a:r>
            <a:endParaRPr lang="en-US" sz="1250" dirty="0"/>
          </a:p>
        </p:txBody>
      </p:sp>
      <p:sp>
        <p:nvSpPr>
          <p:cNvPr id="20" name="Shape 18"/>
          <p:cNvSpPr/>
          <p:nvPr/>
        </p:nvSpPr>
        <p:spPr>
          <a:xfrm>
            <a:off x="6446520" y="2743200"/>
            <a:ext cx="640080" cy="640080"/>
          </a:xfrm>
          <a:prstGeom prst="ellipse">
            <a:avLst/>
          </a:prstGeom>
          <a:solidFill>
            <a:srgbClr val="4F46E5"/>
          </a:solidFill>
          <a:ln w="25400">
            <a:solidFill>
              <a:srgbClr val="FFFFFF"/>
            </a:solidFill>
            <a:prstDash val="solid"/>
          </a:ln>
        </p:spPr>
      </p:sp>
      <p:sp>
        <p:nvSpPr>
          <p:cNvPr id="21" name="Text 19"/>
          <p:cNvSpPr txBox="1"/>
          <p:nvPr/>
        </p:nvSpPr>
        <p:spPr>
          <a:xfrm>
            <a:off x="6446520" y="2743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22" name="Text 20"/>
          <p:cNvSpPr txBox="1"/>
          <p:nvPr/>
        </p:nvSpPr>
        <p:spPr>
          <a:xfrm>
            <a:off x="6245352" y="3520440"/>
            <a:ext cx="1051560" cy="731520"/>
          </a:xfrm>
          <a:prstGeom prst="rect">
            <a:avLst/>
          </a:prstGeom>
          <a:noFill/>
          <a:ln/>
        </p:spPr>
        <p:txBody>
          <a:bodyPr wrap="square" lIns="0" tIns="0" rIns="0" bIns="0" rtlCol="0" anchor="t"/>
          <a:lstStyle/>
          <a:p>
            <a:pPr algn="ctr" indent="0" marL="0">
              <a:buNone/>
            </a:pPr>
            <a:r>
              <a:rPr lang="en-US" sz="1250" b="1" dirty="0">
                <a:solidFill>
                  <a:srgbClr val="1E1B4B"/>
                </a:solidFill>
                <a:latin typeface="Calibri" pitchFamily="34" charset="0"/>
                <a:ea typeface="Calibri" pitchFamily="34" charset="-122"/>
                <a:cs typeface="Calibri" pitchFamily="34" charset="-120"/>
              </a:rPr>
              <a:t>Login &amp; roles</a:t>
            </a:r>
            <a:endParaRPr lang="en-US" sz="1250" dirty="0"/>
          </a:p>
        </p:txBody>
      </p:sp>
      <p:sp>
        <p:nvSpPr>
          <p:cNvPr id="23" name="Shape 21"/>
          <p:cNvSpPr/>
          <p:nvPr/>
        </p:nvSpPr>
        <p:spPr>
          <a:xfrm>
            <a:off x="7607808" y="2743200"/>
            <a:ext cx="640080" cy="640080"/>
          </a:xfrm>
          <a:prstGeom prst="ellipse">
            <a:avLst/>
          </a:prstGeom>
          <a:solidFill>
            <a:srgbClr val="4F46E5"/>
          </a:solidFill>
          <a:ln w="25400">
            <a:solidFill>
              <a:srgbClr val="FFFFFF"/>
            </a:solidFill>
            <a:prstDash val="solid"/>
          </a:ln>
        </p:spPr>
      </p:sp>
      <p:sp>
        <p:nvSpPr>
          <p:cNvPr id="24" name="Text 22"/>
          <p:cNvSpPr txBox="1"/>
          <p:nvPr/>
        </p:nvSpPr>
        <p:spPr>
          <a:xfrm>
            <a:off x="7607808" y="2743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25" name="Text 23"/>
          <p:cNvSpPr txBox="1"/>
          <p:nvPr/>
        </p:nvSpPr>
        <p:spPr>
          <a:xfrm>
            <a:off x="7406640" y="3520440"/>
            <a:ext cx="1051560" cy="731520"/>
          </a:xfrm>
          <a:prstGeom prst="rect">
            <a:avLst/>
          </a:prstGeom>
          <a:noFill/>
          <a:ln/>
        </p:spPr>
        <p:txBody>
          <a:bodyPr wrap="square" lIns="0" tIns="0" rIns="0" bIns="0" rtlCol="0" anchor="t"/>
          <a:lstStyle/>
          <a:p>
            <a:pPr algn="ctr" indent="0" marL="0">
              <a:buNone/>
            </a:pPr>
            <a:r>
              <a:rPr lang="en-US" sz="1250" b="1" dirty="0">
                <a:solidFill>
                  <a:srgbClr val="1E1B4B"/>
                </a:solidFill>
                <a:latin typeface="Calibri" pitchFamily="34" charset="0"/>
                <a:ea typeface="Calibri" pitchFamily="34" charset="-122"/>
                <a:cs typeface="Calibri" pitchFamily="34" charset="-120"/>
              </a:rPr>
              <a:t>Bookings &amp; pay</a:t>
            </a:r>
            <a:endParaRPr lang="en-US" sz="1250" dirty="0"/>
          </a:p>
        </p:txBody>
      </p:sp>
      <p:sp>
        <p:nvSpPr>
          <p:cNvPr id="26" name="Shape 24"/>
          <p:cNvSpPr/>
          <p:nvPr/>
        </p:nvSpPr>
        <p:spPr>
          <a:xfrm>
            <a:off x="8769096" y="2743200"/>
            <a:ext cx="640080" cy="640080"/>
          </a:xfrm>
          <a:prstGeom prst="ellipse">
            <a:avLst/>
          </a:prstGeom>
          <a:solidFill>
            <a:srgbClr val="4F46E5"/>
          </a:solidFill>
          <a:ln w="25400">
            <a:solidFill>
              <a:srgbClr val="FFFFFF"/>
            </a:solidFill>
            <a:prstDash val="solid"/>
          </a:ln>
        </p:spPr>
      </p:sp>
      <p:sp>
        <p:nvSpPr>
          <p:cNvPr id="27" name="Text 25"/>
          <p:cNvSpPr txBox="1"/>
          <p:nvPr/>
        </p:nvSpPr>
        <p:spPr>
          <a:xfrm>
            <a:off x="8769096" y="2743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7</a:t>
            </a:r>
            <a:endParaRPr lang="en-US" sz="1600" dirty="0"/>
          </a:p>
        </p:txBody>
      </p:sp>
      <p:sp>
        <p:nvSpPr>
          <p:cNvPr id="28" name="Text 26"/>
          <p:cNvSpPr txBox="1"/>
          <p:nvPr/>
        </p:nvSpPr>
        <p:spPr>
          <a:xfrm>
            <a:off x="8567928" y="3520440"/>
            <a:ext cx="1051560" cy="731520"/>
          </a:xfrm>
          <a:prstGeom prst="rect">
            <a:avLst/>
          </a:prstGeom>
          <a:noFill/>
          <a:ln/>
        </p:spPr>
        <p:txBody>
          <a:bodyPr wrap="square" lIns="0" tIns="0" rIns="0" bIns="0" rtlCol="0" anchor="t"/>
          <a:lstStyle/>
          <a:p>
            <a:pPr algn="ctr" indent="0" marL="0">
              <a:buNone/>
            </a:pPr>
            <a:r>
              <a:rPr lang="en-US" sz="1250" b="1" dirty="0">
                <a:solidFill>
                  <a:srgbClr val="1E1B4B"/>
                </a:solidFill>
                <a:latin typeface="Calibri" pitchFamily="34" charset="0"/>
                <a:ea typeface="Calibri" pitchFamily="34" charset="-122"/>
                <a:cs typeface="Calibri" pitchFamily="34" charset="-120"/>
              </a:rPr>
              <a:t>Signature features</a:t>
            </a:r>
            <a:endParaRPr lang="en-US" sz="1250" dirty="0"/>
          </a:p>
        </p:txBody>
      </p:sp>
      <p:sp>
        <p:nvSpPr>
          <p:cNvPr id="29" name="Shape 27"/>
          <p:cNvSpPr/>
          <p:nvPr/>
        </p:nvSpPr>
        <p:spPr>
          <a:xfrm>
            <a:off x="9930384" y="2743200"/>
            <a:ext cx="640080" cy="640080"/>
          </a:xfrm>
          <a:prstGeom prst="ellipse">
            <a:avLst/>
          </a:prstGeom>
          <a:solidFill>
            <a:srgbClr val="4F46E5"/>
          </a:solidFill>
          <a:ln w="25400">
            <a:solidFill>
              <a:srgbClr val="FFFFFF"/>
            </a:solidFill>
            <a:prstDash val="solid"/>
          </a:ln>
        </p:spPr>
      </p:sp>
      <p:sp>
        <p:nvSpPr>
          <p:cNvPr id="30" name="Text 28"/>
          <p:cNvSpPr txBox="1"/>
          <p:nvPr/>
        </p:nvSpPr>
        <p:spPr>
          <a:xfrm>
            <a:off x="9930384" y="27432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8</a:t>
            </a:r>
            <a:endParaRPr lang="en-US" sz="1600" dirty="0"/>
          </a:p>
        </p:txBody>
      </p:sp>
      <p:sp>
        <p:nvSpPr>
          <p:cNvPr id="31" name="Text 29"/>
          <p:cNvSpPr txBox="1"/>
          <p:nvPr/>
        </p:nvSpPr>
        <p:spPr>
          <a:xfrm>
            <a:off x="9729216" y="3520440"/>
            <a:ext cx="1051560" cy="731520"/>
          </a:xfrm>
          <a:prstGeom prst="rect">
            <a:avLst/>
          </a:prstGeom>
          <a:noFill/>
          <a:ln/>
        </p:spPr>
        <p:txBody>
          <a:bodyPr wrap="square" lIns="0" tIns="0" rIns="0" bIns="0" rtlCol="0" anchor="t"/>
          <a:lstStyle/>
          <a:p>
            <a:pPr algn="ctr" indent="0" marL="0">
              <a:buNone/>
            </a:pPr>
            <a:r>
              <a:rPr lang="en-US" sz="1250" b="1" dirty="0">
                <a:solidFill>
                  <a:srgbClr val="1E1B4B"/>
                </a:solidFill>
                <a:latin typeface="Calibri" pitchFamily="34" charset="0"/>
                <a:ea typeface="Calibri" pitchFamily="34" charset="-122"/>
                <a:cs typeface="Calibri" pitchFamily="34" charset="-120"/>
              </a:rPr>
              <a:t>Testing &amp; polish</a:t>
            </a:r>
            <a:endParaRPr lang="en-US" sz="1250" dirty="0"/>
          </a:p>
        </p:txBody>
      </p:sp>
      <p:sp>
        <p:nvSpPr>
          <p:cNvPr id="32" name="Shape 30"/>
          <p:cNvSpPr/>
          <p:nvPr/>
        </p:nvSpPr>
        <p:spPr>
          <a:xfrm>
            <a:off x="11091672" y="2743200"/>
            <a:ext cx="640080" cy="640080"/>
          </a:xfrm>
          <a:prstGeom prst="ellipse">
            <a:avLst/>
          </a:prstGeom>
          <a:solidFill>
            <a:srgbClr val="F59E0B"/>
          </a:solidFill>
          <a:ln w="25400">
            <a:solidFill>
              <a:srgbClr val="FFFFFF"/>
            </a:solidFill>
            <a:prstDash val="solid"/>
          </a:ln>
        </p:spPr>
      </p:sp>
      <p:sp>
        <p:nvSpPr>
          <p:cNvPr id="33" name="Text 31"/>
          <p:cNvSpPr txBox="1"/>
          <p:nvPr/>
        </p:nvSpPr>
        <p:spPr>
          <a:xfrm>
            <a:off x="11091672" y="2743200"/>
            <a:ext cx="640080" cy="640080"/>
          </a:xfrm>
          <a:prstGeom prst="rect">
            <a:avLst/>
          </a:prstGeom>
          <a:noFill/>
          <a:ln/>
        </p:spPr>
        <p:txBody>
          <a:bodyPr wrap="square" lIns="0" tIns="0" rIns="0" bIns="0" rtlCol="0" anchor="ctr"/>
          <a:lstStyle/>
          <a:p>
            <a:pPr algn="ctr" indent="0" marL="0">
              <a:buNone/>
            </a:pPr>
            <a:r>
              <a:rPr lang="en-US" sz="1600" b="1" dirty="0">
                <a:solidFill>
                  <a:srgbClr val="1E1B4B"/>
                </a:solidFill>
                <a:latin typeface="Arial" pitchFamily="34" charset="0"/>
                <a:ea typeface="Arial" pitchFamily="34" charset="-122"/>
                <a:cs typeface="Arial" pitchFamily="34" charset="-120"/>
              </a:rPr>
              <a:t>9</a:t>
            </a:r>
            <a:endParaRPr lang="en-US" sz="1600" dirty="0"/>
          </a:p>
        </p:txBody>
      </p:sp>
      <p:sp>
        <p:nvSpPr>
          <p:cNvPr id="34" name="Text 32"/>
          <p:cNvSpPr txBox="1"/>
          <p:nvPr/>
        </p:nvSpPr>
        <p:spPr>
          <a:xfrm>
            <a:off x="10890504" y="3520440"/>
            <a:ext cx="1051560" cy="731520"/>
          </a:xfrm>
          <a:prstGeom prst="rect">
            <a:avLst/>
          </a:prstGeom>
          <a:noFill/>
          <a:ln/>
        </p:spPr>
        <p:txBody>
          <a:bodyPr wrap="square" lIns="0" tIns="0" rIns="0" bIns="0" rtlCol="0" anchor="t"/>
          <a:lstStyle/>
          <a:p>
            <a:pPr algn="ctr" indent="0" marL="0">
              <a:buNone/>
            </a:pPr>
            <a:r>
              <a:rPr lang="en-US" sz="1250" b="1" dirty="0">
                <a:solidFill>
                  <a:srgbClr val="1E1B4B"/>
                </a:solidFill>
                <a:latin typeface="Calibri" pitchFamily="34" charset="0"/>
                <a:ea typeface="Calibri" pitchFamily="34" charset="-122"/>
                <a:cs typeface="Calibri" pitchFamily="34" charset="-120"/>
              </a:rPr>
              <a:t>Launch</a:t>
            </a:r>
            <a:endParaRPr lang="en-US" sz="1250" dirty="0"/>
          </a:p>
        </p:txBody>
      </p:sp>
      <p:sp>
        <p:nvSpPr>
          <p:cNvPr id="35" name="Text 33"/>
          <p:cNvSpPr txBox="1"/>
          <p:nvPr/>
        </p:nvSpPr>
        <p:spPr>
          <a:xfrm>
            <a:off x="548640" y="1645920"/>
            <a:ext cx="11064240" cy="365760"/>
          </a:xfrm>
          <a:prstGeom prst="rect">
            <a:avLst/>
          </a:prstGeom>
          <a:noFill/>
          <a:ln/>
        </p:spPr>
        <p:txBody>
          <a:bodyPr wrap="square" lIns="0" tIns="0" rIns="0" bIns="0" rtlCol="0" anchor="ctr"/>
          <a:lstStyle/>
          <a:p>
            <a:pPr indent="0" marL="0">
              <a:buNone/>
            </a:pPr>
            <a:r>
              <a:rPr lang="en-US" sz="1500" dirty="0">
                <a:solidFill>
                  <a:srgbClr val="6B7280"/>
                </a:solidFill>
                <a:latin typeface="Calibri" pitchFamily="34" charset="0"/>
                <a:ea typeface="Calibri" pitchFamily="34" charset="-122"/>
                <a:cs typeface="Calibri" pitchFamily="34" charset="-120"/>
              </a:rPr>
              <a:t>Phases 0-8 complete  ·  Phase 9 (deployment) next</a:t>
            </a:r>
            <a:endParaRPr lang="en-US" sz="1500" dirty="0"/>
          </a:p>
        </p:txBody>
      </p:sp>
      <p:sp>
        <p:nvSpPr>
          <p:cNvPr id="36" name="Shape 34"/>
          <p:cNvSpPr/>
          <p:nvPr/>
        </p:nvSpPr>
        <p:spPr>
          <a:xfrm>
            <a:off x="548640" y="4572000"/>
            <a:ext cx="11064240" cy="1371600"/>
          </a:xfrm>
          <a:prstGeom prst="roundRect">
            <a:avLst>
              <a:gd name="adj" fmla="val 8000"/>
            </a:avLst>
          </a:prstGeom>
          <a:solidFill>
            <a:srgbClr val="EEF2FF"/>
          </a:solidFill>
          <a:ln w="12700">
            <a:solidFill>
              <a:srgbClr val="EEF2FF"/>
            </a:solidFill>
            <a:prstDash val="solid"/>
          </a:ln>
        </p:spPr>
      </p:sp>
      <p:sp>
        <p:nvSpPr>
          <p:cNvPr id="37" name="Text 35"/>
          <p:cNvSpPr txBox="1"/>
          <p:nvPr/>
        </p:nvSpPr>
        <p:spPr>
          <a:xfrm>
            <a:off x="868680" y="4663440"/>
            <a:ext cx="10424160" cy="118872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Working style: </a:t>
            </a:r>
            <a:pPr indent="0" marL="0">
              <a:buNone/>
            </a:pPr>
            <a:r>
              <a:rPr lang="en-US" sz="1500" dirty="0">
                <a:solidFill>
                  <a:srgbClr val="1F2937"/>
                </a:solidFill>
                <a:latin typeface="Calibri" pitchFamily="34" charset="0"/>
                <a:ea typeface="Calibri" pitchFamily="34" charset="-122"/>
                <a:cs typeface="Calibri" pitchFamily="34" charset="-120"/>
              </a:rPr>
              <a:t>small steps, each one tested and committed; every phase started from a written checklist; CI stayed green; a guided demo tour in Edge replays the whole journey (28 steps) and made the screenshots in this deck.</a:t>
            </a:r>
            <a:endParaRPr lang="en-US" sz="1500" dirty="0"/>
          </a:p>
        </p:txBody>
      </p:sp>
      <p:sp>
        <p:nvSpPr>
          <p:cNvPr id="38" name="Text 36"/>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200" b="1" dirty="0">
                <a:solidFill>
                  <a:srgbClr val="1E1B4B"/>
                </a:solidFill>
                <a:latin typeface="Arial" pitchFamily="34" charset="0"/>
                <a:ea typeface="Arial" pitchFamily="34" charset="-122"/>
                <a:cs typeface="Arial" pitchFamily="34" charset="-120"/>
              </a:rPr>
              <a:t>Future scope</a:t>
            </a:r>
            <a:endParaRPr lang="en-US" sz="3200" dirty="0"/>
          </a:p>
        </p:txBody>
      </p:sp>
      <p:sp>
        <p:nvSpPr>
          <p:cNvPr id="3" name="Text 1"/>
          <p:cNvSpPr txBox="1"/>
          <p:nvPr/>
        </p:nvSpPr>
        <p:spPr>
          <a:xfrm>
            <a:off x="548640" y="1005840"/>
            <a:ext cx="11094415" cy="365760"/>
          </a:xfrm>
          <a:prstGeom prst="rect">
            <a:avLst/>
          </a:prstGeom>
          <a:noFill/>
          <a:ln/>
        </p:spPr>
        <p:txBody>
          <a:bodyPr wrap="square" lIns="0" tIns="0" rIns="0" bIns="0" rtlCol="0" anchor="ctr"/>
          <a:lstStyle/>
          <a:p>
            <a:pPr indent="0" marL="0">
              <a:buNone/>
            </a:pPr>
            <a:r>
              <a:rPr lang="en-US" sz="1600" dirty="0">
                <a:solidFill>
                  <a:srgbClr val="6B7280"/>
                </a:solidFill>
                <a:latin typeface="Calibri" pitchFamily="34" charset="0"/>
                <a:ea typeface="Calibri" pitchFamily="34" charset="-122"/>
                <a:cs typeface="Calibri" pitchFamily="34" charset="-120"/>
              </a:rPr>
              <a:t>What would come next in a real product</a:t>
            </a:r>
            <a:endParaRPr lang="en-US" sz="1600" dirty="0"/>
          </a:p>
        </p:txBody>
      </p:sp>
      <p:sp>
        <p:nvSpPr>
          <p:cNvPr id="4" name="Shape 2"/>
          <p:cNvSpPr/>
          <p:nvPr/>
        </p:nvSpPr>
        <p:spPr>
          <a:xfrm>
            <a:off x="548640" y="1645920"/>
            <a:ext cx="5440680" cy="1325880"/>
          </a:xfrm>
          <a:prstGeom prst="roundRect">
            <a:avLst>
              <a:gd name="adj" fmla="val 8276"/>
            </a:avLst>
          </a:prstGeom>
          <a:solidFill>
            <a:srgbClr val="EEF2FF"/>
          </a:solidFill>
          <a:ln w="12700">
            <a:solidFill>
              <a:srgbClr val="EEF2FF"/>
            </a:solidFill>
            <a:prstDash val="solid"/>
          </a:ln>
        </p:spPr>
      </p:sp>
      <p:sp>
        <p:nvSpPr>
          <p:cNvPr id="5" name="Shape 3"/>
          <p:cNvSpPr/>
          <p:nvPr/>
        </p:nvSpPr>
        <p:spPr>
          <a:xfrm>
            <a:off x="822960" y="2011680"/>
            <a:ext cx="585216" cy="585216"/>
          </a:xfrm>
          <a:prstGeom prst="ellipse">
            <a:avLst/>
          </a:prstGeom>
          <a:solidFill>
            <a:srgbClr val="4F46E5"/>
          </a:solidFill>
          <a:ln w="12700">
            <a:solidFill>
              <a:srgbClr val="4F46E5"/>
            </a:solidFill>
            <a:prstDash val="solid"/>
          </a:ln>
        </p:spPr>
      </p:sp>
      <p:pic>
        <p:nvPicPr>
          <p:cNvPr id="6" name="Image 0" descr="preencoded.png">    </p:cNvPr>
          <p:cNvPicPr>
            <a:picLocks noChangeAspect="1"/>
          </p:cNvPicPr>
          <p:nvPr/>
        </p:nvPicPr>
        <p:blipFill>
          <a:blip r:embed="rId1"/>
          <a:stretch>
            <a:fillRect/>
          </a:stretch>
        </p:blipFill>
        <p:spPr>
          <a:xfrm>
            <a:off x="963412" y="2152132"/>
            <a:ext cx="304312" cy="304312"/>
          </a:xfrm>
          <a:prstGeom prst="rect">
            <a:avLst/>
          </a:prstGeom>
        </p:spPr>
      </p:pic>
      <p:sp>
        <p:nvSpPr>
          <p:cNvPr id="7" name="Text 4"/>
          <p:cNvSpPr txBox="1"/>
          <p:nvPr/>
        </p:nvSpPr>
        <p:spPr>
          <a:xfrm>
            <a:off x="1645920" y="1828800"/>
            <a:ext cx="4114800" cy="960120"/>
          </a:xfrm>
          <a:prstGeom prst="rect">
            <a:avLst/>
          </a:prstGeom>
          <a:noFill/>
          <a:ln/>
        </p:spPr>
        <p:txBody>
          <a:bodyPr wrap="square" lIns="0" tIns="0" rIns="0" bIns="0" rtlCol="0" anchor="ctr"/>
          <a:lstStyle/>
          <a:p>
            <a:pPr indent="0" marL="0">
              <a:buNone/>
            </a:pPr>
            <a:r>
              <a:rPr lang="en-US" sz="1600" b="1" dirty="0">
                <a:solidFill>
                  <a:srgbClr val="1E1B4B"/>
                </a:solidFill>
                <a:latin typeface="Calibri" pitchFamily="34" charset="0"/>
                <a:ea typeface="Calibri" pitchFamily="34" charset="-122"/>
                <a:cs typeface="Calibri" pitchFamily="34" charset="-120"/>
              </a:rPr>
              <a:t>Go live</a:t>
            </a:r>
            <a:endParaRPr lang="en-US" sz="1600" dirty="0"/>
          </a:p>
          <a:p>
            <a:pPr indent="0" marL="0">
              <a:buNone/>
            </a:pPr>
            <a:r>
              <a:rPr lang="en-US" sz="1350" dirty="0">
                <a:solidFill>
                  <a:srgbClr val="1F2937"/>
                </a:solidFill>
                <a:latin typeface="Calibri" pitchFamily="34" charset="0"/>
                <a:ea typeface="Calibri" pitchFamily="34" charset="-122"/>
                <a:cs typeface="Calibri" pitchFamily="34" charset="-120"/>
              </a:rPr>
              <a:t>Deploy backend, database and frontend (Phase 9)</a:t>
            </a:r>
            <a:endParaRPr lang="en-US" sz="1600" dirty="0"/>
          </a:p>
        </p:txBody>
      </p:sp>
      <p:sp>
        <p:nvSpPr>
          <p:cNvPr id="8" name="Shape 5"/>
          <p:cNvSpPr/>
          <p:nvPr/>
        </p:nvSpPr>
        <p:spPr>
          <a:xfrm>
            <a:off x="6172200" y="1645920"/>
            <a:ext cx="5440680" cy="1325880"/>
          </a:xfrm>
          <a:prstGeom prst="roundRect">
            <a:avLst>
              <a:gd name="adj" fmla="val 8276"/>
            </a:avLst>
          </a:prstGeom>
          <a:solidFill>
            <a:srgbClr val="FEF3C7"/>
          </a:solidFill>
          <a:ln w="12700">
            <a:solidFill>
              <a:srgbClr val="FEF3C7"/>
            </a:solidFill>
            <a:prstDash val="solid"/>
          </a:ln>
        </p:spPr>
      </p:sp>
      <p:sp>
        <p:nvSpPr>
          <p:cNvPr id="9" name="Shape 6"/>
          <p:cNvSpPr/>
          <p:nvPr/>
        </p:nvSpPr>
        <p:spPr>
          <a:xfrm>
            <a:off x="6446520" y="2011680"/>
            <a:ext cx="585216" cy="585216"/>
          </a:xfrm>
          <a:prstGeom prst="ellipse">
            <a:avLst/>
          </a:prstGeom>
          <a:solidFill>
            <a:srgbClr val="F59E0B"/>
          </a:solidFill>
          <a:ln w="12700">
            <a:solidFill>
              <a:srgbClr val="F59E0B"/>
            </a:solidFill>
            <a:prstDash val="solid"/>
          </a:ln>
        </p:spPr>
      </p:sp>
      <p:pic>
        <p:nvPicPr>
          <p:cNvPr id="10" name="Image 1" descr="preencoded.png">    </p:cNvPr>
          <p:cNvPicPr>
            <a:picLocks noChangeAspect="1"/>
          </p:cNvPicPr>
          <p:nvPr/>
        </p:nvPicPr>
        <p:blipFill>
          <a:blip r:embed="rId2"/>
          <a:stretch>
            <a:fillRect/>
          </a:stretch>
        </p:blipFill>
        <p:spPr>
          <a:xfrm>
            <a:off x="6586972" y="2152132"/>
            <a:ext cx="304312" cy="304312"/>
          </a:xfrm>
          <a:prstGeom prst="rect">
            <a:avLst/>
          </a:prstGeom>
        </p:spPr>
      </p:pic>
      <p:sp>
        <p:nvSpPr>
          <p:cNvPr id="11" name="Text 7"/>
          <p:cNvSpPr txBox="1"/>
          <p:nvPr/>
        </p:nvSpPr>
        <p:spPr>
          <a:xfrm>
            <a:off x="7269480" y="1828800"/>
            <a:ext cx="4114800" cy="960120"/>
          </a:xfrm>
          <a:prstGeom prst="rect">
            <a:avLst/>
          </a:prstGeom>
          <a:noFill/>
          <a:ln/>
        </p:spPr>
        <p:txBody>
          <a:bodyPr wrap="square" lIns="0" tIns="0" rIns="0" bIns="0" rtlCol="0" anchor="ctr"/>
          <a:lstStyle/>
          <a:p>
            <a:pPr indent="0" marL="0">
              <a:buNone/>
            </a:pPr>
            <a:r>
              <a:rPr lang="en-US" sz="1600" b="1" dirty="0">
                <a:solidFill>
                  <a:srgbClr val="1E1B4B"/>
                </a:solidFill>
                <a:latin typeface="Calibri" pitchFamily="34" charset="0"/>
                <a:ea typeface="Calibri" pitchFamily="34" charset="-122"/>
                <a:cs typeface="Calibri" pitchFamily="34" charset="-120"/>
              </a:rPr>
              <a:t>Password reset</a:t>
            </a:r>
            <a:endParaRPr lang="en-US" sz="1600" dirty="0"/>
          </a:p>
          <a:p>
            <a:pPr indent="0" marL="0">
              <a:buNone/>
            </a:pPr>
            <a:r>
              <a:rPr lang="en-US" sz="1350" dirty="0">
                <a:solidFill>
                  <a:srgbClr val="1F2937"/>
                </a:solidFill>
                <a:latin typeface="Calibri" pitchFamily="34" charset="0"/>
                <a:ea typeface="Calibri" pitchFamily="34" charset="-122"/>
                <a:cs typeface="Calibri" pitchFamily="34" charset="-120"/>
              </a:rPr>
              <a:t>Reset link by email</a:t>
            </a:r>
            <a:endParaRPr lang="en-US" sz="1600" dirty="0"/>
          </a:p>
        </p:txBody>
      </p:sp>
      <p:sp>
        <p:nvSpPr>
          <p:cNvPr id="12" name="Shape 8"/>
          <p:cNvSpPr/>
          <p:nvPr/>
        </p:nvSpPr>
        <p:spPr>
          <a:xfrm>
            <a:off x="548640" y="3154680"/>
            <a:ext cx="5440680" cy="1325880"/>
          </a:xfrm>
          <a:prstGeom prst="roundRect">
            <a:avLst>
              <a:gd name="adj" fmla="val 8276"/>
            </a:avLst>
          </a:prstGeom>
          <a:solidFill>
            <a:srgbClr val="EEF2FF"/>
          </a:solidFill>
          <a:ln w="12700">
            <a:solidFill>
              <a:srgbClr val="EEF2FF"/>
            </a:solidFill>
            <a:prstDash val="solid"/>
          </a:ln>
        </p:spPr>
      </p:sp>
      <p:sp>
        <p:nvSpPr>
          <p:cNvPr id="13" name="Shape 9"/>
          <p:cNvSpPr/>
          <p:nvPr/>
        </p:nvSpPr>
        <p:spPr>
          <a:xfrm>
            <a:off x="822960" y="3520440"/>
            <a:ext cx="585216" cy="585216"/>
          </a:xfrm>
          <a:prstGeom prst="ellipse">
            <a:avLst/>
          </a:prstGeom>
          <a:solidFill>
            <a:srgbClr val="4F46E5"/>
          </a:solidFill>
          <a:ln w="12700">
            <a:solidFill>
              <a:srgbClr val="4F46E5"/>
            </a:solidFill>
            <a:prstDash val="solid"/>
          </a:ln>
        </p:spPr>
      </p:sp>
      <p:pic>
        <p:nvPicPr>
          <p:cNvPr id="14" name="Image 2" descr="preencoded.png">    </p:cNvPr>
          <p:cNvPicPr>
            <a:picLocks noChangeAspect="1"/>
          </p:cNvPicPr>
          <p:nvPr/>
        </p:nvPicPr>
        <p:blipFill>
          <a:blip r:embed="rId3"/>
          <a:stretch>
            <a:fillRect/>
          </a:stretch>
        </p:blipFill>
        <p:spPr>
          <a:xfrm>
            <a:off x="963412" y="3660892"/>
            <a:ext cx="304312" cy="304312"/>
          </a:xfrm>
          <a:prstGeom prst="rect">
            <a:avLst/>
          </a:prstGeom>
        </p:spPr>
      </p:pic>
      <p:sp>
        <p:nvSpPr>
          <p:cNvPr id="15" name="Text 10"/>
          <p:cNvSpPr txBox="1"/>
          <p:nvPr/>
        </p:nvSpPr>
        <p:spPr>
          <a:xfrm>
            <a:off x="1645920" y="3337560"/>
            <a:ext cx="4114800" cy="960120"/>
          </a:xfrm>
          <a:prstGeom prst="rect">
            <a:avLst/>
          </a:prstGeom>
          <a:noFill/>
          <a:ln/>
        </p:spPr>
        <p:txBody>
          <a:bodyPr wrap="square" lIns="0" tIns="0" rIns="0" bIns="0" rtlCol="0" anchor="ctr"/>
          <a:lstStyle/>
          <a:p>
            <a:pPr indent="0" marL="0">
              <a:buNone/>
            </a:pPr>
            <a:r>
              <a:rPr lang="en-US" sz="1600" b="1" dirty="0">
                <a:solidFill>
                  <a:srgbClr val="1E1B4B"/>
                </a:solidFill>
                <a:latin typeface="Calibri" pitchFamily="34" charset="0"/>
                <a:ea typeface="Calibri" pitchFamily="34" charset="-122"/>
                <a:cs typeface="Calibri" pitchFamily="34" charset="-120"/>
              </a:rPr>
              <a:t>Mobile / offline gate</a:t>
            </a:r>
            <a:endParaRPr lang="en-US" sz="1600" dirty="0"/>
          </a:p>
          <a:p>
            <a:pPr indent="0" marL="0">
              <a:buNone/>
            </a:pPr>
            <a:r>
              <a:rPr lang="en-US" sz="1350" dirty="0">
                <a:solidFill>
                  <a:srgbClr val="1F2937"/>
                </a:solidFill>
                <a:latin typeface="Calibri" pitchFamily="34" charset="0"/>
                <a:ea typeface="Calibri" pitchFamily="34" charset="-122"/>
                <a:cs typeface="Calibri" pitchFamily="34" charset="-120"/>
              </a:rPr>
              <a:t>Installable app that scans even with weak Wi-Fi</a:t>
            </a:r>
            <a:endParaRPr lang="en-US" sz="1600" dirty="0"/>
          </a:p>
        </p:txBody>
      </p:sp>
      <p:sp>
        <p:nvSpPr>
          <p:cNvPr id="16" name="Shape 11"/>
          <p:cNvSpPr/>
          <p:nvPr/>
        </p:nvSpPr>
        <p:spPr>
          <a:xfrm>
            <a:off x="6172200" y="3154680"/>
            <a:ext cx="5440680" cy="1325880"/>
          </a:xfrm>
          <a:prstGeom prst="roundRect">
            <a:avLst>
              <a:gd name="adj" fmla="val 8276"/>
            </a:avLst>
          </a:prstGeom>
          <a:solidFill>
            <a:srgbClr val="FEF3C7"/>
          </a:solidFill>
          <a:ln w="12700">
            <a:solidFill>
              <a:srgbClr val="FEF3C7"/>
            </a:solidFill>
            <a:prstDash val="solid"/>
          </a:ln>
        </p:spPr>
      </p:sp>
      <p:sp>
        <p:nvSpPr>
          <p:cNvPr id="17" name="Shape 12"/>
          <p:cNvSpPr/>
          <p:nvPr/>
        </p:nvSpPr>
        <p:spPr>
          <a:xfrm>
            <a:off x="6446520" y="3520440"/>
            <a:ext cx="585216" cy="585216"/>
          </a:xfrm>
          <a:prstGeom prst="ellipse">
            <a:avLst/>
          </a:prstGeom>
          <a:solidFill>
            <a:srgbClr val="F59E0B"/>
          </a:solidFill>
          <a:ln w="12700">
            <a:solidFill>
              <a:srgbClr val="F59E0B"/>
            </a:solidFill>
            <a:prstDash val="solid"/>
          </a:ln>
        </p:spPr>
      </p:sp>
      <p:pic>
        <p:nvPicPr>
          <p:cNvPr id="18" name="Image 3" descr="preencoded.png">    </p:cNvPr>
          <p:cNvPicPr>
            <a:picLocks noChangeAspect="1"/>
          </p:cNvPicPr>
          <p:nvPr/>
        </p:nvPicPr>
        <p:blipFill>
          <a:blip r:embed="rId4"/>
          <a:stretch>
            <a:fillRect/>
          </a:stretch>
        </p:blipFill>
        <p:spPr>
          <a:xfrm>
            <a:off x="6586972" y="3660892"/>
            <a:ext cx="304312" cy="304312"/>
          </a:xfrm>
          <a:prstGeom prst="rect">
            <a:avLst/>
          </a:prstGeom>
        </p:spPr>
      </p:pic>
      <p:sp>
        <p:nvSpPr>
          <p:cNvPr id="19" name="Text 13"/>
          <p:cNvSpPr txBox="1"/>
          <p:nvPr/>
        </p:nvSpPr>
        <p:spPr>
          <a:xfrm>
            <a:off x="7269480" y="3337560"/>
            <a:ext cx="4114800" cy="960120"/>
          </a:xfrm>
          <a:prstGeom prst="rect">
            <a:avLst/>
          </a:prstGeom>
          <a:noFill/>
          <a:ln/>
        </p:spPr>
        <p:txBody>
          <a:bodyPr wrap="square" lIns="0" tIns="0" rIns="0" bIns="0" rtlCol="0" anchor="ctr"/>
          <a:lstStyle/>
          <a:p>
            <a:pPr indent="0" marL="0">
              <a:buNone/>
            </a:pPr>
            <a:r>
              <a:rPr lang="en-US" sz="1600" b="1" dirty="0">
                <a:solidFill>
                  <a:srgbClr val="1E1B4B"/>
                </a:solidFill>
                <a:latin typeface="Calibri" pitchFamily="34" charset="0"/>
                <a:ea typeface="Calibri" pitchFamily="34" charset="-122"/>
                <a:cs typeface="Calibri" pitchFamily="34" charset="-120"/>
              </a:rPr>
              <a:t>Indian payments</a:t>
            </a:r>
            <a:endParaRPr lang="en-US" sz="1600" dirty="0"/>
          </a:p>
          <a:p>
            <a:pPr indent="0" marL="0">
              <a:buNone/>
            </a:pPr>
            <a:r>
              <a:rPr lang="en-US" sz="1350" dirty="0">
                <a:solidFill>
                  <a:srgbClr val="1F2937"/>
                </a:solidFill>
                <a:latin typeface="Calibri" pitchFamily="34" charset="0"/>
                <a:ea typeface="Calibri" pitchFamily="34" charset="-122"/>
                <a:cs typeface="Calibri" pitchFamily="34" charset="-120"/>
              </a:rPr>
              <a:t>UPI through Razorpay next to Stripe</a:t>
            </a:r>
            <a:endParaRPr lang="en-US" sz="1600" dirty="0"/>
          </a:p>
        </p:txBody>
      </p:sp>
      <p:sp>
        <p:nvSpPr>
          <p:cNvPr id="20" name="Shape 14"/>
          <p:cNvSpPr/>
          <p:nvPr/>
        </p:nvSpPr>
        <p:spPr>
          <a:xfrm>
            <a:off x="548640" y="4663440"/>
            <a:ext cx="5440680" cy="1325880"/>
          </a:xfrm>
          <a:prstGeom prst="roundRect">
            <a:avLst>
              <a:gd name="adj" fmla="val 8276"/>
            </a:avLst>
          </a:prstGeom>
          <a:solidFill>
            <a:srgbClr val="EEF2FF"/>
          </a:solidFill>
          <a:ln w="12700">
            <a:solidFill>
              <a:srgbClr val="EEF2FF"/>
            </a:solidFill>
            <a:prstDash val="solid"/>
          </a:ln>
        </p:spPr>
      </p:sp>
      <p:sp>
        <p:nvSpPr>
          <p:cNvPr id="21" name="Shape 15"/>
          <p:cNvSpPr/>
          <p:nvPr/>
        </p:nvSpPr>
        <p:spPr>
          <a:xfrm>
            <a:off x="822960" y="5029200"/>
            <a:ext cx="585216" cy="585216"/>
          </a:xfrm>
          <a:prstGeom prst="ellipse">
            <a:avLst/>
          </a:prstGeom>
          <a:solidFill>
            <a:srgbClr val="4F46E5"/>
          </a:solidFill>
          <a:ln w="12700">
            <a:solidFill>
              <a:srgbClr val="4F46E5"/>
            </a:solidFill>
            <a:prstDash val="solid"/>
          </a:ln>
        </p:spPr>
      </p:sp>
      <p:pic>
        <p:nvPicPr>
          <p:cNvPr id="22" name="Image 4" descr="preencoded.png">    </p:cNvPr>
          <p:cNvPicPr>
            <a:picLocks noChangeAspect="1"/>
          </p:cNvPicPr>
          <p:nvPr/>
        </p:nvPicPr>
        <p:blipFill>
          <a:blip r:embed="rId5"/>
          <a:stretch>
            <a:fillRect/>
          </a:stretch>
        </p:blipFill>
        <p:spPr>
          <a:xfrm>
            <a:off x="963412" y="5169652"/>
            <a:ext cx="304312" cy="304312"/>
          </a:xfrm>
          <a:prstGeom prst="rect">
            <a:avLst/>
          </a:prstGeom>
        </p:spPr>
      </p:pic>
      <p:sp>
        <p:nvSpPr>
          <p:cNvPr id="23" name="Text 16"/>
          <p:cNvSpPr txBox="1"/>
          <p:nvPr/>
        </p:nvSpPr>
        <p:spPr>
          <a:xfrm>
            <a:off x="1645920" y="4846320"/>
            <a:ext cx="4114800" cy="960120"/>
          </a:xfrm>
          <a:prstGeom prst="rect">
            <a:avLst/>
          </a:prstGeom>
          <a:noFill/>
          <a:ln/>
        </p:spPr>
        <p:txBody>
          <a:bodyPr wrap="square" lIns="0" tIns="0" rIns="0" bIns="0" rtlCol="0" anchor="ctr"/>
          <a:lstStyle/>
          <a:p>
            <a:pPr indent="0" marL="0">
              <a:buNone/>
            </a:pPr>
            <a:r>
              <a:rPr lang="en-US" sz="1600" b="1" dirty="0">
                <a:solidFill>
                  <a:srgbClr val="1E1B4B"/>
                </a:solidFill>
                <a:latin typeface="Calibri" pitchFamily="34" charset="0"/>
                <a:ea typeface="Calibri" pitchFamily="34" charset="-122"/>
                <a:cs typeface="Calibri" pitchFamily="34" charset="-120"/>
              </a:rPr>
              <a:t>More servers</a:t>
            </a:r>
            <a:endParaRPr lang="en-US" sz="1600" dirty="0"/>
          </a:p>
          <a:p>
            <a:pPr indent="0" marL="0">
              <a:buNone/>
            </a:pPr>
            <a:r>
              <a:rPr lang="en-US" sz="1350" dirty="0">
                <a:solidFill>
                  <a:srgbClr val="1F2937"/>
                </a:solidFill>
                <a:latin typeface="Calibri" pitchFamily="34" charset="0"/>
                <a:ea typeface="Calibri" pitchFamily="34" charset="-122"/>
                <a:cs typeface="Calibri" pitchFamily="34" charset="-120"/>
              </a:rPr>
              <a:t>Redis for the login lock and cache</a:t>
            </a:r>
            <a:endParaRPr lang="en-US" sz="1600" dirty="0"/>
          </a:p>
        </p:txBody>
      </p:sp>
      <p:sp>
        <p:nvSpPr>
          <p:cNvPr id="24" name="Shape 17"/>
          <p:cNvSpPr/>
          <p:nvPr/>
        </p:nvSpPr>
        <p:spPr>
          <a:xfrm>
            <a:off x="6172200" y="4663440"/>
            <a:ext cx="5440680" cy="1325880"/>
          </a:xfrm>
          <a:prstGeom prst="roundRect">
            <a:avLst>
              <a:gd name="adj" fmla="val 8276"/>
            </a:avLst>
          </a:prstGeom>
          <a:solidFill>
            <a:srgbClr val="FEF3C7"/>
          </a:solidFill>
          <a:ln w="12700">
            <a:solidFill>
              <a:srgbClr val="FEF3C7"/>
            </a:solidFill>
            <a:prstDash val="solid"/>
          </a:ln>
        </p:spPr>
      </p:sp>
      <p:sp>
        <p:nvSpPr>
          <p:cNvPr id="25" name="Shape 18"/>
          <p:cNvSpPr/>
          <p:nvPr/>
        </p:nvSpPr>
        <p:spPr>
          <a:xfrm>
            <a:off x="6446520" y="5029200"/>
            <a:ext cx="585216" cy="585216"/>
          </a:xfrm>
          <a:prstGeom prst="ellipse">
            <a:avLst/>
          </a:prstGeom>
          <a:solidFill>
            <a:srgbClr val="F59E0B"/>
          </a:solidFill>
          <a:ln w="12700">
            <a:solidFill>
              <a:srgbClr val="F59E0B"/>
            </a:solidFill>
            <a:prstDash val="solid"/>
          </a:ln>
        </p:spPr>
      </p:sp>
      <p:pic>
        <p:nvPicPr>
          <p:cNvPr id="26" name="Image 5" descr="preencoded.png">    </p:cNvPr>
          <p:cNvPicPr>
            <a:picLocks noChangeAspect="1"/>
          </p:cNvPicPr>
          <p:nvPr/>
        </p:nvPicPr>
        <p:blipFill>
          <a:blip r:embed="rId6"/>
          <a:stretch>
            <a:fillRect/>
          </a:stretch>
        </p:blipFill>
        <p:spPr>
          <a:xfrm>
            <a:off x="6586972" y="5169652"/>
            <a:ext cx="304312" cy="304312"/>
          </a:xfrm>
          <a:prstGeom prst="rect">
            <a:avLst/>
          </a:prstGeom>
        </p:spPr>
      </p:pic>
      <p:sp>
        <p:nvSpPr>
          <p:cNvPr id="27" name="Text 19"/>
          <p:cNvSpPr txBox="1"/>
          <p:nvPr/>
        </p:nvSpPr>
        <p:spPr>
          <a:xfrm>
            <a:off x="7269480" y="4846320"/>
            <a:ext cx="4114800" cy="960120"/>
          </a:xfrm>
          <a:prstGeom prst="rect">
            <a:avLst/>
          </a:prstGeom>
          <a:noFill/>
          <a:ln/>
        </p:spPr>
        <p:txBody>
          <a:bodyPr wrap="square" lIns="0" tIns="0" rIns="0" bIns="0" rtlCol="0" anchor="ctr"/>
          <a:lstStyle/>
          <a:p>
            <a:pPr indent="0" marL="0">
              <a:buNone/>
            </a:pPr>
            <a:r>
              <a:rPr lang="en-US" sz="1600" b="1" dirty="0">
                <a:solidFill>
                  <a:srgbClr val="1E1B4B"/>
                </a:solidFill>
                <a:latin typeface="Calibri" pitchFamily="34" charset="0"/>
                <a:ea typeface="Calibri" pitchFamily="34" charset="-122"/>
                <a:cs typeface="Calibri" pitchFamily="34" charset="-120"/>
              </a:rPr>
              <a:t>Many colleges</a:t>
            </a:r>
            <a:endParaRPr lang="en-US" sz="1600" dirty="0"/>
          </a:p>
          <a:p>
            <a:pPr indent="0" marL="0">
              <a:buNone/>
            </a:pPr>
            <a:r>
              <a:rPr lang="en-US" sz="1350" dirty="0">
                <a:solidFill>
                  <a:srgbClr val="1F2937"/>
                </a:solidFill>
                <a:latin typeface="Calibri" pitchFamily="34" charset="0"/>
                <a:ea typeface="Calibri" pitchFamily="34" charset="-122"/>
                <a:cs typeface="Calibri" pitchFamily="34" charset="-120"/>
              </a:rPr>
              <a:t>One platform, separate data per college</a:t>
            </a:r>
            <a:endParaRPr lang="en-US" sz="1600" dirty="0"/>
          </a:p>
        </p:txBody>
      </p:sp>
      <p:sp>
        <p:nvSpPr>
          <p:cNvPr id="28" name="Text 20"/>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EventHub  ·  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E1B4B"/>
        </a:solidFill>
      </p:bgPr>
    </p:bg>
    <p:spTree>
      <p:nvGrpSpPr>
        <p:cNvPr id="1" name=""/>
        <p:cNvGrpSpPr/>
        <p:nvPr/>
      </p:nvGrpSpPr>
      <p:grpSpPr>
        <a:xfrm>
          <a:off x="0" y="0"/>
          <a:ext cx="0" cy="0"/>
          <a:chOff x="0" y="0"/>
          <a:chExt cx="0" cy="0"/>
        </a:xfrm>
      </p:grpSpPr>
      <p:sp>
        <p:nvSpPr>
          <p:cNvPr id="2" name="Shape 0"/>
          <p:cNvSpPr/>
          <p:nvPr/>
        </p:nvSpPr>
        <p:spPr>
          <a:xfrm>
            <a:off x="1340968" y="449498"/>
            <a:ext cx="9509760" cy="5776125"/>
          </a:xfrm>
          <a:prstGeom prst="roundRect">
            <a:avLst>
              <a:gd name="adj" fmla="val 2375"/>
            </a:avLst>
          </a:prstGeom>
          <a:solidFill>
            <a:srgbClr val="F59E0B"/>
          </a:solidFill>
          <a:ln w="12700">
            <a:solidFill>
              <a:srgbClr val="F59E0B"/>
            </a:solidFill>
            <a:prstDash val="solid"/>
          </a:ln>
          <a:effectLst>
            <a:outerShdw sx="100000" sy="100000" kx="0" ky="0" algn="bl" rotWithShape="0" blurRad="127000" dist="50800" dir="5400000">
              <a:srgbClr val="000000">
                <a:alpha val="35000"/>
              </a:srgbClr>
            </a:outerShdw>
          </a:effectLst>
        </p:spPr>
      </p:sp>
      <p:pic>
        <p:nvPicPr>
          <p:cNvPr id="3" name="Image 0" descr="Photo">    </p:cNvPr>
          <p:cNvPicPr>
            <a:picLocks noChangeAspect="1"/>
          </p:cNvPicPr>
          <p:nvPr/>
        </p:nvPicPr>
        <p:blipFill>
          <a:blip r:embed="rId1"/>
          <a:stretch>
            <a:fillRect/>
          </a:stretch>
        </p:blipFill>
        <p:spPr>
          <a:xfrm>
            <a:off x="1432408" y="540938"/>
            <a:ext cx="9326880" cy="5593245"/>
          </a:xfrm>
          <a:prstGeom prst="rect">
            <a:avLst/>
          </a:prstGeom>
        </p:spPr>
      </p:pic>
      <p:sp>
        <p:nvSpPr>
          <p:cNvPr id="4" name="Text 1"/>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C7D2FE"/>
                </a:solidFill>
                <a:latin typeface="Calibri" pitchFamily="34" charset="0"/>
                <a:ea typeface="Calibri" pitchFamily="34" charset="-122"/>
                <a:cs typeface="Calibri" pitchFamily="34" charset="-120"/>
              </a:rPr>
              <a:t>EventHub  ·  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1B4B"/>
        </a:solidFill>
      </p:bgPr>
    </p:bg>
    <p:spTree>
      <p:nvGrpSpPr>
        <p:cNvPr id="1" name=""/>
        <p:cNvGrpSpPr/>
        <p:nvPr/>
      </p:nvGrpSpPr>
      <p:grpSpPr>
        <a:xfrm>
          <a:off x="0" y="0"/>
          <a:ext cx="0" cy="0"/>
          <a:chOff x="0" y="0"/>
          <a:chExt cx="0" cy="0"/>
        </a:xfrm>
      </p:grpSpPr>
      <p:sp>
        <p:nvSpPr>
          <p:cNvPr id="2" name="Text 0"/>
          <p:cNvSpPr txBox="1"/>
          <p:nvPr/>
        </p:nvSpPr>
        <p:spPr>
          <a:xfrm>
            <a:off x="640080" y="640080"/>
            <a:ext cx="5486400" cy="73152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Conclusion</a:t>
            </a:r>
            <a:endParaRPr lang="en-US" sz="4000" dirty="0"/>
          </a:p>
        </p:txBody>
      </p:sp>
      <p:sp>
        <p:nvSpPr>
          <p:cNvPr id="3" name="Shape 1"/>
          <p:cNvSpPr/>
          <p:nvPr/>
        </p:nvSpPr>
        <p:spPr>
          <a:xfrm>
            <a:off x="640080" y="1737360"/>
            <a:ext cx="548640" cy="548640"/>
          </a:xfrm>
          <a:prstGeom prst="ellipse">
            <a:avLst/>
          </a:prstGeom>
          <a:solidFill>
            <a:srgbClr val="F59E0B"/>
          </a:solidFill>
          <a:ln w="12700">
            <a:solidFill>
              <a:srgbClr val="F59E0B"/>
            </a:solidFill>
            <a:prstDash val="solid"/>
          </a:ln>
        </p:spPr>
      </p:sp>
      <p:sp>
        <p:nvSpPr>
          <p:cNvPr id="4" name="Text 2"/>
          <p:cNvSpPr txBox="1"/>
          <p:nvPr/>
        </p:nvSpPr>
        <p:spPr>
          <a:xfrm>
            <a:off x="640080" y="1737360"/>
            <a:ext cx="548640" cy="548640"/>
          </a:xfrm>
          <a:prstGeom prst="rect">
            <a:avLst/>
          </a:prstGeom>
          <a:noFill/>
          <a:ln/>
        </p:spPr>
        <p:txBody>
          <a:bodyPr wrap="square" lIns="0" tIns="0" rIns="0" bIns="0" rtlCol="0" anchor="ctr"/>
          <a:lstStyle/>
          <a:p>
            <a:pPr algn="ctr" indent="0" marL="0">
              <a:buNone/>
            </a:pPr>
            <a:r>
              <a:rPr lang="en-US" sz="1800" b="1" dirty="0">
                <a:solidFill>
                  <a:srgbClr val="1E1B4B"/>
                </a:solidFill>
                <a:latin typeface="Arial" pitchFamily="34" charset="0"/>
                <a:ea typeface="Arial" pitchFamily="34" charset="-122"/>
                <a:cs typeface="Arial" pitchFamily="34" charset="-120"/>
              </a:rPr>
              <a:t>1</a:t>
            </a:r>
            <a:endParaRPr lang="en-US" sz="1800" dirty="0"/>
          </a:p>
        </p:txBody>
      </p:sp>
      <p:sp>
        <p:nvSpPr>
          <p:cNvPr id="5" name="Text 3"/>
          <p:cNvSpPr txBox="1"/>
          <p:nvPr/>
        </p:nvSpPr>
        <p:spPr>
          <a:xfrm>
            <a:off x="1417320" y="1645920"/>
            <a:ext cx="4937760" cy="8686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A complete, working full stack product - not just screens: payments, QR entry, PDFs, emails, charts.</a:t>
            </a:r>
            <a:endParaRPr lang="en-US" sz="1600" dirty="0"/>
          </a:p>
        </p:txBody>
      </p:sp>
      <p:sp>
        <p:nvSpPr>
          <p:cNvPr id="6" name="Shape 4"/>
          <p:cNvSpPr/>
          <p:nvPr/>
        </p:nvSpPr>
        <p:spPr>
          <a:xfrm>
            <a:off x="640080" y="2926080"/>
            <a:ext cx="548640" cy="548640"/>
          </a:xfrm>
          <a:prstGeom prst="ellipse">
            <a:avLst/>
          </a:prstGeom>
          <a:solidFill>
            <a:srgbClr val="F59E0B"/>
          </a:solidFill>
          <a:ln w="12700">
            <a:solidFill>
              <a:srgbClr val="F59E0B"/>
            </a:solidFill>
            <a:prstDash val="solid"/>
          </a:ln>
        </p:spPr>
      </p:sp>
      <p:sp>
        <p:nvSpPr>
          <p:cNvPr id="7" name="Text 5"/>
          <p:cNvSpPr txBox="1"/>
          <p:nvPr/>
        </p:nvSpPr>
        <p:spPr>
          <a:xfrm>
            <a:off x="640080" y="2926080"/>
            <a:ext cx="548640" cy="548640"/>
          </a:xfrm>
          <a:prstGeom prst="rect">
            <a:avLst/>
          </a:prstGeom>
          <a:noFill/>
          <a:ln/>
        </p:spPr>
        <p:txBody>
          <a:bodyPr wrap="square" lIns="0" tIns="0" rIns="0" bIns="0" rtlCol="0" anchor="ctr"/>
          <a:lstStyle/>
          <a:p>
            <a:pPr algn="ctr" indent="0" marL="0">
              <a:buNone/>
            </a:pPr>
            <a:r>
              <a:rPr lang="en-US" sz="1800" b="1" dirty="0">
                <a:solidFill>
                  <a:srgbClr val="1E1B4B"/>
                </a:solidFill>
                <a:latin typeface="Arial" pitchFamily="34" charset="0"/>
                <a:ea typeface="Arial" pitchFamily="34" charset="-122"/>
                <a:cs typeface="Arial" pitchFamily="34" charset="-120"/>
              </a:rPr>
              <a:t>2</a:t>
            </a:r>
            <a:endParaRPr lang="en-US" sz="1800" dirty="0"/>
          </a:p>
        </p:txBody>
      </p:sp>
      <p:sp>
        <p:nvSpPr>
          <p:cNvPr id="8" name="Text 6"/>
          <p:cNvSpPr txBox="1"/>
          <p:nvPr/>
        </p:nvSpPr>
        <p:spPr>
          <a:xfrm>
            <a:off x="1417320" y="2834640"/>
            <a:ext cx="4937760" cy="8686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Correct under pressure: no overselling, no double entry, no emails for undone work.</a:t>
            </a:r>
            <a:endParaRPr lang="en-US" sz="1600" dirty="0"/>
          </a:p>
        </p:txBody>
      </p:sp>
      <p:sp>
        <p:nvSpPr>
          <p:cNvPr id="9" name="Shape 7"/>
          <p:cNvSpPr/>
          <p:nvPr/>
        </p:nvSpPr>
        <p:spPr>
          <a:xfrm>
            <a:off x="640080" y="4114800"/>
            <a:ext cx="548640" cy="548640"/>
          </a:xfrm>
          <a:prstGeom prst="ellipse">
            <a:avLst/>
          </a:prstGeom>
          <a:solidFill>
            <a:srgbClr val="F59E0B"/>
          </a:solidFill>
          <a:ln w="12700">
            <a:solidFill>
              <a:srgbClr val="F59E0B"/>
            </a:solidFill>
            <a:prstDash val="solid"/>
          </a:ln>
        </p:spPr>
      </p:sp>
      <p:sp>
        <p:nvSpPr>
          <p:cNvPr id="10" name="Text 8"/>
          <p:cNvSpPr txBox="1"/>
          <p:nvPr/>
        </p:nvSpPr>
        <p:spPr>
          <a:xfrm>
            <a:off x="640080" y="4114800"/>
            <a:ext cx="548640" cy="548640"/>
          </a:xfrm>
          <a:prstGeom prst="rect">
            <a:avLst/>
          </a:prstGeom>
          <a:noFill/>
          <a:ln/>
        </p:spPr>
        <p:txBody>
          <a:bodyPr wrap="square" lIns="0" tIns="0" rIns="0" bIns="0" rtlCol="0" anchor="ctr"/>
          <a:lstStyle/>
          <a:p>
            <a:pPr algn="ctr" indent="0" marL="0">
              <a:buNone/>
            </a:pPr>
            <a:r>
              <a:rPr lang="en-US" sz="1800" b="1" dirty="0">
                <a:solidFill>
                  <a:srgbClr val="1E1B4B"/>
                </a:solidFill>
                <a:latin typeface="Arial" pitchFamily="34" charset="0"/>
                <a:ea typeface="Arial" pitchFamily="34" charset="-122"/>
                <a:cs typeface="Arial" pitchFamily="34" charset="-120"/>
              </a:rPr>
              <a:t>3</a:t>
            </a:r>
            <a:endParaRPr lang="en-US" sz="1800" dirty="0"/>
          </a:p>
        </p:txBody>
      </p:sp>
      <p:sp>
        <p:nvSpPr>
          <p:cNvPr id="11" name="Text 9"/>
          <p:cNvSpPr txBox="1"/>
          <p:nvPr/>
        </p:nvSpPr>
        <p:spPr>
          <a:xfrm>
            <a:off x="1417320" y="4023360"/>
            <a:ext cx="4937760" cy="868680"/>
          </a:xfrm>
          <a:prstGeom prst="rect">
            <a:avLst/>
          </a:prstGeom>
          <a:noFill/>
          <a:ln/>
        </p:spPr>
        <p:txBody>
          <a:bodyPr wrap="square" lIns="0" tIns="0" rIns="0" bIns="0" rtlCol="0" anchor="ctr"/>
          <a:lstStyle/>
          <a:p>
            <a:pPr indent="0" marL="0">
              <a:buNone/>
            </a:pPr>
            <a:r>
              <a:rPr lang="en-US" sz="1600" dirty="0">
                <a:solidFill>
                  <a:srgbClr val="FFFFFF"/>
                </a:solidFill>
                <a:latin typeface="Calibri" pitchFamily="34" charset="0"/>
                <a:ea typeface="Calibri" pitchFamily="34" charset="-122"/>
                <a:cs typeface="Calibri" pitchFamily="34" charset="-120"/>
              </a:rPr>
              <a:t>Professional practice: security, 146 automated tests, CI, clean modules and documentation.</a:t>
            </a:r>
            <a:endParaRPr lang="en-US" sz="1600" dirty="0"/>
          </a:p>
        </p:txBody>
      </p:sp>
      <p:sp>
        <p:nvSpPr>
          <p:cNvPr id="12" name="Text 10"/>
          <p:cNvSpPr txBox="1"/>
          <p:nvPr/>
        </p:nvSpPr>
        <p:spPr>
          <a:xfrm>
            <a:off x="6949440" y="2011680"/>
            <a:ext cx="4572000" cy="914400"/>
          </a:xfrm>
          <a:prstGeom prst="rect">
            <a:avLst/>
          </a:prstGeom>
          <a:noFill/>
          <a:ln/>
        </p:spPr>
        <p:txBody>
          <a:bodyPr wrap="square" lIns="0" tIns="0" rIns="0" bIns="0" rtlCol="0" anchor="ctr"/>
          <a:lstStyle/>
          <a:p>
            <a:pPr algn="ctr" indent="0" marL="0">
              <a:buNone/>
            </a:pPr>
            <a:r>
              <a:rPr lang="en-US" sz="4800" b="1" dirty="0">
                <a:solidFill>
                  <a:srgbClr val="F59E0B"/>
                </a:solidFill>
                <a:latin typeface="Arial" pitchFamily="34" charset="0"/>
                <a:ea typeface="Arial" pitchFamily="34" charset="-122"/>
                <a:cs typeface="Arial" pitchFamily="34" charset="-120"/>
              </a:rPr>
              <a:t>Thank you</a:t>
            </a:r>
            <a:endParaRPr lang="en-US" sz="4800" dirty="0"/>
          </a:p>
        </p:txBody>
      </p:sp>
      <p:sp>
        <p:nvSpPr>
          <p:cNvPr id="13" name="Text 11"/>
          <p:cNvSpPr txBox="1"/>
          <p:nvPr/>
        </p:nvSpPr>
        <p:spPr>
          <a:xfrm>
            <a:off x="6949440" y="2926080"/>
            <a:ext cx="4572000" cy="548640"/>
          </a:xfrm>
          <a:prstGeom prst="rect">
            <a:avLst/>
          </a:prstGeom>
          <a:noFill/>
          <a:ln/>
        </p:spPr>
        <p:txBody>
          <a:bodyPr wrap="square" lIns="0" tIns="0" rIns="0" bIns="0" rtlCol="0" anchor="ctr"/>
          <a:lstStyle/>
          <a:p>
            <a:pPr algn="ctr" indent="0" marL="0">
              <a:buNone/>
            </a:pPr>
            <a:r>
              <a:rPr lang="en-US" sz="2600" dirty="0">
                <a:solidFill>
                  <a:srgbClr val="FFFFFF"/>
                </a:solidFill>
                <a:latin typeface="Arial" pitchFamily="34" charset="0"/>
                <a:ea typeface="Arial" pitchFamily="34" charset="-122"/>
                <a:cs typeface="Arial" pitchFamily="34" charset="-120"/>
              </a:rPr>
              <a:t>Questions?</a:t>
            </a:r>
            <a:endParaRPr lang="en-US" sz="2600" dirty="0"/>
          </a:p>
        </p:txBody>
      </p:sp>
      <p:sp>
        <p:nvSpPr>
          <p:cNvPr id="14" name="Text 12"/>
          <p:cNvSpPr txBox="1"/>
          <p:nvPr/>
        </p:nvSpPr>
        <p:spPr>
          <a:xfrm>
            <a:off x="6949440" y="3931920"/>
            <a:ext cx="4572000" cy="365760"/>
          </a:xfrm>
          <a:prstGeom prst="rect">
            <a:avLst/>
          </a:prstGeom>
          <a:noFill/>
          <a:ln/>
        </p:spPr>
        <p:txBody>
          <a:bodyPr wrap="square" lIns="0" tIns="0" rIns="0" bIns="0" rtlCol="0" anchor="ctr"/>
          <a:lstStyle/>
          <a:p>
            <a:pPr algn="ctr" indent="0" marL="0">
              <a:buNone/>
            </a:pPr>
            <a:r>
              <a:rPr lang="en-US" sz="1500" dirty="0">
                <a:solidFill>
                  <a:srgbClr val="C7D2FE"/>
                </a:solidFill>
                <a:latin typeface="Calibri" pitchFamily="34" charset="0"/>
                <a:ea typeface="Calibri" pitchFamily="34" charset="-122"/>
                <a:cs typeface="Calibri" pitchFamily="34" charset="-120"/>
              </a:rPr>
              <a:t>github.com/madhavansuresh000-sys/eventhub</a:t>
            </a:r>
            <a:endParaRPr lang="en-US" sz="1500" dirty="0"/>
          </a:p>
        </p:txBody>
      </p:sp>
      <p:sp>
        <p:nvSpPr>
          <p:cNvPr id="15" name="Text 13"/>
          <p:cNvSpPr txBox="1"/>
          <p:nvPr/>
        </p:nvSpPr>
        <p:spPr>
          <a:xfrm>
            <a:off x="6949440" y="4343400"/>
            <a:ext cx="4572000" cy="365760"/>
          </a:xfrm>
          <a:prstGeom prst="rect">
            <a:avLst/>
          </a:prstGeom>
          <a:noFill/>
          <a:ln/>
        </p:spPr>
        <p:txBody>
          <a:bodyPr wrap="square" lIns="0" tIns="0" rIns="0" bIns="0" rtlCol="0" anchor="ctr"/>
          <a:lstStyle/>
          <a:p>
            <a:pPr algn="ctr" indent="0" marL="0">
              <a:buNone/>
            </a:pPr>
            <a:r>
              <a:rPr lang="en-US" sz="1400" dirty="0">
                <a:solidFill>
                  <a:srgbClr val="C7D2FE"/>
                </a:solidFill>
                <a:latin typeface="Calibri" pitchFamily="34" charset="0"/>
                <a:ea typeface="Calibri" pitchFamily="34" charset="-122"/>
                <a:cs typeface="Calibri" pitchFamily="34" charset="-120"/>
              </a:rPr>
              <a:t>Madhavan Suresh  ·  Java Full Stack</a:t>
            </a:r>
            <a:endParaRPr lang="en-US" sz="1400" dirty="0"/>
          </a:p>
        </p:txBody>
      </p:sp>
      <p:sp>
        <p:nvSpPr>
          <p:cNvPr id="16" name="Text 14"/>
          <p:cNvSpPr txBox="1"/>
          <p:nvPr/>
        </p:nvSpPr>
        <p:spPr>
          <a:xfrm>
            <a:off x="9814255" y="6446520"/>
            <a:ext cx="1920240" cy="274320"/>
          </a:xfrm>
          <a:prstGeom prst="rect">
            <a:avLst/>
          </a:prstGeom>
          <a:noFill/>
          <a:ln/>
        </p:spPr>
        <p:txBody>
          <a:bodyPr wrap="square" lIns="0" tIns="0" rIns="0" bIns="0" rtlCol="0" anchor="ctr"/>
          <a:lstStyle/>
          <a:p>
            <a:pPr algn="r" indent="0" marL="0">
              <a:buNone/>
            </a:pPr>
            <a:r>
              <a:rPr lang="en-US" sz="1000" dirty="0">
                <a:solidFill>
                  <a:srgbClr val="C7D2FE"/>
                </a:solidFill>
                <a:latin typeface="Calibri" pitchFamily="34" charset="0"/>
                <a:ea typeface="Calibri" pitchFamily="34" charset="-122"/>
                <a:cs typeface="Calibri" pitchFamily="34" charset="-120"/>
              </a:rPr>
              <a:t>EventHub  ·  22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EventHub - College Event Management Platform</dc:title>
  <dc:subject>PptxGenJS Presentation</dc:subject>
  <dc:creator>Madhavan Suresh</dc:creator>
  <cp:lastModifiedBy>Madhavan Suresh</cp:lastModifiedBy>
  <cp:revision>1</cp:revision>
  <dcterms:created xsi:type="dcterms:W3CDTF">2026-09-29T16:07:27Z</dcterms:created>
  <dcterms:modified xsi:type="dcterms:W3CDTF">2026-09-29T16:07:27Z</dcterms:modified>
</cp:coreProperties>
</file>